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10"/>
  </p:normalViewPr>
  <p:slideViewPr>
    <p:cSldViewPr snapToGrid="0" snapToObjects="1">
      <p:cViewPr varScale="1">
        <p:scale>
          <a:sx n="82" d="100"/>
          <a:sy n="82" d="100"/>
        </p:scale>
        <p:origin x="72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569500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SALUTATION D'OUVERTURE — à dire au tout début, avant de cliquer sur la première diapositive:
« Bonjour à toutes et à tous, bonjour Madame, Monsieur les membres du jury. Je m'appelle [ton prénom] et au nom de l'ensemble du Groupe Y, je vous remercie d'être présents aujourd'hui pour la présentation de notre projet de fin d'année. »
« Nous allons vous présenter notre système de gestion numérique pour un établissement scolaire, de la 6ème à la Terminale. La présentation durera environ 15 minutes, suivies d'un temps pour vos questions. »
Présenter le titre, le nom du groupe (11 membres) et le jury. Enchaîner directement sur le sommaire.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Présenter rapidement le plan en 20-30 secondes : remerciements, contexte, objectifs, fonctionnalités, utilisateurs et parcours, technologies, base de données, planning/budget, tests, puis conclusion. Ne pas s'attarder — c'est juste une carte du chemin.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Avant de commencer, nous tenons à remercier notre enseignante encadreur pour son accompagnement tout au long de ce projet, ainsi que l'ensemble du corps enseignant. Nous remercions aussi chaleureusement les 11 membres de notre groupe pour leur travail d'équipe, et toutes les personnes qui ont contribué de près ou de loin à ce projet. » Rester bref, 20-30 secondes.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Expliquer que dans de nombreuses écoles malgaches, la gestion repose encore sur le papier : lenteur, erreurs, pertes de données, communication difficile entre direction, enseignants, élèves et parents, et suivi financier peu fiable. C'est le point de départ qui justifie le projet. Environ 1 minute.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Détailler les 5 objectifs : optimiser la gestion administrative, améliorer l'organisation interne, fluidifier la communication entre tous les acteurs, offrir un meilleur suivi pédagogique personnalisé, et réduire les tâches manuelles répétitives. Conclure : gain de réactivité, précision et sérénité au quotidien. Environ 1 minute.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Présenter les 4 premières fonctionnalités : gestion des utilisateurs (rôles et sécurité), gestion des profils, gestion des élèves (dossiers complets), et gestion académique (classes, matières, emploi du temps, notes, absences). Environ 1 minute.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Présenter les 5 fonctionnalités restantes : gestion des enseignants, gestion financière (frais, paiements, reçus), gestion des documents (génération automatique), recherche/consultation rapide, et tableau de bord avec statistiques clés pour la direction. Environ 1 minute.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Présenter les 4 profils : l'administrateur/directeur pilote tout le système ; l'enseignant gère notes, absences et bulletins de ses classes ; l'élève consulte ses résultats et son emploi du temps ; le gestionnaire s'occupe des paiements et de la comptabilité. Chaque rôle a des droits d'accès distincts. Environ 1 minute.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Montrer le parcours du Directeur : il gère les départements et les employés, effectue des recherches et consulte des statistiques, et suit le cycle de vie complet d'un employé (recrutement à départ). C'est le rôle avec le plus large accès au système. (Environ 45-50 secondes par diapositive de parcours.)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parcours de la Secrétaire couvre l'inscription des élèves, l'encaissement des paiements, la génération de factures et de bilans financiers — un rôle central pour la gestion administrative quotidienne. (Environ 45-50 secondes par diapositive de parcours.)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parcours du Professeur : il consulte ses classes, saisit notes et absences, et consulte son emploi du temps ainsi que les bulletins de ses élèves. (Environ 45-50 secondes par diapositive de parcours.)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Enfin, le parcours de l'Étudiant : consultation de ses notes, bulletins, emploi du temps, absences, et réception de notifications. Un parcours simple, pensé pour l'autonomie de l'élève. (Environ 45-50 secondes par diapositive de parcours.)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Expliquer les 3 choix techniques : Thymeleaf côté front (rendu serveur, léger, sécurisé), Java/Spring Boot côté back (robuste, auto-configuré, sécurité intégrée), et PostgreSQL comme base de données (fiable, performant, standard SQL). Ces choix garantissent une architecture simple et cohérente pour une équipe de 11 personnes. Environ 1 minute.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Montrer un extrait du modèle relationnel : les entités principales (élèves, enseignants, classes, matières, notes, paiements) et leurs relations, conformes aux règles de gestion présentées plus tôt. Base PostgreSQL compatible avec Hibernate. Environ 40 secondes, sans entrer dans le détail de chaque table.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Présenter le planning global : conception, développement des modules (étudiant, financier, tableau de bord), puis tests. Enchaîner sur le budget : équipe de 13 personnes (1 chef de projet, 10 développeurs, 2 testeurs), frais de serveur, matériel, communication de lancement — pour un investissement initial total de 31 400 000 Ariary. Environ 1 minute.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Expliquer que chaque membre a testé un ou plusieurs modules selon un cahier de suivi : la majorité des fonctionnalités sont validées (inscriptions, paiements, factures, connexion sécurisée, notes, bulletins). Quelques anomalies mineures ont aussi été identifiées (filtres, alignement de colonnes, thème sombre) — elles constituent une base pour les améliorations futures. Environ 1 minute.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En conclusion, ce projet nous a permis de proposer une réponse concrète à un besoin réel : moderniser la gestion d'un établissement scolaire de la 6ème à la Terminale, pour tous ses acteurs. La phase de tests a été particulièrement formatrice, en confirmant la conformité de nos fonctionnalités et en révélant des pistes d'amélioration. » Présenter ensuite les perspectives : correction des anomalies, notifications automatiques, application mobile, statistiques avancées, et déploiement réel. Terminer par ce que le projet a apporté à l'équipe. Environ 1 minute 15.</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Merci de votre attention. Nous restons à votre disposition pour répondre à vos questions. » Marquer une pause et accueillir les questions du jury avec calme — si une question porte sur un point précis (technologie, budget, tests…), revenir à la diapositive correspondante si besoin.</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3.png"/><Relationship Id="rId7"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5.png"/><Relationship Id="rId4" Type="http://schemas.openxmlformats.org/officeDocument/2006/relationships/image" Target="../media/image9.png"/><Relationship Id="rId9" Type="http://schemas.openxmlformats.org/officeDocument/2006/relationships/image" Target="../media/image13.png"/></Relationships>
</file>

<file path=ppt/slides/_rels/slide7.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3.png"/><Relationship Id="rId7"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5.png"/><Relationship Id="rId10" Type="http://schemas.openxmlformats.org/officeDocument/2006/relationships/image" Target="../media/image18.png"/><Relationship Id="rId4" Type="http://schemas.openxmlformats.org/officeDocument/2006/relationships/image" Target="../media/image9.png"/><Relationship Id="rId9" Type="http://schemas.openxmlformats.org/officeDocument/2006/relationships/image" Target="../media/image17.png"/></Relationships>
</file>

<file path=ppt/slides/_rels/slide8.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3.png"/><Relationship Id="rId7"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5.png"/><Relationship Id="rId4" Type="http://schemas.openxmlformats.org/officeDocument/2006/relationships/image" Target="../media/image19.png"/><Relationship Id="rId9" Type="http://schemas.openxmlformats.org/officeDocument/2006/relationships/image" Target="../media/image22.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24.png"/><Relationship Id="rId5" Type="http://schemas.openxmlformats.org/officeDocument/2006/relationships/image" Target="../media/image5.png"/><Relationship Id="rId4" Type="http://schemas.openxmlformats.org/officeDocument/2006/relationships/image" Target="../media/image23.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25.png"/><Relationship Id="rId5" Type="http://schemas.openxmlformats.org/officeDocument/2006/relationships/image" Target="../media/image5.png"/><Relationship Id="rId4" Type="http://schemas.openxmlformats.org/officeDocument/2006/relationships/image" Target="../media/image23.pn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26.png"/><Relationship Id="rId5" Type="http://schemas.openxmlformats.org/officeDocument/2006/relationships/image" Target="../media/image5.png"/><Relationship Id="rId4" Type="http://schemas.openxmlformats.org/officeDocument/2006/relationships/image" Target="../media/image23.pn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27.png"/><Relationship Id="rId5" Type="http://schemas.openxmlformats.org/officeDocument/2006/relationships/image" Target="../media/image5.png"/><Relationship Id="rId4" Type="http://schemas.openxmlformats.org/officeDocument/2006/relationships/image" Target="../media/image23.png"/></Relationships>
</file>

<file path=ppt/slides/_rels/slide13.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3.png"/><Relationship Id="rId7" Type="http://schemas.openxmlformats.org/officeDocument/2006/relationships/image" Target="../media/image30.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29.png"/><Relationship Id="rId5" Type="http://schemas.openxmlformats.org/officeDocument/2006/relationships/image" Target="../media/image5.png"/><Relationship Id="rId4" Type="http://schemas.openxmlformats.org/officeDocument/2006/relationships/image" Target="../media/image28.png"/></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33.png"/><Relationship Id="rId5" Type="http://schemas.openxmlformats.org/officeDocument/2006/relationships/image" Target="../media/image5.png"/><Relationship Id="rId4" Type="http://schemas.openxmlformats.org/officeDocument/2006/relationships/image" Target="../media/image32.png"/></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35.png"/><Relationship Id="rId5" Type="http://schemas.openxmlformats.org/officeDocument/2006/relationships/image" Target="../media/image5.png"/><Relationship Id="rId4" Type="http://schemas.openxmlformats.org/officeDocument/2006/relationships/image" Target="../media/image34.png"/></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38.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37.png"/><Relationship Id="rId5" Type="http://schemas.openxmlformats.org/officeDocument/2006/relationships/image" Target="../media/image5.png"/><Relationship Id="rId4" Type="http://schemas.openxmlformats.org/officeDocument/2006/relationships/image" Target="../media/image36.png"/></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39.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592928" y="594360"/>
            <a:ext cx="1005840" cy="1005840"/>
          </a:xfrm>
          <a:prstGeom prst="roundRect">
            <a:avLst>
              <a:gd name="adj" fmla="val 10909"/>
            </a:avLst>
          </a:prstGeom>
          <a:solidFill>
            <a:srgbClr val="FFFFFF"/>
          </a:solidFill>
          <a:ln/>
          <a:effectLst>
            <a:outerShdw blurRad="177800" dist="50800" dir="5400000" algn="bl" rotWithShape="0">
              <a:srgbClr val="000000">
                <a:alpha val="25000"/>
              </a:srgbClr>
            </a:outerShdw>
          </a:effectLst>
        </p:spPr>
      </p:sp>
      <p:pic>
        <p:nvPicPr>
          <p:cNvPr id="3" name="Image 0" descr="/home/claude/assets_logo.png"/>
          <p:cNvPicPr>
            <a:picLocks noChangeAspect="1"/>
          </p:cNvPicPr>
          <p:nvPr/>
        </p:nvPicPr>
        <p:blipFill>
          <a:blip r:embed="rId4"/>
          <a:stretch>
            <a:fillRect/>
          </a:stretch>
        </p:blipFill>
        <p:spPr>
          <a:xfrm>
            <a:off x="5711800" y="713232"/>
            <a:ext cx="768096" cy="768096"/>
          </a:xfrm>
          <a:prstGeom prst="rect">
            <a:avLst/>
          </a:prstGeom>
        </p:spPr>
      </p:pic>
      <p:sp>
        <p:nvSpPr>
          <p:cNvPr id="4" name="Text 1"/>
          <p:cNvSpPr/>
          <p:nvPr/>
        </p:nvSpPr>
        <p:spPr>
          <a:xfrm>
            <a:off x="914400" y="1965960"/>
            <a:ext cx="10362895" cy="1005840"/>
          </a:xfrm>
          <a:prstGeom prst="rect">
            <a:avLst/>
          </a:prstGeom>
          <a:noFill/>
          <a:ln/>
        </p:spPr>
        <p:txBody>
          <a:bodyPr wrap="square" lIns="0" tIns="0" rIns="0" bIns="0" rtlCol="0" anchor="ctr"/>
          <a:lstStyle/>
          <a:p>
            <a:pPr marL="0" indent="0" algn="ctr">
              <a:lnSpc>
                <a:spcPct val="112000"/>
              </a:lnSpc>
              <a:buNone/>
            </a:pPr>
            <a:r>
              <a:rPr lang="en-US" sz="3400" b="1" kern="0" spc="-30" dirty="0">
                <a:solidFill>
                  <a:srgbClr val="FFFFFF"/>
                </a:solidFill>
                <a:latin typeface="Poppins" pitchFamily="34" charset="0"/>
                <a:ea typeface="Poppins" pitchFamily="34" charset="-122"/>
                <a:cs typeface="Poppins" pitchFamily="34" charset="-120"/>
              </a:rPr>
              <a:t>PROJET DE GESTION D'UN ÉTABLISSEMENT SCOLAIRE</a:t>
            </a:r>
            <a:endParaRPr lang="en-US" sz="3400" dirty="0"/>
          </a:p>
        </p:txBody>
      </p:sp>
      <p:sp>
        <p:nvSpPr>
          <p:cNvPr id="5" name="Text 2"/>
          <p:cNvSpPr/>
          <p:nvPr/>
        </p:nvSpPr>
        <p:spPr>
          <a:xfrm>
            <a:off x="1280160" y="2971800"/>
            <a:ext cx="9631375" cy="502920"/>
          </a:xfrm>
          <a:prstGeom prst="rect">
            <a:avLst/>
          </a:prstGeom>
          <a:noFill/>
          <a:ln/>
        </p:spPr>
        <p:txBody>
          <a:bodyPr wrap="square" lIns="0" tIns="0" rIns="0" bIns="0" rtlCol="0" anchor="ctr"/>
          <a:lstStyle/>
          <a:p>
            <a:pPr marL="0" indent="0" algn="ctr">
              <a:buNone/>
            </a:pPr>
            <a:r>
              <a:rPr lang="en-US" sz="1600" dirty="0">
                <a:solidFill>
                  <a:srgbClr val="AEC3E8"/>
                </a:solidFill>
                <a:latin typeface="Poppins" pitchFamily="34" charset="0"/>
                <a:ea typeface="Poppins" pitchFamily="34" charset="-122"/>
                <a:cs typeface="Poppins" pitchFamily="34" charset="-120"/>
              </a:rPr>
              <a:t>Un système de numérisation intégré, de la 6ème à la Terminale</a:t>
            </a:r>
            <a:endParaRPr lang="en-US" sz="1600" dirty="0"/>
          </a:p>
        </p:txBody>
      </p:sp>
      <p:sp>
        <p:nvSpPr>
          <p:cNvPr id="6" name="Shape 3"/>
          <p:cNvSpPr/>
          <p:nvPr/>
        </p:nvSpPr>
        <p:spPr>
          <a:xfrm>
            <a:off x="5272888" y="3657600"/>
            <a:ext cx="1645920" cy="41148"/>
          </a:xfrm>
          <a:prstGeom prst="roundRect">
            <a:avLst>
              <a:gd name="adj" fmla="val 44444"/>
            </a:avLst>
          </a:prstGeom>
          <a:solidFill>
            <a:srgbClr val="2563EB"/>
          </a:solidFill>
          <a:ln/>
        </p:spPr>
      </p:sp>
      <p:sp>
        <p:nvSpPr>
          <p:cNvPr id="7" name="Shape 4"/>
          <p:cNvSpPr/>
          <p:nvPr/>
        </p:nvSpPr>
        <p:spPr>
          <a:xfrm>
            <a:off x="2651760" y="3977640"/>
            <a:ext cx="6885432" cy="1051560"/>
          </a:xfrm>
          <a:prstGeom prst="roundRect">
            <a:avLst>
              <a:gd name="adj" fmla="val 10435"/>
            </a:avLst>
          </a:prstGeom>
          <a:solidFill>
            <a:srgbClr val="132A4D"/>
          </a:solidFill>
          <a:ln w="12700">
            <a:solidFill>
              <a:srgbClr val="22406E"/>
            </a:solidFill>
            <a:prstDash val="solid"/>
          </a:ln>
        </p:spPr>
      </p:sp>
      <p:sp>
        <p:nvSpPr>
          <p:cNvPr id="8" name="Text 5"/>
          <p:cNvSpPr/>
          <p:nvPr/>
        </p:nvSpPr>
        <p:spPr>
          <a:xfrm>
            <a:off x="2926080" y="4096512"/>
            <a:ext cx="3108960" cy="822960"/>
          </a:xfrm>
          <a:prstGeom prst="rect">
            <a:avLst/>
          </a:prstGeom>
          <a:noFill/>
          <a:ln/>
        </p:spPr>
        <p:txBody>
          <a:bodyPr wrap="square" lIns="0" tIns="0" rIns="0" bIns="0" rtlCol="0" anchor="ctr"/>
          <a:lstStyle/>
          <a:p>
            <a:pPr marL="0" indent="0" algn="l">
              <a:lnSpc>
                <a:spcPct val="135000"/>
              </a:lnSpc>
              <a:buNone/>
            </a:pPr>
            <a:r>
              <a:rPr lang="en-US" sz="1400" b="1" dirty="0">
                <a:solidFill>
                  <a:srgbClr val="FFFFFF"/>
                </a:solidFill>
                <a:latin typeface="Poppins" pitchFamily="34" charset="0"/>
                <a:ea typeface="Poppins" pitchFamily="34" charset="-122"/>
                <a:cs typeface="Poppins" pitchFamily="34" charset="-120"/>
              </a:rPr>
              <a:t>Présenté par le Groupe Y</a:t>
            </a:r>
            <a:endParaRPr lang="en-US" sz="1400" dirty="0"/>
          </a:p>
          <a:p>
            <a:pPr marL="0" indent="0" algn="l">
              <a:lnSpc>
                <a:spcPct val="135000"/>
              </a:lnSpc>
              <a:buNone/>
            </a:pPr>
            <a:r>
              <a:rPr lang="en-US" sz="1200" dirty="0">
                <a:solidFill>
                  <a:srgbClr val="AEC3E8"/>
                </a:solidFill>
                <a:latin typeface="Poppins" pitchFamily="34" charset="0"/>
                <a:ea typeface="Poppins" pitchFamily="34" charset="-122"/>
                <a:cs typeface="Poppins" pitchFamily="34" charset="-120"/>
              </a:rPr>
              <a:t>11 membres</a:t>
            </a:r>
            <a:endParaRPr lang="en-US" sz="1400" dirty="0"/>
          </a:p>
        </p:txBody>
      </p:sp>
      <p:sp>
        <p:nvSpPr>
          <p:cNvPr id="9" name="Shape 6"/>
          <p:cNvSpPr/>
          <p:nvPr/>
        </p:nvSpPr>
        <p:spPr>
          <a:xfrm>
            <a:off x="6080760" y="4160520"/>
            <a:ext cx="0" cy="777240"/>
          </a:xfrm>
          <a:prstGeom prst="line">
            <a:avLst/>
          </a:prstGeom>
          <a:noFill/>
          <a:ln w="12700">
            <a:solidFill>
              <a:srgbClr val="2C4972"/>
            </a:solidFill>
            <a:prstDash val="solid"/>
          </a:ln>
        </p:spPr>
      </p:sp>
      <p:sp>
        <p:nvSpPr>
          <p:cNvPr id="10" name="Text 7"/>
          <p:cNvSpPr/>
          <p:nvPr/>
        </p:nvSpPr>
        <p:spPr>
          <a:xfrm>
            <a:off x="6355080" y="4096512"/>
            <a:ext cx="3063240" cy="822960"/>
          </a:xfrm>
          <a:prstGeom prst="rect">
            <a:avLst/>
          </a:prstGeom>
          <a:noFill/>
          <a:ln/>
        </p:spPr>
        <p:txBody>
          <a:bodyPr wrap="square" lIns="0" tIns="0" rIns="0" bIns="0" rtlCol="0" anchor="ctr"/>
          <a:lstStyle/>
          <a:p>
            <a:pPr marL="0" indent="0" algn="l">
              <a:lnSpc>
                <a:spcPct val="130000"/>
              </a:lnSpc>
              <a:buNone/>
            </a:pPr>
            <a:r>
              <a:rPr lang="en-US" sz="1400" b="1" dirty="0">
                <a:solidFill>
                  <a:srgbClr val="FFFFFF"/>
                </a:solidFill>
                <a:latin typeface="Poppins" pitchFamily="34" charset="0"/>
                <a:ea typeface="Poppins" pitchFamily="34" charset="-122"/>
                <a:cs typeface="Poppins" pitchFamily="34" charset="-120"/>
              </a:rPr>
              <a:t>Jury</a:t>
            </a:r>
            <a:endParaRPr lang="en-US" sz="1400" dirty="0"/>
          </a:p>
          <a:p>
            <a:pPr marL="0" indent="0" algn="l">
              <a:lnSpc>
                <a:spcPct val="130000"/>
              </a:lnSpc>
              <a:buNone/>
            </a:pPr>
            <a:r>
              <a:rPr lang="en-US" sz="1150" dirty="0">
                <a:solidFill>
                  <a:srgbClr val="AEC3E8"/>
                </a:solidFill>
                <a:latin typeface="Poppins" pitchFamily="34" charset="0"/>
                <a:ea typeface="Poppins" pitchFamily="34" charset="-122"/>
                <a:cs typeface="Poppins" pitchFamily="34" charset="-120"/>
              </a:rPr>
              <a:t>RAKOTOMALALA Tsinjo Tony</a:t>
            </a:r>
            <a:endParaRPr lang="en-US" sz="1400" dirty="0"/>
          </a:p>
          <a:p>
            <a:pPr marL="0" indent="0" algn="l">
              <a:lnSpc>
                <a:spcPct val="130000"/>
              </a:lnSpc>
              <a:buNone/>
            </a:pPr>
            <a:r>
              <a:rPr lang="en-US" sz="1150" dirty="0">
                <a:solidFill>
                  <a:srgbClr val="AEC3E8"/>
                </a:solidFill>
                <a:latin typeface="Poppins" pitchFamily="34" charset="0"/>
                <a:ea typeface="Poppins" pitchFamily="34" charset="-122"/>
                <a:cs typeface="Poppins" pitchFamily="34" charset="-120"/>
              </a:rPr>
              <a:t>RAZAFINJATOVO Heriniaina</a:t>
            </a:r>
            <a:endParaRPr lang="en-US" sz="1400" dirty="0"/>
          </a:p>
        </p:txBody>
      </p:sp>
      <p:sp>
        <p:nvSpPr>
          <p:cNvPr id="11" name="Text 8"/>
          <p:cNvSpPr/>
          <p:nvPr/>
        </p:nvSpPr>
        <p:spPr>
          <a:xfrm>
            <a:off x="0" y="6446520"/>
            <a:ext cx="12191695" cy="274320"/>
          </a:xfrm>
          <a:prstGeom prst="rect">
            <a:avLst/>
          </a:prstGeom>
          <a:noFill/>
          <a:ln/>
        </p:spPr>
        <p:txBody>
          <a:bodyPr wrap="square" lIns="0" tIns="0" rIns="0" bIns="0" rtlCol="0" anchor="ctr"/>
          <a:lstStyle/>
          <a:p>
            <a:pPr marL="0" indent="0" algn="ctr">
              <a:buNone/>
            </a:pPr>
            <a:r>
              <a:rPr lang="en-US" sz="1000" dirty="0">
                <a:solidFill>
                  <a:srgbClr val="6F8CB8"/>
                </a:solidFill>
                <a:latin typeface="JetBrains Mono" pitchFamily="34" charset="0"/>
                <a:ea typeface="JetBrains Mono" pitchFamily="34" charset="-122"/>
                <a:cs typeface="JetBrains Mono" pitchFamily="34" charset="-120"/>
              </a:rPr>
              <a:t>© Groupe Y, 2026</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02920" y="384048"/>
            <a:ext cx="566928" cy="566928"/>
          </a:xfrm>
          <a:prstGeom prst="roundRect">
            <a:avLst>
              <a:gd name="adj" fmla="val 19355"/>
            </a:avLst>
          </a:prstGeom>
          <a:solidFill>
            <a:srgbClr val="E9F0FE"/>
          </a:solidFill>
          <a:ln/>
        </p:spPr>
      </p:sp>
      <p:pic>
        <p:nvPicPr>
          <p:cNvPr id="3" name="Image 0" descr="/home/claude/icons/listCheck.png"/>
          <p:cNvPicPr>
            <a:picLocks noChangeAspect="1"/>
          </p:cNvPicPr>
          <p:nvPr/>
        </p:nvPicPr>
        <p:blipFill>
          <a:blip r:embed="rId4"/>
          <a:stretch>
            <a:fillRect/>
          </a:stretch>
        </p:blipFill>
        <p:spPr>
          <a:xfrm>
            <a:off x="621792" y="502920"/>
            <a:ext cx="329184" cy="329184"/>
          </a:xfrm>
          <a:prstGeom prst="rect">
            <a:avLst/>
          </a:prstGeom>
        </p:spPr>
      </p:pic>
      <p:sp>
        <p:nvSpPr>
          <p:cNvPr id="4" name="Text 1"/>
          <p:cNvSpPr/>
          <p:nvPr/>
        </p:nvSpPr>
        <p:spPr>
          <a:xfrm>
            <a:off x="1252728" y="310896"/>
            <a:ext cx="10436047" cy="457200"/>
          </a:xfrm>
          <a:prstGeom prst="rect">
            <a:avLst/>
          </a:prstGeom>
          <a:noFill/>
          <a:ln/>
        </p:spPr>
        <p:txBody>
          <a:bodyPr wrap="square" lIns="0" tIns="0" rIns="0" bIns="0" rtlCol="0" anchor="b"/>
          <a:lstStyle/>
          <a:p>
            <a:pPr marL="0" indent="0" algn="l">
              <a:buNone/>
            </a:pPr>
            <a:r>
              <a:rPr lang="en-US" sz="2600" b="1" kern="0" spc="-30" dirty="0">
                <a:solidFill>
                  <a:srgbClr val="102033"/>
                </a:solidFill>
                <a:latin typeface="Poppins" pitchFamily="34" charset="0"/>
                <a:ea typeface="Poppins" pitchFamily="34" charset="-122"/>
                <a:cs typeface="Poppins" pitchFamily="34" charset="-120"/>
              </a:rPr>
              <a:t>Sommaire</a:t>
            </a:r>
            <a:endParaRPr lang="en-US" sz="2600" dirty="0"/>
          </a:p>
        </p:txBody>
      </p:sp>
      <p:sp>
        <p:nvSpPr>
          <p:cNvPr id="5" name="Text 2"/>
          <p:cNvSpPr/>
          <p:nvPr/>
        </p:nvSpPr>
        <p:spPr>
          <a:xfrm>
            <a:off x="1252728" y="749808"/>
            <a:ext cx="10436047" cy="292608"/>
          </a:xfrm>
          <a:prstGeom prst="rect">
            <a:avLst/>
          </a:prstGeom>
          <a:noFill/>
          <a:ln/>
        </p:spPr>
        <p:txBody>
          <a:bodyPr wrap="square" lIns="0" tIns="0" rIns="0" bIns="0" rtlCol="0" anchor="t"/>
          <a:lstStyle/>
          <a:p>
            <a:pPr marL="0" indent="0" algn="l">
              <a:buNone/>
            </a:pPr>
            <a:r>
              <a:rPr lang="en-US" sz="1300" dirty="0">
                <a:solidFill>
                  <a:srgbClr val="526579"/>
                </a:solidFill>
                <a:latin typeface="Poppins" pitchFamily="34" charset="0"/>
                <a:ea typeface="Poppins" pitchFamily="34" charset="-122"/>
                <a:cs typeface="Poppins" pitchFamily="34" charset="-120"/>
              </a:rPr>
              <a:t>Groupe Y — Gestion d'un établissement scolaire</a:t>
            </a:r>
            <a:endParaRPr lang="en-US" sz="1300" dirty="0"/>
          </a:p>
        </p:txBody>
      </p:sp>
      <p:sp>
        <p:nvSpPr>
          <p:cNvPr id="6" name="Shape 3"/>
          <p:cNvSpPr/>
          <p:nvPr/>
        </p:nvSpPr>
        <p:spPr>
          <a:xfrm>
            <a:off x="502920" y="1170432"/>
            <a:ext cx="11185855" cy="0"/>
          </a:xfrm>
          <a:prstGeom prst="line">
            <a:avLst/>
          </a:prstGeom>
          <a:noFill/>
          <a:ln w="15875">
            <a:solidFill>
              <a:srgbClr val="D8E2F3"/>
            </a:solidFill>
            <a:prstDash val="solid"/>
          </a:ln>
        </p:spPr>
      </p:sp>
      <p:pic>
        <p:nvPicPr>
          <p:cNvPr id="7" name="Image 1" descr="/home/claude/icons/school.png"/>
          <p:cNvPicPr>
            <a:picLocks noChangeAspect="1"/>
          </p:cNvPicPr>
          <p:nvPr/>
        </p:nvPicPr>
        <p:blipFill>
          <a:blip r:embed="rId5"/>
          <a:stretch>
            <a:fillRect/>
          </a:stretch>
        </p:blipFill>
        <p:spPr>
          <a:xfrm>
            <a:off x="502920" y="6528816"/>
            <a:ext cx="146304" cy="146304"/>
          </a:xfrm>
          <a:prstGeom prst="rect">
            <a:avLst/>
          </a:prstGeom>
        </p:spPr>
      </p:pic>
      <p:sp>
        <p:nvSpPr>
          <p:cNvPr id="8" name="Shape 4"/>
          <p:cNvSpPr/>
          <p:nvPr/>
        </p:nvSpPr>
        <p:spPr>
          <a:xfrm>
            <a:off x="475488" y="6501384"/>
            <a:ext cx="201168" cy="201168"/>
          </a:xfrm>
          <a:prstGeom prst="line">
            <a:avLst/>
          </a:prstGeom>
          <a:solidFill>
            <a:srgbClr val="0F5ED7"/>
          </a:solidFill>
          <a:ln/>
        </p:spPr>
      </p:sp>
      <p:pic>
        <p:nvPicPr>
          <p:cNvPr id="9" name="Image 2" descr="/home/claude/icons/school.png"/>
          <p:cNvPicPr>
            <a:picLocks noChangeAspect="1"/>
          </p:cNvPicPr>
          <p:nvPr/>
        </p:nvPicPr>
        <p:blipFill>
          <a:blip r:embed="rId5"/>
          <a:stretch>
            <a:fillRect/>
          </a:stretch>
        </p:blipFill>
        <p:spPr>
          <a:xfrm>
            <a:off x="516636" y="6533388"/>
            <a:ext cx="137160" cy="137160"/>
          </a:xfrm>
          <a:prstGeom prst="rect">
            <a:avLst/>
          </a:prstGeom>
        </p:spPr>
      </p:pic>
      <p:sp>
        <p:nvSpPr>
          <p:cNvPr id="10" name="Text 5"/>
          <p:cNvSpPr/>
          <p:nvPr/>
        </p:nvSpPr>
        <p:spPr>
          <a:xfrm>
            <a:off x="777240" y="6473952"/>
            <a:ext cx="5943600" cy="274320"/>
          </a:xfrm>
          <a:prstGeom prst="rect">
            <a:avLst/>
          </a:prstGeom>
          <a:noFill/>
          <a:ln/>
        </p:spPr>
        <p:txBody>
          <a:bodyPr wrap="square" lIns="0" tIns="0" rIns="0" bIns="0" rtlCol="0" anchor="ctr"/>
          <a:lstStyle/>
          <a:p>
            <a:pPr marL="0" indent="0">
              <a:buNone/>
            </a:pPr>
            <a:r>
              <a:rPr lang="en-US" sz="950" dirty="0">
                <a:solidFill>
                  <a:srgbClr val="526579"/>
                </a:solidFill>
                <a:latin typeface="Poppins" pitchFamily="34" charset="0"/>
                <a:ea typeface="Poppins" pitchFamily="34" charset="-122"/>
                <a:cs typeface="Poppins" pitchFamily="34" charset="-120"/>
              </a:rPr>
              <a:t>Groupe Y  •  Gestion d'un établissement scolaire</a:t>
            </a:r>
            <a:endParaRPr lang="en-US" sz="950" dirty="0"/>
          </a:p>
        </p:txBody>
      </p:sp>
      <p:sp>
        <p:nvSpPr>
          <p:cNvPr id="11" name="Text 6"/>
          <p:cNvSpPr/>
          <p:nvPr/>
        </p:nvSpPr>
        <p:spPr>
          <a:xfrm>
            <a:off x="10591495" y="6473952"/>
            <a:ext cx="1097280" cy="274320"/>
          </a:xfrm>
          <a:prstGeom prst="rect">
            <a:avLst/>
          </a:prstGeom>
          <a:noFill/>
          <a:ln/>
        </p:spPr>
        <p:txBody>
          <a:bodyPr wrap="square" lIns="0" tIns="0" rIns="0" bIns="0" rtlCol="0" anchor="ctr"/>
          <a:lstStyle/>
          <a:p>
            <a:pPr marL="0" indent="0" algn="r">
              <a:buNone/>
            </a:pPr>
            <a:r>
              <a:rPr lang="en-US" sz="950" dirty="0">
                <a:solidFill>
                  <a:srgbClr val="526579"/>
                </a:solidFill>
                <a:latin typeface="JetBrains Mono" pitchFamily="34" charset="0"/>
                <a:ea typeface="JetBrains Mono" pitchFamily="34" charset="-122"/>
                <a:cs typeface="JetBrains Mono" pitchFamily="34" charset="-120"/>
              </a:rPr>
              <a:t>02</a:t>
            </a:r>
            <a:endParaRPr lang="en-US" sz="950" dirty="0"/>
          </a:p>
        </p:txBody>
      </p:sp>
      <p:sp>
        <p:nvSpPr>
          <p:cNvPr id="12" name="Shape 7"/>
          <p:cNvSpPr/>
          <p:nvPr/>
        </p:nvSpPr>
        <p:spPr>
          <a:xfrm>
            <a:off x="502920" y="1417320"/>
            <a:ext cx="5410048" cy="676656"/>
          </a:xfrm>
          <a:prstGeom prst="roundRect">
            <a:avLst>
              <a:gd name="adj" fmla="val 16216"/>
            </a:avLst>
          </a:prstGeom>
          <a:solidFill>
            <a:srgbClr val="FFFFFF"/>
          </a:solidFill>
          <a:ln w="12700">
            <a:solidFill>
              <a:srgbClr val="D8E2F3"/>
            </a:solidFill>
            <a:prstDash val="solid"/>
          </a:ln>
        </p:spPr>
      </p:sp>
      <p:sp>
        <p:nvSpPr>
          <p:cNvPr id="13" name="Shape 8"/>
          <p:cNvSpPr/>
          <p:nvPr/>
        </p:nvSpPr>
        <p:spPr>
          <a:xfrm>
            <a:off x="667512" y="1554480"/>
            <a:ext cx="402336" cy="402336"/>
          </a:xfrm>
          <a:prstGeom prst="line">
            <a:avLst/>
          </a:prstGeom>
          <a:solidFill>
            <a:srgbClr val="E9F0FE"/>
          </a:solidFill>
          <a:ln/>
        </p:spPr>
      </p:sp>
      <p:sp>
        <p:nvSpPr>
          <p:cNvPr id="14" name="Text 9"/>
          <p:cNvSpPr/>
          <p:nvPr/>
        </p:nvSpPr>
        <p:spPr>
          <a:xfrm>
            <a:off x="667512" y="1554480"/>
            <a:ext cx="402336" cy="402336"/>
          </a:xfrm>
          <a:prstGeom prst="rect">
            <a:avLst/>
          </a:prstGeom>
          <a:noFill/>
          <a:ln/>
        </p:spPr>
        <p:txBody>
          <a:bodyPr wrap="square" lIns="0" tIns="0" rIns="0" bIns="0" rtlCol="0" anchor="ctr"/>
          <a:lstStyle/>
          <a:p>
            <a:pPr marL="0" indent="0" algn="ctr">
              <a:buNone/>
            </a:pPr>
            <a:r>
              <a:rPr lang="en-US" sz="1400" b="1" dirty="0">
                <a:solidFill>
                  <a:srgbClr val="0F5ED7"/>
                </a:solidFill>
                <a:latin typeface="JetBrains Mono" pitchFamily="34" charset="0"/>
                <a:ea typeface="JetBrains Mono" pitchFamily="34" charset="-122"/>
                <a:cs typeface="JetBrains Mono" pitchFamily="34" charset="-120"/>
              </a:rPr>
              <a:t>01</a:t>
            </a:r>
            <a:endParaRPr lang="en-US" sz="1400" dirty="0"/>
          </a:p>
        </p:txBody>
      </p:sp>
      <p:sp>
        <p:nvSpPr>
          <p:cNvPr id="15" name="Text 10"/>
          <p:cNvSpPr/>
          <p:nvPr/>
        </p:nvSpPr>
        <p:spPr>
          <a:xfrm>
            <a:off x="1216152" y="1417320"/>
            <a:ext cx="4541368" cy="676656"/>
          </a:xfrm>
          <a:prstGeom prst="rect">
            <a:avLst/>
          </a:prstGeom>
          <a:noFill/>
          <a:ln/>
        </p:spPr>
        <p:txBody>
          <a:bodyPr wrap="square" lIns="0" tIns="0" rIns="0" bIns="0" rtlCol="0" anchor="ctr"/>
          <a:lstStyle/>
          <a:p>
            <a:pPr marL="0" indent="0">
              <a:lnSpc>
                <a:spcPct val="110000"/>
              </a:lnSpc>
              <a:buNone/>
            </a:pPr>
            <a:r>
              <a:rPr lang="en-US" sz="1350" b="1" dirty="0">
                <a:solidFill>
                  <a:srgbClr val="102033"/>
                </a:solidFill>
                <a:latin typeface="Poppins" pitchFamily="34" charset="0"/>
                <a:ea typeface="Poppins" pitchFamily="34" charset="-122"/>
                <a:cs typeface="Poppins" pitchFamily="34" charset="-120"/>
              </a:rPr>
              <a:t>Remerciements</a:t>
            </a:r>
            <a:endParaRPr lang="en-US" sz="1350" dirty="0"/>
          </a:p>
        </p:txBody>
      </p:sp>
      <p:sp>
        <p:nvSpPr>
          <p:cNvPr id="16" name="Shape 11"/>
          <p:cNvSpPr/>
          <p:nvPr/>
        </p:nvSpPr>
        <p:spPr>
          <a:xfrm>
            <a:off x="502920" y="2258568"/>
            <a:ext cx="5410048" cy="676656"/>
          </a:xfrm>
          <a:prstGeom prst="roundRect">
            <a:avLst>
              <a:gd name="adj" fmla="val 16216"/>
            </a:avLst>
          </a:prstGeom>
          <a:solidFill>
            <a:srgbClr val="FFFFFF"/>
          </a:solidFill>
          <a:ln w="12700">
            <a:solidFill>
              <a:srgbClr val="D8E2F3"/>
            </a:solidFill>
            <a:prstDash val="solid"/>
          </a:ln>
        </p:spPr>
      </p:sp>
      <p:sp>
        <p:nvSpPr>
          <p:cNvPr id="17" name="Shape 12"/>
          <p:cNvSpPr/>
          <p:nvPr/>
        </p:nvSpPr>
        <p:spPr>
          <a:xfrm>
            <a:off x="667512" y="2395728"/>
            <a:ext cx="402336" cy="402336"/>
          </a:xfrm>
          <a:prstGeom prst="line">
            <a:avLst/>
          </a:prstGeom>
          <a:solidFill>
            <a:srgbClr val="E9F0FE"/>
          </a:solidFill>
          <a:ln/>
        </p:spPr>
      </p:sp>
      <p:sp>
        <p:nvSpPr>
          <p:cNvPr id="18" name="Text 13"/>
          <p:cNvSpPr/>
          <p:nvPr/>
        </p:nvSpPr>
        <p:spPr>
          <a:xfrm>
            <a:off x="667512" y="2395728"/>
            <a:ext cx="402336" cy="402336"/>
          </a:xfrm>
          <a:prstGeom prst="rect">
            <a:avLst/>
          </a:prstGeom>
          <a:noFill/>
          <a:ln/>
        </p:spPr>
        <p:txBody>
          <a:bodyPr wrap="square" lIns="0" tIns="0" rIns="0" bIns="0" rtlCol="0" anchor="ctr"/>
          <a:lstStyle/>
          <a:p>
            <a:pPr marL="0" indent="0" algn="ctr">
              <a:buNone/>
            </a:pPr>
            <a:r>
              <a:rPr lang="en-US" sz="1400" b="1" dirty="0">
                <a:solidFill>
                  <a:srgbClr val="0F5ED7"/>
                </a:solidFill>
                <a:latin typeface="JetBrains Mono" pitchFamily="34" charset="0"/>
                <a:ea typeface="JetBrains Mono" pitchFamily="34" charset="-122"/>
                <a:cs typeface="JetBrains Mono" pitchFamily="34" charset="-120"/>
              </a:rPr>
              <a:t>02</a:t>
            </a:r>
            <a:endParaRPr lang="en-US" sz="1400" dirty="0"/>
          </a:p>
        </p:txBody>
      </p:sp>
      <p:sp>
        <p:nvSpPr>
          <p:cNvPr id="19" name="Text 14"/>
          <p:cNvSpPr/>
          <p:nvPr/>
        </p:nvSpPr>
        <p:spPr>
          <a:xfrm>
            <a:off x="1216152" y="2258568"/>
            <a:ext cx="4541368" cy="676656"/>
          </a:xfrm>
          <a:prstGeom prst="rect">
            <a:avLst/>
          </a:prstGeom>
          <a:noFill/>
          <a:ln/>
        </p:spPr>
        <p:txBody>
          <a:bodyPr wrap="square" lIns="0" tIns="0" rIns="0" bIns="0" rtlCol="0" anchor="ctr"/>
          <a:lstStyle/>
          <a:p>
            <a:pPr marL="0" indent="0">
              <a:lnSpc>
                <a:spcPct val="110000"/>
              </a:lnSpc>
              <a:buNone/>
            </a:pPr>
            <a:r>
              <a:rPr lang="en-US" sz="1350" b="1" dirty="0">
                <a:solidFill>
                  <a:srgbClr val="102033"/>
                </a:solidFill>
                <a:latin typeface="Poppins" pitchFamily="34" charset="0"/>
                <a:ea typeface="Poppins" pitchFamily="34" charset="-122"/>
                <a:cs typeface="Poppins" pitchFamily="34" charset="-120"/>
              </a:rPr>
              <a:t>Contexte &amp; problématique</a:t>
            </a:r>
            <a:endParaRPr lang="en-US" sz="1350" dirty="0"/>
          </a:p>
        </p:txBody>
      </p:sp>
      <p:sp>
        <p:nvSpPr>
          <p:cNvPr id="20" name="Shape 15"/>
          <p:cNvSpPr/>
          <p:nvPr/>
        </p:nvSpPr>
        <p:spPr>
          <a:xfrm>
            <a:off x="502920" y="3099816"/>
            <a:ext cx="5410048" cy="676656"/>
          </a:xfrm>
          <a:prstGeom prst="roundRect">
            <a:avLst>
              <a:gd name="adj" fmla="val 16216"/>
            </a:avLst>
          </a:prstGeom>
          <a:solidFill>
            <a:srgbClr val="FFFFFF"/>
          </a:solidFill>
          <a:ln w="12700">
            <a:solidFill>
              <a:srgbClr val="D8E2F3"/>
            </a:solidFill>
            <a:prstDash val="solid"/>
          </a:ln>
        </p:spPr>
      </p:sp>
      <p:sp>
        <p:nvSpPr>
          <p:cNvPr id="21" name="Shape 16"/>
          <p:cNvSpPr/>
          <p:nvPr/>
        </p:nvSpPr>
        <p:spPr>
          <a:xfrm>
            <a:off x="667512" y="3236976"/>
            <a:ext cx="402336" cy="402336"/>
          </a:xfrm>
          <a:prstGeom prst="line">
            <a:avLst/>
          </a:prstGeom>
          <a:solidFill>
            <a:srgbClr val="E9F0FE"/>
          </a:solidFill>
          <a:ln/>
        </p:spPr>
      </p:sp>
      <p:sp>
        <p:nvSpPr>
          <p:cNvPr id="22" name="Text 17"/>
          <p:cNvSpPr/>
          <p:nvPr/>
        </p:nvSpPr>
        <p:spPr>
          <a:xfrm>
            <a:off x="667512" y="3236976"/>
            <a:ext cx="402336" cy="402336"/>
          </a:xfrm>
          <a:prstGeom prst="rect">
            <a:avLst/>
          </a:prstGeom>
          <a:noFill/>
          <a:ln/>
        </p:spPr>
        <p:txBody>
          <a:bodyPr wrap="square" lIns="0" tIns="0" rIns="0" bIns="0" rtlCol="0" anchor="ctr"/>
          <a:lstStyle/>
          <a:p>
            <a:pPr marL="0" indent="0" algn="ctr">
              <a:buNone/>
            </a:pPr>
            <a:r>
              <a:rPr lang="en-US" sz="1400" b="1" dirty="0">
                <a:solidFill>
                  <a:srgbClr val="0F5ED7"/>
                </a:solidFill>
                <a:latin typeface="JetBrains Mono" pitchFamily="34" charset="0"/>
                <a:ea typeface="JetBrains Mono" pitchFamily="34" charset="-122"/>
                <a:cs typeface="JetBrains Mono" pitchFamily="34" charset="-120"/>
              </a:rPr>
              <a:t>03</a:t>
            </a:r>
            <a:endParaRPr lang="en-US" sz="1400" dirty="0"/>
          </a:p>
        </p:txBody>
      </p:sp>
      <p:sp>
        <p:nvSpPr>
          <p:cNvPr id="23" name="Text 18"/>
          <p:cNvSpPr/>
          <p:nvPr/>
        </p:nvSpPr>
        <p:spPr>
          <a:xfrm>
            <a:off x="1216152" y="3099816"/>
            <a:ext cx="4541368" cy="676656"/>
          </a:xfrm>
          <a:prstGeom prst="rect">
            <a:avLst/>
          </a:prstGeom>
          <a:noFill/>
          <a:ln/>
        </p:spPr>
        <p:txBody>
          <a:bodyPr wrap="square" lIns="0" tIns="0" rIns="0" bIns="0" rtlCol="0" anchor="ctr"/>
          <a:lstStyle/>
          <a:p>
            <a:pPr marL="0" indent="0">
              <a:lnSpc>
                <a:spcPct val="110000"/>
              </a:lnSpc>
              <a:buNone/>
            </a:pPr>
            <a:r>
              <a:rPr lang="en-US" sz="1350" b="1" dirty="0">
                <a:solidFill>
                  <a:srgbClr val="102033"/>
                </a:solidFill>
                <a:latin typeface="Poppins" pitchFamily="34" charset="0"/>
                <a:ea typeface="Poppins" pitchFamily="34" charset="-122"/>
                <a:cs typeface="Poppins" pitchFamily="34" charset="-120"/>
              </a:rPr>
              <a:t>Objectifs du projet</a:t>
            </a:r>
            <a:endParaRPr lang="en-US" sz="1350" dirty="0"/>
          </a:p>
        </p:txBody>
      </p:sp>
      <p:sp>
        <p:nvSpPr>
          <p:cNvPr id="24" name="Shape 19"/>
          <p:cNvSpPr/>
          <p:nvPr/>
        </p:nvSpPr>
        <p:spPr>
          <a:xfrm>
            <a:off x="502920" y="3941064"/>
            <a:ext cx="5410048" cy="676656"/>
          </a:xfrm>
          <a:prstGeom prst="roundRect">
            <a:avLst>
              <a:gd name="adj" fmla="val 16216"/>
            </a:avLst>
          </a:prstGeom>
          <a:solidFill>
            <a:srgbClr val="FFFFFF"/>
          </a:solidFill>
          <a:ln w="12700">
            <a:solidFill>
              <a:srgbClr val="D8E2F3"/>
            </a:solidFill>
            <a:prstDash val="solid"/>
          </a:ln>
        </p:spPr>
      </p:sp>
      <p:sp>
        <p:nvSpPr>
          <p:cNvPr id="25" name="Shape 20"/>
          <p:cNvSpPr/>
          <p:nvPr/>
        </p:nvSpPr>
        <p:spPr>
          <a:xfrm>
            <a:off x="667512" y="4078224"/>
            <a:ext cx="402336" cy="402336"/>
          </a:xfrm>
          <a:prstGeom prst="line">
            <a:avLst/>
          </a:prstGeom>
          <a:solidFill>
            <a:srgbClr val="E9F0FE"/>
          </a:solidFill>
          <a:ln/>
        </p:spPr>
      </p:sp>
      <p:sp>
        <p:nvSpPr>
          <p:cNvPr id="26" name="Text 21"/>
          <p:cNvSpPr/>
          <p:nvPr/>
        </p:nvSpPr>
        <p:spPr>
          <a:xfrm>
            <a:off x="667512" y="4078224"/>
            <a:ext cx="402336" cy="402336"/>
          </a:xfrm>
          <a:prstGeom prst="rect">
            <a:avLst/>
          </a:prstGeom>
          <a:noFill/>
          <a:ln/>
        </p:spPr>
        <p:txBody>
          <a:bodyPr wrap="square" lIns="0" tIns="0" rIns="0" bIns="0" rtlCol="0" anchor="ctr"/>
          <a:lstStyle/>
          <a:p>
            <a:pPr marL="0" indent="0" algn="ctr">
              <a:buNone/>
            </a:pPr>
            <a:r>
              <a:rPr lang="en-US" sz="1400" b="1" dirty="0">
                <a:solidFill>
                  <a:srgbClr val="0F5ED7"/>
                </a:solidFill>
                <a:latin typeface="JetBrains Mono" pitchFamily="34" charset="0"/>
                <a:ea typeface="JetBrains Mono" pitchFamily="34" charset="-122"/>
                <a:cs typeface="JetBrains Mono" pitchFamily="34" charset="-120"/>
              </a:rPr>
              <a:t>04</a:t>
            </a:r>
            <a:endParaRPr lang="en-US" sz="1400" dirty="0"/>
          </a:p>
        </p:txBody>
      </p:sp>
      <p:sp>
        <p:nvSpPr>
          <p:cNvPr id="27" name="Text 22"/>
          <p:cNvSpPr/>
          <p:nvPr/>
        </p:nvSpPr>
        <p:spPr>
          <a:xfrm>
            <a:off x="1216152" y="3941064"/>
            <a:ext cx="4541368" cy="676656"/>
          </a:xfrm>
          <a:prstGeom prst="rect">
            <a:avLst/>
          </a:prstGeom>
          <a:noFill/>
          <a:ln/>
        </p:spPr>
        <p:txBody>
          <a:bodyPr wrap="square" lIns="0" tIns="0" rIns="0" bIns="0" rtlCol="0" anchor="ctr"/>
          <a:lstStyle/>
          <a:p>
            <a:pPr marL="0" indent="0">
              <a:lnSpc>
                <a:spcPct val="110000"/>
              </a:lnSpc>
              <a:buNone/>
            </a:pPr>
            <a:r>
              <a:rPr lang="en-US" sz="1350" b="1" dirty="0">
                <a:solidFill>
                  <a:srgbClr val="102033"/>
                </a:solidFill>
                <a:latin typeface="Poppins" pitchFamily="34" charset="0"/>
                <a:ea typeface="Poppins" pitchFamily="34" charset="-122"/>
                <a:cs typeface="Poppins" pitchFamily="34" charset="-120"/>
              </a:rPr>
              <a:t>Fonctionnalités de l'application</a:t>
            </a:r>
            <a:endParaRPr lang="en-US" sz="1350" dirty="0"/>
          </a:p>
        </p:txBody>
      </p:sp>
      <p:sp>
        <p:nvSpPr>
          <p:cNvPr id="28" name="Shape 23"/>
          <p:cNvSpPr/>
          <p:nvPr/>
        </p:nvSpPr>
        <p:spPr>
          <a:xfrm>
            <a:off x="502920" y="4782312"/>
            <a:ext cx="5410048" cy="676656"/>
          </a:xfrm>
          <a:prstGeom prst="roundRect">
            <a:avLst>
              <a:gd name="adj" fmla="val 16216"/>
            </a:avLst>
          </a:prstGeom>
          <a:solidFill>
            <a:srgbClr val="FFFFFF"/>
          </a:solidFill>
          <a:ln w="12700">
            <a:solidFill>
              <a:srgbClr val="D8E2F3"/>
            </a:solidFill>
            <a:prstDash val="solid"/>
          </a:ln>
        </p:spPr>
      </p:sp>
      <p:sp>
        <p:nvSpPr>
          <p:cNvPr id="29" name="Shape 24"/>
          <p:cNvSpPr/>
          <p:nvPr/>
        </p:nvSpPr>
        <p:spPr>
          <a:xfrm>
            <a:off x="667512" y="4919472"/>
            <a:ext cx="402336" cy="402336"/>
          </a:xfrm>
          <a:prstGeom prst="line">
            <a:avLst/>
          </a:prstGeom>
          <a:solidFill>
            <a:srgbClr val="E9F0FE"/>
          </a:solidFill>
          <a:ln/>
        </p:spPr>
      </p:sp>
      <p:sp>
        <p:nvSpPr>
          <p:cNvPr id="30" name="Text 25"/>
          <p:cNvSpPr/>
          <p:nvPr/>
        </p:nvSpPr>
        <p:spPr>
          <a:xfrm>
            <a:off x="667512" y="4919472"/>
            <a:ext cx="402336" cy="402336"/>
          </a:xfrm>
          <a:prstGeom prst="rect">
            <a:avLst/>
          </a:prstGeom>
          <a:noFill/>
          <a:ln/>
        </p:spPr>
        <p:txBody>
          <a:bodyPr wrap="square" lIns="0" tIns="0" rIns="0" bIns="0" rtlCol="0" anchor="ctr"/>
          <a:lstStyle/>
          <a:p>
            <a:pPr marL="0" indent="0" algn="ctr">
              <a:buNone/>
            </a:pPr>
            <a:r>
              <a:rPr lang="en-US" sz="1400" b="1" dirty="0">
                <a:solidFill>
                  <a:srgbClr val="0F5ED7"/>
                </a:solidFill>
                <a:latin typeface="JetBrains Mono" pitchFamily="34" charset="0"/>
                <a:ea typeface="JetBrains Mono" pitchFamily="34" charset="-122"/>
                <a:cs typeface="JetBrains Mono" pitchFamily="34" charset="-120"/>
              </a:rPr>
              <a:t>05</a:t>
            </a:r>
            <a:endParaRPr lang="en-US" sz="1400" dirty="0"/>
          </a:p>
        </p:txBody>
      </p:sp>
      <p:sp>
        <p:nvSpPr>
          <p:cNvPr id="31" name="Text 26"/>
          <p:cNvSpPr/>
          <p:nvPr/>
        </p:nvSpPr>
        <p:spPr>
          <a:xfrm>
            <a:off x="1216152" y="4782312"/>
            <a:ext cx="4541368" cy="676656"/>
          </a:xfrm>
          <a:prstGeom prst="rect">
            <a:avLst/>
          </a:prstGeom>
          <a:noFill/>
          <a:ln/>
        </p:spPr>
        <p:txBody>
          <a:bodyPr wrap="square" lIns="0" tIns="0" rIns="0" bIns="0" rtlCol="0" anchor="ctr"/>
          <a:lstStyle/>
          <a:p>
            <a:pPr marL="0" indent="0">
              <a:lnSpc>
                <a:spcPct val="110000"/>
              </a:lnSpc>
              <a:buNone/>
            </a:pPr>
            <a:r>
              <a:rPr lang="en-US" sz="1350" b="1" dirty="0">
                <a:solidFill>
                  <a:srgbClr val="102033"/>
                </a:solidFill>
                <a:latin typeface="Poppins" pitchFamily="34" charset="0"/>
                <a:ea typeface="Poppins" pitchFamily="34" charset="-122"/>
                <a:cs typeface="Poppins" pitchFamily="34" charset="-120"/>
              </a:rPr>
              <a:t>Utilisateurs &amp; parcours (user flow)</a:t>
            </a:r>
            <a:endParaRPr lang="en-US" sz="1350" dirty="0"/>
          </a:p>
        </p:txBody>
      </p:sp>
      <p:sp>
        <p:nvSpPr>
          <p:cNvPr id="32" name="Shape 27"/>
          <p:cNvSpPr/>
          <p:nvPr/>
        </p:nvSpPr>
        <p:spPr>
          <a:xfrm>
            <a:off x="6278728" y="1417320"/>
            <a:ext cx="5410048" cy="676656"/>
          </a:xfrm>
          <a:prstGeom prst="roundRect">
            <a:avLst>
              <a:gd name="adj" fmla="val 16216"/>
            </a:avLst>
          </a:prstGeom>
          <a:solidFill>
            <a:srgbClr val="FFFFFF"/>
          </a:solidFill>
          <a:ln w="12700">
            <a:solidFill>
              <a:srgbClr val="D8E2F3"/>
            </a:solidFill>
            <a:prstDash val="solid"/>
          </a:ln>
        </p:spPr>
      </p:sp>
      <p:sp>
        <p:nvSpPr>
          <p:cNvPr id="33" name="Shape 28"/>
          <p:cNvSpPr/>
          <p:nvPr/>
        </p:nvSpPr>
        <p:spPr>
          <a:xfrm>
            <a:off x="6443320" y="1554480"/>
            <a:ext cx="402336" cy="402336"/>
          </a:xfrm>
          <a:prstGeom prst="line">
            <a:avLst/>
          </a:prstGeom>
          <a:solidFill>
            <a:srgbClr val="E9F0FE"/>
          </a:solidFill>
          <a:ln/>
        </p:spPr>
      </p:sp>
      <p:sp>
        <p:nvSpPr>
          <p:cNvPr id="34" name="Text 29"/>
          <p:cNvSpPr/>
          <p:nvPr/>
        </p:nvSpPr>
        <p:spPr>
          <a:xfrm>
            <a:off x="6443320" y="1554480"/>
            <a:ext cx="402336" cy="402336"/>
          </a:xfrm>
          <a:prstGeom prst="rect">
            <a:avLst/>
          </a:prstGeom>
          <a:noFill/>
          <a:ln/>
        </p:spPr>
        <p:txBody>
          <a:bodyPr wrap="square" lIns="0" tIns="0" rIns="0" bIns="0" rtlCol="0" anchor="ctr"/>
          <a:lstStyle/>
          <a:p>
            <a:pPr marL="0" indent="0" algn="ctr">
              <a:buNone/>
            </a:pPr>
            <a:r>
              <a:rPr lang="en-US" sz="1400" b="1" dirty="0">
                <a:solidFill>
                  <a:srgbClr val="0F5ED7"/>
                </a:solidFill>
                <a:latin typeface="JetBrains Mono" pitchFamily="34" charset="0"/>
                <a:ea typeface="JetBrains Mono" pitchFamily="34" charset="-122"/>
                <a:cs typeface="JetBrains Mono" pitchFamily="34" charset="-120"/>
              </a:rPr>
              <a:t>06</a:t>
            </a:r>
            <a:endParaRPr lang="en-US" sz="1400" dirty="0"/>
          </a:p>
        </p:txBody>
      </p:sp>
      <p:sp>
        <p:nvSpPr>
          <p:cNvPr id="35" name="Text 30"/>
          <p:cNvSpPr/>
          <p:nvPr/>
        </p:nvSpPr>
        <p:spPr>
          <a:xfrm>
            <a:off x="6991960" y="1417320"/>
            <a:ext cx="4541368" cy="676656"/>
          </a:xfrm>
          <a:prstGeom prst="rect">
            <a:avLst/>
          </a:prstGeom>
          <a:noFill/>
          <a:ln/>
        </p:spPr>
        <p:txBody>
          <a:bodyPr wrap="square" lIns="0" tIns="0" rIns="0" bIns="0" rtlCol="0" anchor="ctr"/>
          <a:lstStyle/>
          <a:p>
            <a:pPr marL="0" indent="0">
              <a:lnSpc>
                <a:spcPct val="110000"/>
              </a:lnSpc>
              <a:buNone/>
            </a:pPr>
            <a:r>
              <a:rPr lang="en-US" sz="1350" b="1" dirty="0">
                <a:solidFill>
                  <a:srgbClr val="102033"/>
                </a:solidFill>
                <a:latin typeface="Poppins" pitchFamily="34" charset="0"/>
                <a:ea typeface="Poppins" pitchFamily="34" charset="-122"/>
                <a:cs typeface="Poppins" pitchFamily="34" charset="-120"/>
              </a:rPr>
              <a:t>Choix technologiques</a:t>
            </a:r>
            <a:endParaRPr lang="en-US" sz="1350" dirty="0"/>
          </a:p>
        </p:txBody>
      </p:sp>
      <p:sp>
        <p:nvSpPr>
          <p:cNvPr id="36" name="Shape 31"/>
          <p:cNvSpPr/>
          <p:nvPr/>
        </p:nvSpPr>
        <p:spPr>
          <a:xfrm>
            <a:off x="6278728" y="2258568"/>
            <a:ext cx="5410048" cy="676656"/>
          </a:xfrm>
          <a:prstGeom prst="roundRect">
            <a:avLst>
              <a:gd name="adj" fmla="val 16216"/>
            </a:avLst>
          </a:prstGeom>
          <a:solidFill>
            <a:srgbClr val="FFFFFF"/>
          </a:solidFill>
          <a:ln w="12700">
            <a:solidFill>
              <a:srgbClr val="D8E2F3"/>
            </a:solidFill>
            <a:prstDash val="solid"/>
          </a:ln>
        </p:spPr>
      </p:sp>
      <p:sp>
        <p:nvSpPr>
          <p:cNvPr id="37" name="Shape 32"/>
          <p:cNvSpPr/>
          <p:nvPr/>
        </p:nvSpPr>
        <p:spPr>
          <a:xfrm>
            <a:off x="6443320" y="2395728"/>
            <a:ext cx="402336" cy="402336"/>
          </a:xfrm>
          <a:prstGeom prst="line">
            <a:avLst/>
          </a:prstGeom>
          <a:solidFill>
            <a:srgbClr val="E9F0FE"/>
          </a:solidFill>
          <a:ln/>
        </p:spPr>
      </p:sp>
      <p:sp>
        <p:nvSpPr>
          <p:cNvPr id="38" name="Text 33"/>
          <p:cNvSpPr/>
          <p:nvPr/>
        </p:nvSpPr>
        <p:spPr>
          <a:xfrm>
            <a:off x="6443320" y="2395728"/>
            <a:ext cx="402336" cy="402336"/>
          </a:xfrm>
          <a:prstGeom prst="rect">
            <a:avLst/>
          </a:prstGeom>
          <a:noFill/>
          <a:ln/>
        </p:spPr>
        <p:txBody>
          <a:bodyPr wrap="square" lIns="0" tIns="0" rIns="0" bIns="0" rtlCol="0" anchor="ctr"/>
          <a:lstStyle/>
          <a:p>
            <a:pPr marL="0" indent="0" algn="ctr">
              <a:buNone/>
            </a:pPr>
            <a:r>
              <a:rPr lang="en-US" sz="1400" b="1" dirty="0">
                <a:solidFill>
                  <a:srgbClr val="0F5ED7"/>
                </a:solidFill>
                <a:latin typeface="JetBrains Mono" pitchFamily="34" charset="0"/>
                <a:ea typeface="JetBrains Mono" pitchFamily="34" charset="-122"/>
                <a:cs typeface="JetBrains Mono" pitchFamily="34" charset="-120"/>
              </a:rPr>
              <a:t>07</a:t>
            </a:r>
            <a:endParaRPr lang="en-US" sz="1400" dirty="0"/>
          </a:p>
        </p:txBody>
      </p:sp>
      <p:sp>
        <p:nvSpPr>
          <p:cNvPr id="39" name="Text 34"/>
          <p:cNvSpPr/>
          <p:nvPr/>
        </p:nvSpPr>
        <p:spPr>
          <a:xfrm>
            <a:off x="6991960" y="2258568"/>
            <a:ext cx="4541368" cy="676656"/>
          </a:xfrm>
          <a:prstGeom prst="rect">
            <a:avLst/>
          </a:prstGeom>
          <a:noFill/>
          <a:ln/>
        </p:spPr>
        <p:txBody>
          <a:bodyPr wrap="square" lIns="0" tIns="0" rIns="0" bIns="0" rtlCol="0" anchor="ctr"/>
          <a:lstStyle/>
          <a:p>
            <a:pPr marL="0" indent="0">
              <a:lnSpc>
                <a:spcPct val="110000"/>
              </a:lnSpc>
              <a:buNone/>
            </a:pPr>
            <a:r>
              <a:rPr lang="en-US" sz="1350" b="1" dirty="0">
                <a:solidFill>
                  <a:srgbClr val="102033"/>
                </a:solidFill>
                <a:latin typeface="Poppins" pitchFamily="34" charset="0"/>
                <a:ea typeface="Poppins" pitchFamily="34" charset="-122"/>
                <a:cs typeface="Poppins" pitchFamily="34" charset="-120"/>
              </a:rPr>
              <a:t>Base de données</a:t>
            </a:r>
            <a:endParaRPr lang="en-US" sz="1350" dirty="0"/>
          </a:p>
        </p:txBody>
      </p:sp>
      <p:sp>
        <p:nvSpPr>
          <p:cNvPr id="40" name="Shape 35"/>
          <p:cNvSpPr/>
          <p:nvPr/>
        </p:nvSpPr>
        <p:spPr>
          <a:xfrm>
            <a:off x="6278728" y="3099816"/>
            <a:ext cx="5410048" cy="676656"/>
          </a:xfrm>
          <a:prstGeom prst="roundRect">
            <a:avLst>
              <a:gd name="adj" fmla="val 16216"/>
            </a:avLst>
          </a:prstGeom>
          <a:solidFill>
            <a:srgbClr val="FFFFFF"/>
          </a:solidFill>
          <a:ln w="12700">
            <a:solidFill>
              <a:srgbClr val="D8E2F3"/>
            </a:solidFill>
            <a:prstDash val="solid"/>
          </a:ln>
        </p:spPr>
      </p:sp>
      <p:sp>
        <p:nvSpPr>
          <p:cNvPr id="41" name="Shape 36"/>
          <p:cNvSpPr/>
          <p:nvPr/>
        </p:nvSpPr>
        <p:spPr>
          <a:xfrm>
            <a:off x="6443320" y="3236976"/>
            <a:ext cx="402336" cy="402336"/>
          </a:xfrm>
          <a:prstGeom prst="line">
            <a:avLst/>
          </a:prstGeom>
          <a:solidFill>
            <a:srgbClr val="E9F0FE"/>
          </a:solidFill>
          <a:ln/>
        </p:spPr>
      </p:sp>
      <p:sp>
        <p:nvSpPr>
          <p:cNvPr id="42" name="Text 37"/>
          <p:cNvSpPr/>
          <p:nvPr/>
        </p:nvSpPr>
        <p:spPr>
          <a:xfrm>
            <a:off x="6443320" y="3236976"/>
            <a:ext cx="402336" cy="402336"/>
          </a:xfrm>
          <a:prstGeom prst="rect">
            <a:avLst/>
          </a:prstGeom>
          <a:noFill/>
          <a:ln/>
        </p:spPr>
        <p:txBody>
          <a:bodyPr wrap="square" lIns="0" tIns="0" rIns="0" bIns="0" rtlCol="0" anchor="ctr"/>
          <a:lstStyle/>
          <a:p>
            <a:pPr marL="0" indent="0" algn="ctr">
              <a:buNone/>
            </a:pPr>
            <a:r>
              <a:rPr lang="en-US" sz="1400" b="1" dirty="0">
                <a:solidFill>
                  <a:srgbClr val="0F5ED7"/>
                </a:solidFill>
                <a:latin typeface="JetBrains Mono" pitchFamily="34" charset="0"/>
                <a:ea typeface="JetBrains Mono" pitchFamily="34" charset="-122"/>
                <a:cs typeface="JetBrains Mono" pitchFamily="34" charset="-120"/>
              </a:rPr>
              <a:t>08</a:t>
            </a:r>
            <a:endParaRPr lang="en-US" sz="1400" dirty="0"/>
          </a:p>
        </p:txBody>
      </p:sp>
      <p:sp>
        <p:nvSpPr>
          <p:cNvPr id="43" name="Text 38"/>
          <p:cNvSpPr/>
          <p:nvPr/>
        </p:nvSpPr>
        <p:spPr>
          <a:xfrm>
            <a:off x="6991960" y="3099816"/>
            <a:ext cx="4541368" cy="676656"/>
          </a:xfrm>
          <a:prstGeom prst="rect">
            <a:avLst/>
          </a:prstGeom>
          <a:noFill/>
          <a:ln/>
        </p:spPr>
        <p:txBody>
          <a:bodyPr wrap="square" lIns="0" tIns="0" rIns="0" bIns="0" rtlCol="0" anchor="ctr"/>
          <a:lstStyle/>
          <a:p>
            <a:pPr marL="0" indent="0">
              <a:lnSpc>
                <a:spcPct val="110000"/>
              </a:lnSpc>
              <a:buNone/>
            </a:pPr>
            <a:r>
              <a:rPr lang="en-US" sz="1350" b="1" dirty="0">
                <a:solidFill>
                  <a:srgbClr val="102033"/>
                </a:solidFill>
                <a:latin typeface="Poppins" pitchFamily="34" charset="0"/>
                <a:ea typeface="Poppins" pitchFamily="34" charset="-122"/>
                <a:cs typeface="Poppins" pitchFamily="34" charset="-120"/>
              </a:rPr>
              <a:t>Planning &amp; budget</a:t>
            </a:r>
            <a:endParaRPr lang="en-US" sz="1350" dirty="0"/>
          </a:p>
        </p:txBody>
      </p:sp>
      <p:sp>
        <p:nvSpPr>
          <p:cNvPr id="44" name="Shape 39"/>
          <p:cNvSpPr/>
          <p:nvPr/>
        </p:nvSpPr>
        <p:spPr>
          <a:xfrm>
            <a:off x="6278728" y="3941064"/>
            <a:ext cx="5410048" cy="676656"/>
          </a:xfrm>
          <a:prstGeom prst="roundRect">
            <a:avLst>
              <a:gd name="adj" fmla="val 16216"/>
            </a:avLst>
          </a:prstGeom>
          <a:solidFill>
            <a:srgbClr val="FFFFFF"/>
          </a:solidFill>
          <a:ln w="12700">
            <a:solidFill>
              <a:srgbClr val="D8E2F3"/>
            </a:solidFill>
            <a:prstDash val="solid"/>
          </a:ln>
        </p:spPr>
      </p:sp>
      <p:sp>
        <p:nvSpPr>
          <p:cNvPr id="45" name="Shape 40"/>
          <p:cNvSpPr/>
          <p:nvPr/>
        </p:nvSpPr>
        <p:spPr>
          <a:xfrm>
            <a:off x="6443320" y="4078224"/>
            <a:ext cx="402336" cy="402336"/>
          </a:xfrm>
          <a:prstGeom prst="line">
            <a:avLst/>
          </a:prstGeom>
          <a:solidFill>
            <a:srgbClr val="E9F0FE"/>
          </a:solidFill>
          <a:ln/>
        </p:spPr>
      </p:sp>
      <p:sp>
        <p:nvSpPr>
          <p:cNvPr id="46" name="Text 41"/>
          <p:cNvSpPr/>
          <p:nvPr/>
        </p:nvSpPr>
        <p:spPr>
          <a:xfrm>
            <a:off x="6443320" y="4078224"/>
            <a:ext cx="402336" cy="402336"/>
          </a:xfrm>
          <a:prstGeom prst="rect">
            <a:avLst/>
          </a:prstGeom>
          <a:noFill/>
          <a:ln/>
        </p:spPr>
        <p:txBody>
          <a:bodyPr wrap="square" lIns="0" tIns="0" rIns="0" bIns="0" rtlCol="0" anchor="ctr"/>
          <a:lstStyle/>
          <a:p>
            <a:pPr marL="0" indent="0" algn="ctr">
              <a:buNone/>
            </a:pPr>
            <a:r>
              <a:rPr lang="en-US" sz="1400" b="1" dirty="0">
                <a:solidFill>
                  <a:srgbClr val="0F5ED7"/>
                </a:solidFill>
                <a:latin typeface="JetBrains Mono" pitchFamily="34" charset="0"/>
                <a:ea typeface="JetBrains Mono" pitchFamily="34" charset="-122"/>
                <a:cs typeface="JetBrains Mono" pitchFamily="34" charset="-120"/>
              </a:rPr>
              <a:t>09</a:t>
            </a:r>
            <a:endParaRPr lang="en-US" sz="1400" dirty="0"/>
          </a:p>
        </p:txBody>
      </p:sp>
      <p:sp>
        <p:nvSpPr>
          <p:cNvPr id="47" name="Text 42"/>
          <p:cNvSpPr/>
          <p:nvPr/>
        </p:nvSpPr>
        <p:spPr>
          <a:xfrm>
            <a:off x="6991960" y="3941064"/>
            <a:ext cx="4541368" cy="676656"/>
          </a:xfrm>
          <a:prstGeom prst="rect">
            <a:avLst/>
          </a:prstGeom>
          <a:noFill/>
          <a:ln/>
        </p:spPr>
        <p:txBody>
          <a:bodyPr wrap="square" lIns="0" tIns="0" rIns="0" bIns="0" rtlCol="0" anchor="ctr"/>
          <a:lstStyle/>
          <a:p>
            <a:pPr marL="0" indent="0">
              <a:lnSpc>
                <a:spcPct val="110000"/>
              </a:lnSpc>
              <a:buNone/>
            </a:pPr>
            <a:r>
              <a:rPr lang="en-US" sz="1350" b="1" dirty="0">
                <a:solidFill>
                  <a:srgbClr val="102033"/>
                </a:solidFill>
                <a:latin typeface="Poppins" pitchFamily="34" charset="0"/>
                <a:ea typeface="Poppins" pitchFamily="34" charset="-122"/>
                <a:cs typeface="Poppins" pitchFamily="34" charset="-120"/>
              </a:rPr>
              <a:t>Tests &amp; retours d'expérience</a:t>
            </a:r>
            <a:endParaRPr lang="en-US" sz="1350" dirty="0"/>
          </a:p>
        </p:txBody>
      </p:sp>
      <p:sp>
        <p:nvSpPr>
          <p:cNvPr id="48" name="Shape 43"/>
          <p:cNvSpPr/>
          <p:nvPr/>
        </p:nvSpPr>
        <p:spPr>
          <a:xfrm>
            <a:off x="6278728" y="4782312"/>
            <a:ext cx="5410048" cy="676656"/>
          </a:xfrm>
          <a:prstGeom prst="roundRect">
            <a:avLst>
              <a:gd name="adj" fmla="val 16216"/>
            </a:avLst>
          </a:prstGeom>
          <a:solidFill>
            <a:srgbClr val="FFFFFF"/>
          </a:solidFill>
          <a:ln w="12700">
            <a:solidFill>
              <a:srgbClr val="D8E2F3"/>
            </a:solidFill>
            <a:prstDash val="solid"/>
          </a:ln>
        </p:spPr>
      </p:sp>
      <p:sp>
        <p:nvSpPr>
          <p:cNvPr id="49" name="Shape 44"/>
          <p:cNvSpPr/>
          <p:nvPr/>
        </p:nvSpPr>
        <p:spPr>
          <a:xfrm>
            <a:off x="6443320" y="4919472"/>
            <a:ext cx="402336" cy="402336"/>
          </a:xfrm>
          <a:prstGeom prst="line">
            <a:avLst/>
          </a:prstGeom>
          <a:solidFill>
            <a:srgbClr val="E9F0FE"/>
          </a:solidFill>
          <a:ln/>
        </p:spPr>
      </p:sp>
      <p:sp>
        <p:nvSpPr>
          <p:cNvPr id="50" name="Text 45"/>
          <p:cNvSpPr/>
          <p:nvPr/>
        </p:nvSpPr>
        <p:spPr>
          <a:xfrm>
            <a:off x="6443320" y="4919472"/>
            <a:ext cx="402336" cy="402336"/>
          </a:xfrm>
          <a:prstGeom prst="rect">
            <a:avLst/>
          </a:prstGeom>
          <a:noFill/>
          <a:ln/>
        </p:spPr>
        <p:txBody>
          <a:bodyPr wrap="square" lIns="0" tIns="0" rIns="0" bIns="0" rtlCol="0" anchor="ctr"/>
          <a:lstStyle/>
          <a:p>
            <a:pPr marL="0" indent="0" algn="ctr">
              <a:buNone/>
            </a:pPr>
            <a:r>
              <a:rPr lang="en-US" sz="1400" b="1" dirty="0">
                <a:solidFill>
                  <a:srgbClr val="0F5ED7"/>
                </a:solidFill>
                <a:latin typeface="JetBrains Mono" pitchFamily="34" charset="0"/>
                <a:ea typeface="JetBrains Mono" pitchFamily="34" charset="-122"/>
                <a:cs typeface="JetBrains Mono" pitchFamily="34" charset="-120"/>
              </a:rPr>
              <a:t>10</a:t>
            </a:r>
            <a:endParaRPr lang="en-US" sz="1400" dirty="0"/>
          </a:p>
        </p:txBody>
      </p:sp>
      <p:sp>
        <p:nvSpPr>
          <p:cNvPr id="51" name="Text 46"/>
          <p:cNvSpPr/>
          <p:nvPr/>
        </p:nvSpPr>
        <p:spPr>
          <a:xfrm>
            <a:off x="6991960" y="4782312"/>
            <a:ext cx="4541368" cy="676656"/>
          </a:xfrm>
          <a:prstGeom prst="rect">
            <a:avLst/>
          </a:prstGeom>
          <a:noFill/>
          <a:ln/>
        </p:spPr>
        <p:txBody>
          <a:bodyPr wrap="square" lIns="0" tIns="0" rIns="0" bIns="0" rtlCol="0" anchor="ctr"/>
          <a:lstStyle/>
          <a:p>
            <a:pPr marL="0" indent="0">
              <a:lnSpc>
                <a:spcPct val="110000"/>
              </a:lnSpc>
              <a:buNone/>
            </a:pPr>
            <a:r>
              <a:rPr lang="en-US" sz="1350" b="1" dirty="0">
                <a:solidFill>
                  <a:srgbClr val="102033"/>
                </a:solidFill>
                <a:latin typeface="Poppins" pitchFamily="34" charset="0"/>
                <a:ea typeface="Poppins" pitchFamily="34" charset="-122"/>
                <a:cs typeface="Poppins" pitchFamily="34" charset="-120"/>
              </a:rPr>
              <a:t>Conclusion &amp; perspectives</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02920" y="384048"/>
            <a:ext cx="566928" cy="566928"/>
          </a:xfrm>
          <a:prstGeom prst="roundRect">
            <a:avLst>
              <a:gd name="adj" fmla="val 19355"/>
            </a:avLst>
          </a:prstGeom>
          <a:solidFill>
            <a:srgbClr val="E9F0FE"/>
          </a:solidFill>
          <a:ln/>
        </p:spPr>
      </p:sp>
      <p:pic>
        <p:nvPicPr>
          <p:cNvPr id="3" name="Image 0" descr="/home/claude/icons/handshake.png"/>
          <p:cNvPicPr>
            <a:picLocks noChangeAspect="1"/>
          </p:cNvPicPr>
          <p:nvPr/>
        </p:nvPicPr>
        <p:blipFill>
          <a:blip r:embed="rId4"/>
          <a:stretch>
            <a:fillRect/>
          </a:stretch>
        </p:blipFill>
        <p:spPr>
          <a:xfrm>
            <a:off x="621792" y="502920"/>
            <a:ext cx="329184" cy="329184"/>
          </a:xfrm>
          <a:prstGeom prst="rect">
            <a:avLst/>
          </a:prstGeom>
        </p:spPr>
      </p:pic>
      <p:sp>
        <p:nvSpPr>
          <p:cNvPr id="4" name="Text 1"/>
          <p:cNvSpPr/>
          <p:nvPr/>
        </p:nvSpPr>
        <p:spPr>
          <a:xfrm>
            <a:off x="1252728" y="310896"/>
            <a:ext cx="10436047" cy="457200"/>
          </a:xfrm>
          <a:prstGeom prst="rect">
            <a:avLst/>
          </a:prstGeom>
          <a:noFill/>
          <a:ln/>
        </p:spPr>
        <p:txBody>
          <a:bodyPr wrap="square" lIns="0" tIns="0" rIns="0" bIns="0" rtlCol="0" anchor="b"/>
          <a:lstStyle/>
          <a:p>
            <a:pPr marL="0" indent="0" algn="l">
              <a:buNone/>
            </a:pPr>
            <a:r>
              <a:rPr lang="en-US" sz="2600" b="1" kern="0" spc="-30" dirty="0">
                <a:solidFill>
                  <a:srgbClr val="102033"/>
                </a:solidFill>
                <a:latin typeface="Poppins" pitchFamily="34" charset="0"/>
                <a:ea typeface="Poppins" pitchFamily="34" charset="-122"/>
                <a:cs typeface="Poppins" pitchFamily="34" charset="-120"/>
              </a:rPr>
              <a:t>Remerciements</a:t>
            </a:r>
            <a:endParaRPr lang="en-US" sz="2600" dirty="0"/>
          </a:p>
        </p:txBody>
      </p:sp>
      <p:sp>
        <p:nvSpPr>
          <p:cNvPr id="5" name="Text 2"/>
          <p:cNvSpPr/>
          <p:nvPr/>
        </p:nvSpPr>
        <p:spPr>
          <a:xfrm>
            <a:off x="1252728" y="749808"/>
            <a:ext cx="10436047" cy="292608"/>
          </a:xfrm>
          <a:prstGeom prst="rect">
            <a:avLst/>
          </a:prstGeom>
          <a:noFill/>
          <a:ln/>
        </p:spPr>
        <p:txBody>
          <a:bodyPr wrap="square" lIns="0" tIns="0" rIns="0" bIns="0" rtlCol="0" anchor="t"/>
          <a:lstStyle/>
          <a:p>
            <a:pPr marL="0" indent="0" algn="l">
              <a:buNone/>
            </a:pPr>
            <a:r>
              <a:rPr lang="en-US" sz="1300" dirty="0">
                <a:solidFill>
                  <a:srgbClr val="526579"/>
                </a:solidFill>
                <a:latin typeface="Poppins" pitchFamily="34" charset="0"/>
                <a:ea typeface="Poppins" pitchFamily="34" charset="-122"/>
                <a:cs typeface="Poppins" pitchFamily="34" charset="-120"/>
              </a:rPr>
              <a:t>Groupe Y — Gestion d'un établissement scolaire</a:t>
            </a:r>
            <a:endParaRPr lang="en-US" sz="1300" dirty="0"/>
          </a:p>
        </p:txBody>
      </p:sp>
      <p:sp>
        <p:nvSpPr>
          <p:cNvPr id="6" name="Shape 3"/>
          <p:cNvSpPr/>
          <p:nvPr/>
        </p:nvSpPr>
        <p:spPr>
          <a:xfrm>
            <a:off x="502920" y="1170432"/>
            <a:ext cx="11185855" cy="0"/>
          </a:xfrm>
          <a:prstGeom prst="line">
            <a:avLst/>
          </a:prstGeom>
          <a:noFill/>
          <a:ln w="15875">
            <a:solidFill>
              <a:srgbClr val="D8E2F3"/>
            </a:solidFill>
            <a:prstDash val="solid"/>
          </a:ln>
        </p:spPr>
      </p:sp>
      <p:pic>
        <p:nvPicPr>
          <p:cNvPr id="7" name="Image 1" descr="/home/claude/icons/school.png"/>
          <p:cNvPicPr>
            <a:picLocks noChangeAspect="1"/>
          </p:cNvPicPr>
          <p:nvPr/>
        </p:nvPicPr>
        <p:blipFill>
          <a:blip r:embed="rId5"/>
          <a:stretch>
            <a:fillRect/>
          </a:stretch>
        </p:blipFill>
        <p:spPr>
          <a:xfrm>
            <a:off x="502920" y="6528816"/>
            <a:ext cx="146304" cy="146304"/>
          </a:xfrm>
          <a:prstGeom prst="rect">
            <a:avLst/>
          </a:prstGeom>
        </p:spPr>
      </p:pic>
      <p:sp>
        <p:nvSpPr>
          <p:cNvPr id="8" name="Shape 4"/>
          <p:cNvSpPr/>
          <p:nvPr/>
        </p:nvSpPr>
        <p:spPr>
          <a:xfrm>
            <a:off x="475488" y="6501384"/>
            <a:ext cx="201168" cy="201168"/>
          </a:xfrm>
          <a:prstGeom prst="line">
            <a:avLst/>
          </a:prstGeom>
          <a:solidFill>
            <a:srgbClr val="0F5ED7"/>
          </a:solidFill>
          <a:ln/>
        </p:spPr>
      </p:sp>
      <p:pic>
        <p:nvPicPr>
          <p:cNvPr id="9" name="Image 2" descr="/home/claude/icons/school.png"/>
          <p:cNvPicPr>
            <a:picLocks noChangeAspect="1"/>
          </p:cNvPicPr>
          <p:nvPr/>
        </p:nvPicPr>
        <p:blipFill>
          <a:blip r:embed="rId5"/>
          <a:stretch>
            <a:fillRect/>
          </a:stretch>
        </p:blipFill>
        <p:spPr>
          <a:xfrm>
            <a:off x="516636" y="6533388"/>
            <a:ext cx="137160" cy="137160"/>
          </a:xfrm>
          <a:prstGeom prst="rect">
            <a:avLst/>
          </a:prstGeom>
        </p:spPr>
      </p:pic>
      <p:sp>
        <p:nvSpPr>
          <p:cNvPr id="10" name="Text 5"/>
          <p:cNvSpPr/>
          <p:nvPr/>
        </p:nvSpPr>
        <p:spPr>
          <a:xfrm>
            <a:off x="777240" y="6473952"/>
            <a:ext cx="5943600" cy="274320"/>
          </a:xfrm>
          <a:prstGeom prst="rect">
            <a:avLst/>
          </a:prstGeom>
          <a:noFill/>
          <a:ln/>
        </p:spPr>
        <p:txBody>
          <a:bodyPr wrap="square" lIns="0" tIns="0" rIns="0" bIns="0" rtlCol="0" anchor="ctr"/>
          <a:lstStyle/>
          <a:p>
            <a:pPr marL="0" indent="0">
              <a:buNone/>
            </a:pPr>
            <a:r>
              <a:rPr lang="en-US" sz="950" dirty="0">
                <a:solidFill>
                  <a:srgbClr val="526579"/>
                </a:solidFill>
                <a:latin typeface="Poppins" pitchFamily="34" charset="0"/>
                <a:ea typeface="Poppins" pitchFamily="34" charset="-122"/>
                <a:cs typeface="Poppins" pitchFamily="34" charset="-120"/>
              </a:rPr>
              <a:t>Groupe Y  •  Gestion d'un établissement scolaire</a:t>
            </a:r>
            <a:endParaRPr lang="en-US" sz="950" dirty="0"/>
          </a:p>
        </p:txBody>
      </p:sp>
      <p:sp>
        <p:nvSpPr>
          <p:cNvPr id="11" name="Text 6"/>
          <p:cNvSpPr/>
          <p:nvPr/>
        </p:nvSpPr>
        <p:spPr>
          <a:xfrm>
            <a:off x="10591495" y="6473952"/>
            <a:ext cx="1097280" cy="274320"/>
          </a:xfrm>
          <a:prstGeom prst="rect">
            <a:avLst/>
          </a:prstGeom>
          <a:noFill/>
          <a:ln/>
        </p:spPr>
        <p:txBody>
          <a:bodyPr wrap="square" lIns="0" tIns="0" rIns="0" bIns="0" rtlCol="0" anchor="ctr"/>
          <a:lstStyle/>
          <a:p>
            <a:pPr marL="0" indent="0" algn="r">
              <a:buNone/>
            </a:pPr>
            <a:r>
              <a:rPr lang="en-US" sz="950" dirty="0">
                <a:solidFill>
                  <a:srgbClr val="526579"/>
                </a:solidFill>
                <a:latin typeface="JetBrains Mono" pitchFamily="34" charset="0"/>
                <a:ea typeface="JetBrains Mono" pitchFamily="34" charset="-122"/>
                <a:cs typeface="JetBrains Mono" pitchFamily="34" charset="-120"/>
              </a:rPr>
              <a:t>03</a:t>
            </a:r>
            <a:endParaRPr lang="en-US" sz="950" dirty="0"/>
          </a:p>
        </p:txBody>
      </p:sp>
      <p:sp>
        <p:nvSpPr>
          <p:cNvPr id="12" name="Shape 7"/>
          <p:cNvSpPr/>
          <p:nvPr/>
        </p:nvSpPr>
        <p:spPr>
          <a:xfrm>
            <a:off x="502920" y="1417320"/>
            <a:ext cx="5455768" cy="2148840"/>
          </a:xfrm>
          <a:prstGeom prst="roundRect">
            <a:avLst>
              <a:gd name="adj" fmla="val 5106"/>
            </a:avLst>
          </a:prstGeom>
          <a:solidFill>
            <a:srgbClr val="FFFFFF"/>
          </a:solidFill>
          <a:ln w="12700">
            <a:solidFill>
              <a:srgbClr val="D8E2F3"/>
            </a:solidFill>
            <a:prstDash val="solid"/>
          </a:ln>
          <a:effectLst>
            <a:outerShdw blurRad="127000" dist="38100" dir="5400000" algn="bl" rotWithShape="0">
              <a:srgbClr val="0F5ED7">
                <a:alpha val="12000"/>
              </a:srgbClr>
            </a:outerShdw>
          </a:effectLst>
        </p:spPr>
      </p:sp>
      <p:sp>
        <p:nvSpPr>
          <p:cNvPr id="13" name="Text 8"/>
          <p:cNvSpPr/>
          <p:nvPr/>
        </p:nvSpPr>
        <p:spPr>
          <a:xfrm>
            <a:off x="777240" y="1645920"/>
            <a:ext cx="1097280" cy="502920"/>
          </a:xfrm>
          <a:prstGeom prst="rect">
            <a:avLst/>
          </a:prstGeom>
          <a:noFill/>
          <a:ln/>
        </p:spPr>
        <p:txBody>
          <a:bodyPr wrap="square" lIns="0" tIns="0" rIns="0" bIns="0" rtlCol="0" anchor="ctr"/>
          <a:lstStyle/>
          <a:p>
            <a:pPr marL="0" indent="0">
              <a:buNone/>
            </a:pPr>
            <a:r>
              <a:rPr lang="en-US" sz="2400" b="1" dirty="0">
                <a:solidFill>
                  <a:srgbClr val="C7D8F5"/>
                </a:solidFill>
                <a:latin typeface="JetBrains Mono" pitchFamily="34" charset="0"/>
                <a:ea typeface="JetBrains Mono" pitchFamily="34" charset="-122"/>
                <a:cs typeface="JetBrains Mono" pitchFamily="34" charset="-120"/>
              </a:rPr>
              <a:t>01</a:t>
            </a:r>
            <a:endParaRPr lang="en-US" sz="2400" dirty="0"/>
          </a:p>
        </p:txBody>
      </p:sp>
      <p:sp>
        <p:nvSpPr>
          <p:cNvPr id="14" name="Text 9"/>
          <p:cNvSpPr/>
          <p:nvPr/>
        </p:nvSpPr>
        <p:spPr>
          <a:xfrm>
            <a:off x="777240" y="2194560"/>
            <a:ext cx="4907128" cy="502920"/>
          </a:xfrm>
          <a:prstGeom prst="rect">
            <a:avLst/>
          </a:prstGeom>
          <a:noFill/>
          <a:ln/>
        </p:spPr>
        <p:txBody>
          <a:bodyPr wrap="square" lIns="0" tIns="0" rIns="0" bIns="0" rtlCol="0" anchor="ctr"/>
          <a:lstStyle/>
          <a:p>
            <a:pPr marL="0" indent="0">
              <a:lnSpc>
                <a:spcPct val="110000"/>
              </a:lnSpc>
              <a:buNone/>
            </a:pPr>
            <a:r>
              <a:rPr lang="en-US" sz="1700" b="1" dirty="0">
                <a:solidFill>
                  <a:srgbClr val="102033"/>
                </a:solidFill>
                <a:latin typeface="Poppins" pitchFamily="34" charset="0"/>
                <a:ea typeface="Poppins" pitchFamily="34" charset="-122"/>
                <a:cs typeface="Poppins" pitchFamily="34" charset="-120"/>
              </a:rPr>
              <a:t>Notre enseignante</a:t>
            </a:r>
            <a:endParaRPr lang="en-US" sz="1700" dirty="0"/>
          </a:p>
        </p:txBody>
      </p:sp>
      <p:sp>
        <p:nvSpPr>
          <p:cNvPr id="15" name="Text 10"/>
          <p:cNvSpPr/>
          <p:nvPr/>
        </p:nvSpPr>
        <p:spPr>
          <a:xfrm>
            <a:off x="777240" y="2715768"/>
            <a:ext cx="4907128" cy="685800"/>
          </a:xfrm>
          <a:prstGeom prst="rect">
            <a:avLst/>
          </a:prstGeom>
          <a:noFill/>
          <a:ln/>
        </p:spPr>
        <p:txBody>
          <a:bodyPr wrap="square" lIns="0" tIns="0" rIns="0" bIns="0" rtlCol="0" anchor="ctr"/>
          <a:lstStyle/>
          <a:p>
            <a:pPr marL="0" indent="0">
              <a:lnSpc>
                <a:spcPct val="150000"/>
              </a:lnSpc>
              <a:buNone/>
            </a:pPr>
            <a:r>
              <a:rPr lang="en-US" sz="1250" dirty="0">
                <a:solidFill>
                  <a:srgbClr val="526579"/>
                </a:solidFill>
                <a:latin typeface="Poppins" pitchFamily="34" charset="0"/>
                <a:ea typeface="Poppins" pitchFamily="34" charset="-122"/>
                <a:cs typeface="Poppins" pitchFamily="34" charset="-120"/>
              </a:rPr>
              <a:t>Pour son encadrement, ses conseils et son accompagnement essentiel tout au long du projet.</a:t>
            </a:r>
            <a:endParaRPr lang="en-US" sz="1250" dirty="0"/>
          </a:p>
        </p:txBody>
      </p:sp>
      <p:sp>
        <p:nvSpPr>
          <p:cNvPr id="16" name="Shape 11"/>
          <p:cNvSpPr/>
          <p:nvPr/>
        </p:nvSpPr>
        <p:spPr>
          <a:xfrm>
            <a:off x="6233008" y="1417320"/>
            <a:ext cx="5455768" cy="2148840"/>
          </a:xfrm>
          <a:prstGeom prst="roundRect">
            <a:avLst>
              <a:gd name="adj" fmla="val 5106"/>
            </a:avLst>
          </a:prstGeom>
          <a:solidFill>
            <a:srgbClr val="FFFFFF"/>
          </a:solidFill>
          <a:ln w="12700">
            <a:solidFill>
              <a:srgbClr val="D8E2F3"/>
            </a:solidFill>
            <a:prstDash val="solid"/>
          </a:ln>
          <a:effectLst>
            <a:outerShdw blurRad="127000" dist="38100" dir="5400000" algn="bl" rotWithShape="0">
              <a:srgbClr val="0F5ED7">
                <a:alpha val="12000"/>
              </a:srgbClr>
            </a:outerShdw>
          </a:effectLst>
        </p:spPr>
      </p:sp>
      <p:sp>
        <p:nvSpPr>
          <p:cNvPr id="17" name="Text 12"/>
          <p:cNvSpPr/>
          <p:nvPr/>
        </p:nvSpPr>
        <p:spPr>
          <a:xfrm>
            <a:off x="6507328" y="1645920"/>
            <a:ext cx="1097280" cy="502920"/>
          </a:xfrm>
          <a:prstGeom prst="rect">
            <a:avLst/>
          </a:prstGeom>
          <a:noFill/>
          <a:ln/>
        </p:spPr>
        <p:txBody>
          <a:bodyPr wrap="square" lIns="0" tIns="0" rIns="0" bIns="0" rtlCol="0" anchor="ctr"/>
          <a:lstStyle/>
          <a:p>
            <a:pPr marL="0" indent="0">
              <a:buNone/>
            </a:pPr>
            <a:r>
              <a:rPr lang="en-US" sz="2400" b="1" dirty="0">
                <a:solidFill>
                  <a:srgbClr val="C7D8F5"/>
                </a:solidFill>
                <a:latin typeface="JetBrains Mono" pitchFamily="34" charset="0"/>
                <a:ea typeface="JetBrains Mono" pitchFamily="34" charset="-122"/>
                <a:cs typeface="JetBrains Mono" pitchFamily="34" charset="-120"/>
              </a:rPr>
              <a:t>02</a:t>
            </a:r>
            <a:endParaRPr lang="en-US" sz="2400" dirty="0"/>
          </a:p>
        </p:txBody>
      </p:sp>
      <p:sp>
        <p:nvSpPr>
          <p:cNvPr id="18" name="Text 13"/>
          <p:cNvSpPr/>
          <p:nvPr/>
        </p:nvSpPr>
        <p:spPr>
          <a:xfrm>
            <a:off x="6507328" y="2194560"/>
            <a:ext cx="4907128" cy="502920"/>
          </a:xfrm>
          <a:prstGeom prst="rect">
            <a:avLst/>
          </a:prstGeom>
          <a:noFill/>
          <a:ln/>
        </p:spPr>
        <p:txBody>
          <a:bodyPr wrap="square" lIns="0" tIns="0" rIns="0" bIns="0" rtlCol="0" anchor="ctr"/>
          <a:lstStyle/>
          <a:p>
            <a:pPr marL="0" indent="0">
              <a:lnSpc>
                <a:spcPct val="110000"/>
              </a:lnSpc>
              <a:buNone/>
            </a:pPr>
            <a:r>
              <a:rPr lang="en-US" sz="1700" b="1" dirty="0">
                <a:solidFill>
                  <a:srgbClr val="102033"/>
                </a:solidFill>
                <a:latin typeface="Poppins" pitchFamily="34" charset="0"/>
                <a:ea typeface="Poppins" pitchFamily="34" charset="-122"/>
                <a:cs typeface="Poppins" pitchFamily="34" charset="-120"/>
              </a:rPr>
              <a:t>Le corps enseignant</a:t>
            </a:r>
            <a:endParaRPr lang="en-US" sz="1700" dirty="0"/>
          </a:p>
        </p:txBody>
      </p:sp>
      <p:sp>
        <p:nvSpPr>
          <p:cNvPr id="19" name="Text 14"/>
          <p:cNvSpPr/>
          <p:nvPr/>
        </p:nvSpPr>
        <p:spPr>
          <a:xfrm>
            <a:off x="6507328" y="2715768"/>
            <a:ext cx="4907128" cy="685800"/>
          </a:xfrm>
          <a:prstGeom prst="rect">
            <a:avLst/>
          </a:prstGeom>
          <a:noFill/>
          <a:ln/>
        </p:spPr>
        <p:txBody>
          <a:bodyPr wrap="square" lIns="0" tIns="0" rIns="0" bIns="0" rtlCol="0" anchor="ctr"/>
          <a:lstStyle/>
          <a:p>
            <a:pPr marL="0" indent="0">
              <a:lnSpc>
                <a:spcPct val="150000"/>
              </a:lnSpc>
              <a:buNone/>
            </a:pPr>
            <a:r>
              <a:rPr lang="en-US" sz="1250" dirty="0">
                <a:solidFill>
                  <a:srgbClr val="526579"/>
                </a:solidFill>
                <a:latin typeface="Poppins" pitchFamily="34" charset="0"/>
                <a:ea typeface="Poppins" pitchFamily="34" charset="-122"/>
                <a:cs typeface="Poppins" pitchFamily="34" charset="-120"/>
              </a:rPr>
              <a:t>Pour les connaissances et compétences transmises durant cette année de formation.</a:t>
            </a:r>
            <a:endParaRPr lang="en-US" sz="1250" dirty="0"/>
          </a:p>
        </p:txBody>
      </p:sp>
      <p:sp>
        <p:nvSpPr>
          <p:cNvPr id="20" name="Shape 15"/>
          <p:cNvSpPr/>
          <p:nvPr/>
        </p:nvSpPr>
        <p:spPr>
          <a:xfrm>
            <a:off x="502920" y="3840480"/>
            <a:ext cx="5455768" cy="2148840"/>
          </a:xfrm>
          <a:prstGeom prst="roundRect">
            <a:avLst>
              <a:gd name="adj" fmla="val 5106"/>
            </a:avLst>
          </a:prstGeom>
          <a:solidFill>
            <a:srgbClr val="FFFFFF"/>
          </a:solidFill>
          <a:ln w="12700">
            <a:solidFill>
              <a:srgbClr val="D8E2F3"/>
            </a:solidFill>
            <a:prstDash val="solid"/>
          </a:ln>
          <a:effectLst>
            <a:outerShdw blurRad="127000" dist="38100" dir="5400000" algn="bl" rotWithShape="0">
              <a:srgbClr val="0F5ED7">
                <a:alpha val="12000"/>
              </a:srgbClr>
            </a:outerShdw>
          </a:effectLst>
        </p:spPr>
      </p:sp>
      <p:sp>
        <p:nvSpPr>
          <p:cNvPr id="21" name="Text 16"/>
          <p:cNvSpPr/>
          <p:nvPr/>
        </p:nvSpPr>
        <p:spPr>
          <a:xfrm>
            <a:off x="777240" y="4069080"/>
            <a:ext cx="1097280" cy="502920"/>
          </a:xfrm>
          <a:prstGeom prst="rect">
            <a:avLst/>
          </a:prstGeom>
          <a:noFill/>
          <a:ln/>
        </p:spPr>
        <p:txBody>
          <a:bodyPr wrap="square" lIns="0" tIns="0" rIns="0" bIns="0" rtlCol="0" anchor="ctr"/>
          <a:lstStyle/>
          <a:p>
            <a:pPr marL="0" indent="0">
              <a:buNone/>
            </a:pPr>
            <a:r>
              <a:rPr lang="en-US" sz="2400" b="1" dirty="0">
                <a:solidFill>
                  <a:srgbClr val="C7D8F5"/>
                </a:solidFill>
                <a:latin typeface="JetBrains Mono" pitchFamily="34" charset="0"/>
                <a:ea typeface="JetBrains Mono" pitchFamily="34" charset="-122"/>
                <a:cs typeface="JetBrains Mono" pitchFamily="34" charset="-120"/>
              </a:rPr>
              <a:t>03</a:t>
            </a:r>
            <a:endParaRPr lang="en-US" sz="2400" dirty="0"/>
          </a:p>
        </p:txBody>
      </p:sp>
      <p:sp>
        <p:nvSpPr>
          <p:cNvPr id="22" name="Text 17"/>
          <p:cNvSpPr/>
          <p:nvPr/>
        </p:nvSpPr>
        <p:spPr>
          <a:xfrm>
            <a:off x="777240" y="4617720"/>
            <a:ext cx="4907128" cy="502920"/>
          </a:xfrm>
          <a:prstGeom prst="rect">
            <a:avLst/>
          </a:prstGeom>
          <a:noFill/>
          <a:ln/>
        </p:spPr>
        <p:txBody>
          <a:bodyPr wrap="square" lIns="0" tIns="0" rIns="0" bIns="0" rtlCol="0" anchor="ctr"/>
          <a:lstStyle/>
          <a:p>
            <a:pPr marL="0" indent="0">
              <a:lnSpc>
                <a:spcPct val="110000"/>
              </a:lnSpc>
              <a:buNone/>
            </a:pPr>
            <a:r>
              <a:rPr lang="en-US" sz="1700" b="1" dirty="0">
                <a:solidFill>
                  <a:srgbClr val="102033"/>
                </a:solidFill>
                <a:latin typeface="Poppins" pitchFamily="34" charset="0"/>
                <a:ea typeface="Poppins" pitchFamily="34" charset="-122"/>
                <a:cs typeface="Poppins" pitchFamily="34" charset="-120"/>
              </a:rPr>
              <a:t>Les 11 membres du groupe</a:t>
            </a:r>
            <a:endParaRPr lang="en-US" sz="1700" dirty="0"/>
          </a:p>
        </p:txBody>
      </p:sp>
      <p:sp>
        <p:nvSpPr>
          <p:cNvPr id="23" name="Text 18"/>
          <p:cNvSpPr/>
          <p:nvPr/>
        </p:nvSpPr>
        <p:spPr>
          <a:xfrm>
            <a:off x="777240" y="5138928"/>
            <a:ext cx="4907128" cy="685800"/>
          </a:xfrm>
          <a:prstGeom prst="rect">
            <a:avLst/>
          </a:prstGeom>
          <a:noFill/>
          <a:ln/>
        </p:spPr>
        <p:txBody>
          <a:bodyPr wrap="square" lIns="0" tIns="0" rIns="0" bIns="0" rtlCol="0" anchor="ctr"/>
          <a:lstStyle/>
          <a:p>
            <a:pPr marL="0" indent="0">
              <a:lnSpc>
                <a:spcPct val="150000"/>
              </a:lnSpc>
              <a:buNone/>
            </a:pPr>
            <a:r>
              <a:rPr lang="en-US" sz="1250" dirty="0">
                <a:solidFill>
                  <a:srgbClr val="526579"/>
                </a:solidFill>
                <a:latin typeface="Poppins" pitchFamily="34" charset="0"/>
                <a:ea typeface="Poppins" pitchFamily="34" charset="-122"/>
                <a:cs typeface="Poppins" pitchFamily="34" charset="-120"/>
              </a:rPr>
              <a:t>Pour leur engagement, leur esprit d'équipe et leur collaboration constante.</a:t>
            </a:r>
            <a:endParaRPr lang="en-US" sz="1250" dirty="0"/>
          </a:p>
        </p:txBody>
      </p:sp>
      <p:sp>
        <p:nvSpPr>
          <p:cNvPr id="24" name="Shape 19"/>
          <p:cNvSpPr/>
          <p:nvPr/>
        </p:nvSpPr>
        <p:spPr>
          <a:xfrm>
            <a:off x="6233008" y="3840480"/>
            <a:ext cx="5455768" cy="2148840"/>
          </a:xfrm>
          <a:prstGeom prst="roundRect">
            <a:avLst>
              <a:gd name="adj" fmla="val 5106"/>
            </a:avLst>
          </a:prstGeom>
          <a:solidFill>
            <a:srgbClr val="FFFFFF"/>
          </a:solidFill>
          <a:ln w="12700">
            <a:solidFill>
              <a:srgbClr val="D8E2F3"/>
            </a:solidFill>
            <a:prstDash val="solid"/>
          </a:ln>
          <a:effectLst>
            <a:outerShdw blurRad="127000" dist="38100" dir="5400000" algn="bl" rotWithShape="0">
              <a:srgbClr val="0F5ED7">
                <a:alpha val="12000"/>
              </a:srgbClr>
            </a:outerShdw>
          </a:effectLst>
        </p:spPr>
      </p:sp>
      <p:sp>
        <p:nvSpPr>
          <p:cNvPr id="25" name="Text 20"/>
          <p:cNvSpPr/>
          <p:nvPr/>
        </p:nvSpPr>
        <p:spPr>
          <a:xfrm>
            <a:off x="6507328" y="4069080"/>
            <a:ext cx="1097280" cy="502920"/>
          </a:xfrm>
          <a:prstGeom prst="rect">
            <a:avLst/>
          </a:prstGeom>
          <a:noFill/>
          <a:ln/>
        </p:spPr>
        <p:txBody>
          <a:bodyPr wrap="square" lIns="0" tIns="0" rIns="0" bIns="0" rtlCol="0" anchor="ctr"/>
          <a:lstStyle/>
          <a:p>
            <a:pPr marL="0" indent="0">
              <a:buNone/>
            </a:pPr>
            <a:r>
              <a:rPr lang="en-US" sz="2400" b="1" dirty="0">
                <a:solidFill>
                  <a:srgbClr val="C7D8F5"/>
                </a:solidFill>
                <a:latin typeface="JetBrains Mono" pitchFamily="34" charset="0"/>
                <a:ea typeface="JetBrains Mono" pitchFamily="34" charset="-122"/>
                <a:cs typeface="JetBrains Mono" pitchFamily="34" charset="-120"/>
              </a:rPr>
              <a:t>04</a:t>
            </a:r>
            <a:endParaRPr lang="en-US" sz="2400" dirty="0"/>
          </a:p>
        </p:txBody>
      </p:sp>
      <p:sp>
        <p:nvSpPr>
          <p:cNvPr id="26" name="Text 21"/>
          <p:cNvSpPr/>
          <p:nvPr/>
        </p:nvSpPr>
        <p:spPr>
          <a:xfrm>
            <a:off x="6507328" y="4617720"/>
            <a:ext cx="4907128" cy="502920"/>
          </a:xfrm>
          <a:prstGeom prst="rect">
            <a:avLst/>
          </a:prstGeom>
          <a:noFill/>
          <a:ln/>
        </p:spPr>
        <p:txBody>
          <a:bodyPr wrap="square" lIns="0" tIns="0" rIns="0" bIns="0" rtlCol="0" anchor="ctr"/>
          <a:lstStyle/>
          <a:p>
            <a:pPr marL="0" indent="0">
              <a:lnSpc>
                <a:spcPct val="110000"/>
              </a:lnSpc>
              <a:buNone/>
            </a:pPr>
            <a:r>
              <a:rPr lang="en-US" sz="1700" b="1" dirty="0">
                <a:solidFill>
                  <a:srgbClr val="102033"/>
                </a:solidFill>
                <a:latin typeface="Poppins" pitchFamily="34" charset="0"/>
                <a:ea typeface="Poppins" pitchFamily="34" charset="-122"/>
                <a:cs typeface="Poppins" pitchFamily="34" charset="-120"/>
              </a:rPr>
              <a:t>Toutes les personnes ayant contribué</a:t>
            </a:r>
            <a:endParaRPr lang="en-US" sz="1700" dirty="0"/>
          </a:p>
        </p:txBody>
      </p:sp>
      <p:sp>
        <p:nvSpPr>
          <p:cNvPr id="27" name="Text 22"/>
          <p:cNvSpPr/>
          <p:nvPr/>
        </p:nvSpPr>
        <p:spPr>
          <a:xfrm>
            <a:off x="6507328" y="5138928"/>
            <a:ext cx="4907128" cy="685800"/>
          </a:xfrm>
          <a:prstGeom prst="rect">
            <a:avLst/>
          </a:prstGeom>
          <a:noFill/>
          <a:ln/>
        </p:spPr>
        <p:txBody>
          <a:bodyPr wrap="square" lIns="0" tIns="0" rIns="0" bIns="0" rtlCol="0" anchor="ctr"/>
          <a:lstStyle/>
          <a:p>
            <a:pPr marL="0" indent="0">
              <a:lnSpc>
                <a:spcPct val="150000"/>
              </a:lnSpc>
              <a:buNone/>
            </a:pPr>
            <a:r>
              <a:rPr lang="en-US" sz="1250" dirty="0">
                <a:solidFill>
                  <a:srgbClr val="526579"/>
                </a:solidFill>
                <a:latin typeface="Poppins" pitchFamily="34" charset="0"/>
                <a:ea typeface="Poppins" pitchFamily="34" charset="-122"/>
                <a:cs typeface="Poppins" pitchFamily="34" charset="-120"/>
              </a:rPr>
              <a:t>De près ou de loin, à la réussite de ce travail.</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02920" y="384048"/>
            <a:ext cx="566928" cy="566928"/>
          </a:xfrm>
          <a:prstGeom prst="roundRect">
            <a:avLst>
              <a:gd name="adj" fmla="val 19355"/>
            </a:avLst>
          </a:prstGeom>
          <a:solidFill>
            <a:srgbClr val="E9F0FE"/>
          </a:solidFill>
          <a:ln/>
        </p:spPr>
      </p:sp>
      <p:pic>
        <p:nvPicPr>
          <p:cNvPr id="3" name="Image 0" descr="/home/claude/icons/triangleExclamation.png"/>
          <p:cNvPicPr>
            <a:picLocks noChangeAspect="1"/>
          </p:cNvPicPr>
          <p:nvPr/>
        </p:nvPicPr>
        <p:blipFill>
          <a:blip r:embed="rId4"/>
          <a:stretch>
            <a:fillRect/>
          </a:stretch>
        </p:blipFill>
        <p:spPr>
          <a:xfrm>
            <a:off x="621792" y="502920"/>
            <a:ext cx="329184" cy="329184"/>
          </a:xfrm>
          <a:prstGeom prst="rect">
            <a:avLst/>
          </a:prstGeom>
        </p:spPr>
      </p:pic>
      <p:sp>
        <p:nvSpPr>
          <p:cNvPr id="4" name="Text 1"/>
          <p:cNvSpPr/>
          <p:nvPr/>
        </p:nvSpPr>
        <p:spPr>
          <a:xfrm>
            <a:off x="1252728" y="310896"/>
            <a:ext cx="10436047" cy="457200"/>
          </a:xfrm>
          <a:prstGeom prst="rect">
            <a:avLst/>
          </a:prstGeom>
          <a:noFill/>
          <a:ln/>
        </p:spPr>
        <p:txBody>
          <a:bodyPr wrap="square" lIns="0" tIns="0" rIns="0" bIns="0" rtlCol="0" anchor="b"/>
          <a:lstStyle/>
          <a:p>
            <a:pPr marL="0" indent="0" algn="l">
              <a:buNone/>
            </a:pPr>
            <a:r>
              <a:rPr lang="en-US" sz="2600" b="1" kern="0" spc="-30" dirty="0">
                <a:solidFill>
                  <a:srgbClr val="102033"/>
                </a:solidFill>
                <a:latin typeface="Poppins" pitchFamily="34" charset="0"/>
                <a:ea typeface="Poppins" pitchFamily="34" charset="-122"/>
                <a:cs typeface="Poppins" pitchFamily="34" charset="-120"/>
              </a:rPr>
              <a:t>Contexte &amp; problématique</a:t>
            </a:r>
            <a:endParaRPr lang="en-US" sz="2600" dirty="0"/>
          </a:p>
        </p:txBody>
      </p:sp>
      <p:sp>
        <p:nvSpPr>
          <p:cNvPr id="5" name="Text 2"/>
          <p:cNvSpPr/>
          <p:nvPr/>
        </p:nvSpPr>
        <p:spPr>
          <a:xfrm>
            <a:off x="1252728" y="749808"/>
            <a:ext cx="10436047" cy="292608"/>
          </a:xfrm>
          <a:prstGeom prst="rect">
            <a:avLst/>
          </a:prstGeom>
          <a:noFill/>
          <a:ln/>
        </p:spPr>
        <p:txBody>
          <a:bodyPr wrap="square" lIns="0" tIns="0" rIns="0" bIns="0" rtlCol="0" anchor="t"/>
          <a:lstStyle/>
          <a:p>
            <a:pPr marL="0" indent="0" algn="l">
              <a:buNone/>
            </a:pPr>
            <a:r>
              <a:rPr lang="en-US" sz="1300" dirty="0">
                <a:solidFill>
                  <a:srgbClr val="526579"/>
                </a:solidFill>
                <a:latin typeface="Poppins" pitchFamily="34" charset="0"/>
                <a:ea typeface="Poppins" pitchFamily="34" charset="-122"/>
                <a:cs typeface="Poppins" pitchFamily="34" charset="-120"/>
              </a:rPr>
              <a:t>Une gestion scolaire encore largement basée sur le papier</a:t>
            </a:r>
            <a:endParaRPr lang="en-US" sz="1300" dirty="0"/>
          </a:p>
        </p:txBody>
      </p:sp>
      <p:sp>
        <p:nvSpPr>
          <p:cNvPr id="6" name="Shape 3"/>
          <p:cNvSpPr/>
          <p:nvPr/>
        </p:nvSpPr>
        <p:spPr>
          <a:xfrm>
            <a:off x="502920" y="1170432"/>
            <a:ext cx="11185855" cy="0"/>
          </a:xfrm>
          <a:prstGeom prst="line">
            <a:avLst/>
          </a:prstGeom>
          <a:noFill/>
          <a:ln w="15875">
            <a:solidFill>
              <a:srgbClr val="D8E2F3"/>
            </a:solidFill>
            <a:prstDash val="solid"/>
          </a:ln>
        </p:spPr>
      </p:sp>
      <p:pic>
        <p:nvPicPr>
          <p:cNvPr id="7" name="Image 1" descr="/home/claude/icons/school.png"/>
          <p:cNvPicPr>
            <a:picLocks noChangeAspect="1"/>
          </p:cNvPicPr>
          <p:nvPr/>
        </p:nvPicPr>
        <p:blipFill>
          <a:blip r:embed="rId5"/>
          <a:stretch>
            <a:fillRect/>
          </a:stretch>
        </p:blipFill>
        <p:spPr>
          <a:xfrm>
            <a:off x="502920" y="6528816"/>
            <a:ext cx="146304" cy="146304"/>
          </a:xfrm>
          <a:prstGeom prst="rect">
            <a:avLst/>
          </a:prstGeom>
        </p:spPr>
      </p:pic>
      <p:sp>
        <p:nvSpPr>
          <p:cNvPr id="8" name="Shape 4"/>
          <p:cNvSpPr/>
          <p:nvPr/>
        </p:nvSpPr>
        <p:spPr>
          <a:xfrm>
            <a:off x="475488" y="6501384"/>
            <a:ext cx="201168" cy="201168"/>
          </a:xfrm>
          <a:prstGeom prst="line">
            <a:avLst/>
          </a:prstGeom>
          <a:solidFill>
            <a:srgbClr val="0F5ED7"/>
          </a:solidFill>
          <a:ln/>
        </p:spPr>
      </p:sp>
      <p:pic>
        <p:nvPicPr>
          <p:cNvPr id="9" name="Image 2" descr="/home/claude/icons/school.png"/>
          <p:cNvPicPr>
            <a:picLocks noChangeAspect="1"/>
          </p:cNvPicPr>
          <p:nvPr/>
        </p:nvPicPr>
        <p:blipFill>
          <a:blip r:embed="rId5"/>
          <a:stretch>
            <a:fillRect/>
          </a:stretch>
        </p:blipFill>
        <p:spPr>
          <a:xfrm>
            <a:off x="516636" y="6533388"/>
            <a:ext cx="137160" cy="137160"/>
          </a:xfrm>
          <a:prstGeom prst="rect">
            <a:avLst/>
          </a:prstGeom>
        </p:spPr>
      </p:pic>
      <p:sp>
        <p:nvSpPr>
          <p:cNvPr id="10" name="Text 5"/>
          <p:cNvSpPr/>
          <p:nvPr/>
        </p:nvSpPr>
        <p:spPr>
          <a:xfrm>
            <a:off x="777240" y="6473952"/>
            <a:ext cx="5943600" cy="274320"/>
          </a:xfrm>
          <a:prstGeom prst="rect">
            <a:avLst/>
          </a:prstGeom>
          <a:noFill/>
          <a:ln/>
        </p:spPr>
        <p:txBody>
          <a:bodyPr wrap="square" lIns="0" tIns="0" rIns="0" bIns="0" rtlCol="0" anchor="ctr"/>
          <a:lstStyle/>
          <a:p>
            <a:pPr marL="0" indent="0">
              <a:buNone/>
            </a:pPr>
            <a:r>
              <a:rPr lang="en-US" sz="950" dirty="0">
                <a:solidFill>
                  <a:srgbClr val="526579"/>
                </a:solidFill>
                <a:latin typeface="Poppins" pitchFamily="34" charset="0"/>
                <a:ea typeface="Poppins" pitchFamily="34" charset="-122"/>
                <a:cs typeface="Poppins" pitchFamily="34" charset="-120"/>
              </a:rPr>
              <a:t>Groupe Y  •  Gestion d'un établissement scolaire</a:t>
            </a:r>
            <a:endParaRPr lang="en-US" sz="950" dirty="0"/>
          </a:p>
        </p:txBody>
      </p:sp>
      <p:sp>
        <p:nvSpPr>
          <p:cNvPr id="11" name="Text 6"/>
          <p:cNvSpPr/>
          <p:nvPr/>
        </p:nvSpPr>
        <p:spPr>
          <a:xfrm>
            <a:off x="10591495" y="6473952"/>
            <a:ext cx="1097280" cy="274320"/>
          </a:xfrm>
          <a:prstGeom prst="rect">
            <a:avLst/>
          </a:prstGeom>
          <a:noFill/>
          <a:ln/>
        </p:spPr>
        <p:txBody>
          <a:bodyPr wrap="square" lIns="0" tIns="0" rIns="0" bIns="0" rtlCol="0" anchor="ctr"/>
          <a:lstStyle/>
          <a:p>
            <a:pPr marL="0" indent="0" algn="r">
              <a:buNone/>
            </a:pPr>
            <a:r>
              <a:rPr lang="en-US" sz="950" dirty="0">
                <a:solidFill>
                  <a:srgbClr val="526579"/>
                </a:solidFill>
                <a:latin typeface="JetBrains Mono" pitchFamily="34" charset="0"/>
                <a:ea typeface="JetBrains Mono" pitchFamily="34" charset="-122"/>
                <a:cs typeface="JetBrains Mono" pitchFamily="34" charset="-120"/>
              </a:rPr>
              <a:t>04</a:t>
            </a:r>
            <a:endParaRPr lang="en-US" sz="950" dirty="0"/>
          </a:p>
        </p:txBody>
      </p:sp>
      <p:sp>
        <p:nvSpPr>
          <p:cNvPr id="12" name="Shape 7"/>
          <p:cNvSpPr/>
          <p:nvPr/>
        </p:nvSpPr>
        <p:spPr>
          <a:xfrm>
            <a:off x="502920" y="1417320"/>
            <a:ext cx="5455768" cy="4617720"/>
          </a:xfrm>
          <a:prstGeom prst="roundRect">
            <a:avLst>
              <a:gd name="adj" fmla="val 2376"/>
            </a:avLst>
          </a:prstGeom>
          <a:solidFill>
            <a:srgbClr val="EAF1FE"/>
          </a:solidFill>
          <a:ln w="12700">
            <a:solidFill>
              <a:srgbClr val="CFE0FA"/>
            </a:solidFill>
            <a:prstDash val="solid"/>
          </a:ln>
        </p:spPr>
      </p:sp>
      <p:sp>
        <p:nvSpPr>
          <p:cNvPr id="13" name="Text 8"/>
          <p:cNvSpPr/>
          <p:nvPr/>
        </p:nvSpPr>
        <p:spPr>
          <a:xfrm>
            <a:off x="777240" y="1673352"/>
            <a:ext cx="4907128" cy="274320"/>
          </a:xfrm>
          <a:prstGeom prst="rect">
            <a:avLst/>
          </a:prstGeom>
          <a:noFill/>
          <a:ln/>
        </p:spPr>
        <p:txBody>
          <a:bodyPr wrap="square" lIns="0" tIns="0" rIns="0" bIns="0" rtlCol="0" anchor="ctr"/>
          <a:lstStyle/>
          <a:p>
            <a:pPr marL="0" indent="0">
              <a:buNone/>
            </a:pPr>
            <a:r>
              <a:rPr lang="en-US" sz="1200" b="1" kern="0" spc="100" dirty="0">
                <a:solidFill>
                  <a:srgbClr val="0F5ED7"/>
                </a:solidFill>
                <a:latin typeface="Poppins" pitchFamily="34" charset="0"/>
                <a:ea typeface="Poppins" pitchFamily="34" charset="-122"/>
                <a:cs typeface="Poppins" pitchFamily="34" charset="-120"/>
              </a:rPr>
              <a:t>CONSTAT</a:t>
            </a:r>
            <a:endParaRPr lang="en-US" sz="1200" dirty="0"/>
          </a:p>
        </p:txBody>
      </p:sp>
      <p:sp>
        <p:nvSpPr>
          <p:cNvPr id="14" name="Text 9"/>
          <p:cNvSpPr/>
          <p:nvPr/>
        </p:nvSpPr>
        <p:spPr>
          <a:xfrm>
            <a:off x="777240" y="2075688"/>
            <a:ext cx="4907128" cy="3703320"/>
          </a:xfrm>
          <a:prstGeom prst="rect">
            <a:avLst/>
          </a:prstGeom>
          <a:noFill/>
          <a:ln/>
        </p:spPr>
        <p:txBody>
          <a:bodyPr wrap="square" lIns="0" tIns="0" rIns="0" bIns="0" rtlCol="0" anchor="ctr"/>
          <a:lstStyle/>
          <a:p>
            <a:pPr marL="0" indent="0">
              <a:lnSpc>
                <a:spcPct val="145000"/>
              </a:lnSpc>
              <a:spcAft>
                <a:spcPts val="1400"/>
              </a:spcAft>
              <a:buNone/>
            </a:pPr>
            <a:r>
              <a:rPr lang="en-US" sz="1350" dirty="0">
                <a:solidFill>
                  <a:srgbClr val="102033"/>
                </a:solidFill>
                <a:latin typeface="Poppins" pitchFamily="34" charset="0"/>
                <a:ea typeface="Poppins" pitchFamily="34" charset="-122"/>
                <a:cs typeface="Poppins" pitchFamily="34" charset="-120"/>
              </a:rPr>
              <a:t>À Madagascar, la gestion des établissements scolaires repose encore majoritairement sur des supports papier et des fichiers non centralisés.</a:t>
            </a:r>
            <a:endParaRPr lang="en-US" sz="1350" dirty="0"/>
          </a:p>
          <a:p>
            <a:pPr marL="0" indent="0">
              <a:lnSpc>
                <a:spcPct val="145000"/>
              </a:lnSpc>
              <a:spcAft>
                <a:spcPts val="1400"/>
              </a:spcAft>
              <a:buNone/>
            </a:pPr>
            <a:r>
              <a:rPr lang="en-US" sz="1350" dirty="0">
                <a:solidFill>
                  <a:srgbClr val="102033"/>
                </a:solidFill>
                <a:latin typeface="Poppins" pitchFamily="34" charset="0"/>
                <a:ea typeface="Poppins" pitchFamily="34" charset="-122"/>
                <a:cs typeface="Poppins" pitchFamily="34" charset="-120"/>
              </a:rPr>
              <a:t>Élèves, notes, absences et paiements sont enregistrés manuellement, dans des registres dispersés.</a:t>
            </a:r>
            <a:endParaRPr lang="en-US" sz="1350" dirty="0"/>
          </a:p>
          <a:p>
            <a:pPr marL="0" indent="0">
              <a:lnSpc>
                <a:spcPct val="145000"/>
              </a:lnSpc>
              <a:buNone/>
            </a:pPr>
            <a:r>
              <a:rPr lang="en-US" sz="1350" dirty="0">
                <a:solidFill>
                  <a:srgbClr val="102033"/>
                </a:solidFill>
                <a:latin typeface="Poppins" pitchFamily="34" charset="0"/>
                <a:ea typeface="Poppins" pitchFamily="34" charset="-122"/>
                <a:cs typeface="Poppins" pitchFamily="34" charset="-120"/>
              </a:rPr>
              <a:t>Communication limitée entre direction, enseignants, élèves et parents.</a:t>
            </a:r>
            <a:endParaRPr lang="en-US" sz="1350" dirty="0"/>
          </a:p>
        </p:txBody>
      </p:sp>
      <p:sp>
        <p:nvSpPr>
          <p:cNvPr id="15" name="Shape 10"/>
          <p:cNvSpPr/>
          <p:nvPr/>
        </p:nvSpPr>
        <p:spPr>
          <a:xfrm>
            <a:off x="6233008" y="1417320"/>
            <a:ext cx="5455768" cy="4617720"/>
          </a:xfrm>
          <a:prstGeom prst="roundRect">
            <a:avLst>
              <a:gd name="adj" fmla="val 2376"/>
            </a:avLst>
          </a:prstGeom>
          <a:solidFill>
            <a:srgbClr val="FFFFFF"/>
          </a:solidFill>
          <a:ln w="12700">
            <a:solidFill>
              <a:srgbClr val="D8E2F3"/>
            </a:solidFill>
            <a:prstDash val="solid"/>
          </a:ln>
          <a:effectLst>
            <a:outerShdw blurRad="127000" dist="38100" dir="5400000" algn="bl" rotWithShape="0">
              <a:srgbClr val="0F5ED7">
                <a:alpha val="12000"/>
              </a:srgbClr>
            </a:outerShdw>
          </a:effectLst>
        </p:spPr>
      </p:sp>
      <p:sp>
        <p:nvSpPr>
          <p:cNvPr id="16" name="Text 11"/>
          <p:cNvSpPr/>
          <p:nvPr/>
        </p:nvSpPr>
        <p:spPr>
          <a:xfrm>
            <a:off x="6507328" y="1673352"/>
            <a:ext cx="4907128" cy="274320"/>
          </a:xfrm>
          <a:prstGeom prst="rect">
            <a:avLst/>
          </a:prstGeom>
          <a:noFill/>
          <a:ln/>
        </p:spPr>
        <p:txBody>
          <a:bodyPr wrap="square" lIns="0" tIns="0" rIns="0" bIns="0" rtlCol="0" anchor="ctr"/>
          <a:lstStyle/>
          <a:p>
            <a:pPr marL="0" indent="0">
              <a:buNone/>
            </a:pPr>
            <a:r>
              <a:rPr lang="en-US" sz="1200" b="1" kern="0" spc="100" dirty="0">
                <a:solidFill>
                  <a:srgbClr val="2563EB"/>
                </a:solidFill>
                <a:latin typeface="Poppins" pitchFamily="34" charset="0"/>
                <a:ea typeface="Poppins" pitchFamily="34" charset="-122"/>
                <a:cs typeface="Poppins" pitchFamily="34" charset="-120"/>
              </a:rPr>
              <a:t>CONSÉQUENCES OBSERVÉES</a:t>
            </a:r>
            <a:endParaRPr lang="en-US" sz="1200" dirty="0"/>
          </a:p>
        </p:txBody>
      </p:sp>
      <p:sp>
        <p:nvSpPr>
          <p:cNvPr id="17" name="Shape 12"/>
          <p:cNvSpPr/>
          <p:nvPr/>
        </p:nvSpPr>
        <p:spPr>
          <a:xfrm>
            <a:off x="6507328" y="2103120"/>
            <a:ext cx="219456" cy="219456"/>
          </a:xfrm>
          <a:prstGeom prst="line">
            <a:avLst/>
          </a:prstGeom>
          <a:solidFill>
            <a:srgbClr val="FDEDEA"/>
          </a:solidFill>
          <a:ln/>
        </p:spPr>
      </p:sp>
      <p:sp>
        <p:nvSpPr>
          <p:cNvPr id="18" name="Text 13"/>
          <p:cNvSpPr/>
          <p:nvPr/>
        </p:nvSpPr>
        <p:spPr>
          <a:xfrm>
            <a:off x="6507328" y="2103120"/>
            <a:ext cx="219456" cy="219456"/>
          </a:xfrm>
          <a:prstGeom prst="rect">
            <a:avLst/>
          </a:prstGeom>
          <a:noFill/>
          <a:ln/>
        </p:spPr>
        <p:txBody>
          <a:bodyPr wrap="square" lIns="0" tIns="0" rIns="0" bIns="0" rtlCol="0" anchor="ctr"/>
          <a:lstStyle/>
          <a:p>
            <a:pPr marL="0" indent="0" algn="ctr">
              <a:buNone/>
            </a:pPr>
            <a:r>
              <a:rPr lang="en-US" sz="1200" b="1" dirty="0">
                <a:solidFill>
                  <a:srgbClr val="D0433A"/>
                </a:solidFill>
                <a:latin typeface="Poppins" pitchFamily="34" charset="0"/>
                <a:ea typeface="Poppins" pitchFamily="34" charset="-122"/>
                <a:cs typeface="Poppins" pitchFamily="34" charset="-120"/>
              </a:rPr>
              <a:t>!</a:t>
            </a:r>
            <a:endParaRPr lang="en-US" sz="1200" dirty="0"/>
          </a:p>
        </p:txBody>
      </p:sp>
      <p:sp>
        <p:nvSpPr>
          <p:cNvPr id="19" name="Text 14"/>
          <p:cNvSpPr/>
          <p:nvPr/>
        </p:nvSpPr>
        <p:spPr>
          <a:xfrm>
            <a:off x="6854800" y="2075688"/>
            <a:ext cx="4541368" cy="740664"/>
          </a:xfrm>
          <a:prstGeom prst="rect">
            <a:avLst/>
          </a:prstGeom>
          <a:noFill/>
          <a:ln/>
        </p:spPr>
        <p:txBody>
          <a:bodyPr wrap="square" lIns="0" tIns="0" rIns="0" bIns="0" rtlCol="0" anchor="ctr"/>
          <a:lstStyle/>
          <a:p>
            <a:pPr marL="0" indent="0">
              <a:lnSpc>
                <a:spcPct val="125000"/>
              </a:lnSpc>
              <a:buNone/>
            </a:pPr>
            <a:r>
              <a:rPr lang="en-US" sz="1200" dirty="0">
                <a:solidFill>
                  <a:srgbClr val="102033"/>
                </a:solidFill>
                <a:latin typeface="Poppins" pitchFamily="34" charset="0"/>
                <a:ea typeface="Poppins" pitchFamily="34" charset="-122"/>
                <a:cs typeface="Poppins" pitchFamily="34" charset="-120"/>
              </a:rPr>
              <a:t>Risques de perte, détérioration ou duplication des données</a:t>
            </a:r>
            <a:endParaRPr lang="en-US" sz="1200" dirty="0"/>
          </a:p>
        </p:txBody>
      </p:sp>
      <p:sp>
        <p:nvSpPr>
          <p:cNvPr id="20" name="Shape 15"/>
          <p:cNvSpPr/>
          <p:nvPr/>
        </p:nvSpPr>
        <p:spPr>
          <a:xfrm>
            <a:off x="6507328" y="2843784"/>
            <a:ext cx="219456" cy="219456"/>
          </a:xfrm>
          <a:prstGeom prst="line">
            <a:avLst/>
          </a:prstGeom>
          <a:solidFill>
            <a:srgbClr val="FDEDEA"/>
          </a:solidFill>
          <a:ln/>
        </p:spPr>
      </p:sp>
      <p:sp>
        <p:nvSpPr>
          <p:cNvPr id="21" name="Text 16"/>
          <p:cNvSpPr/>
          <p:nvPr/>
        </p:nvSpPr>
        <p:spPr>
          <a:xfrm>
            <a:off x="6507328" y="2843784"/>
            <a:ext cx="219456" cy="219456"/>
          </a:xfrm>
          <a:prstGeom prst="rect">
            <a:avLst/>
          </a:prstGeom>
          <a:noFill/>
          <a:ln/>
        </p:spPr>
        <p:txBody>
          <a:bodyPr wrap="square" lIns="0" tIns="0" rIns="0" bIns="0" rtlCol="0" anchor="ctr"/>
          <a:lstStyle/>
          <a:p>
            <a:pPr marL="0" indent="0" algn="ctr">
              <a:buNone/>
            </a:pPr>
            <a:r>
              <a:rPr lang="en-US" sz="1200" b="1" dirty="0">
                <a:solidFill>
                  <a:srgbClr val="D0433A"/>
                </a:solidFill>
                <a:latin typeface="Poppins" pitchFamily="34" charset="0"/>
                <a:ea typeface="Poppins" pitchFamily="34" charset="-122"/>
                <a:cs typeface="Poppins" pitchFamily="34" charset="-120"/>
              </a:rPr>
              <a:t>!</a:t>
            </a:r>
            <a:endParaRPr lang="en-US" sz="1200" dirty="0"/>
          </a:p>
        </p:txBody>
      </p:sp>
      <p:sp>
        <p:nvSpPr>
          <p:cNvPr id="22" name="Text 17"/>
          <p:cNvSpPr/>
          <p:nvPr/>
        </p:nvSpPr>
        <p:spPr>
          <a:xfrm>
            <a:off x="6854800" y="2816352"/>
            <a:ext cx="4541368" cy="740664"/>
          </a:xfrm>
          <a:prstGeom prst="rect">
            <a:avLst/>
          </a:prstGeom>
          <a:noFill/>
          <a:ln/>
        </p:spPr>
        <p:txBody>
          <a:bodyPr wrap="square" lIns="0" tIns="0" rIns="0" bIns="0" rtlCol="0" anchor="ctr"/>
          <a:lstStyle/>
          <a:p>
            <a:pPr marL="0" indent="0">
              <a:lnSpc>
                <a:spcPct val="125000"/>
              </a:lnSpc>
              <a:buNone/>
            </a:pPr>
            <a:r>
              <a:rPr lang="en-US" sz="1200" dirty="0">
                <a:solidFill>
                  <a:srgbClr val="102033"/>
                </a:solidFill>
                <a:latin typeface="Poppins" pitchFamily="34" charset="0"/>
                <a:ea typeface="Poppins" pitchFamily="34" charset="-122"/>
                <a:cs typeface="Poppins" pitchFamily="34" charset="-120"/>
              </a:rPr>
              <a:t>Erreurs de saisie fréquentes qui nuisent à la fiabilité</a:t>
            </a:r>
            <a:endParaRPr lang="en-US" sz="1200" dirty="0"/>
          </a:p>
        </p:txBody>
      </p:sp>
      <p:sp>
        <p:nvSpPr>
          <p:cNvPr id="23" name="Shape 18"/>
          <p:cNvSpPr/>
          <p:nvPr/>
        </p:nvSpPr>
        <p:spPr>
          <a:xfrm>
            <a:off x="6507328" y="3584448"/>
            <a:ext cx="219456" cy="219456"/>
          </a:xfrm>
          <a:prstGeom prst="line">
            <a:avLst/>
          </a:prstGeom>
          <a:solidFill>
            <a:srgbClr val="FDEDEA"/>
          </a:solidFill>
          <a:ln/>
        </p:spPr>
      </p:sp>
      <p:sp>
        <p:nvSpPr>
          <p:cNvPr id="24" name="Text 19"/>
          <p:cNvSpPr/>
          <p:nvPr/>
        </p:nvSpPr>
        <p:spPr>
          <a:xfrm>
            <a:off x="6507328" y="3584448"/>
            <a:ext cx="219456" cy="219456"/>
          </a:xfrm>
          <a:prstGeom prst="rect">
            <a:avLst/>
          </a:prstGeom>
          <a:noFill/>
          <a:ln/>
        </p:spPr>
        <p:txBody>
          <a:bodyPr wrap="square" lIns="0" tIns="0" rIns="0" bIns="0" rtlCol="0" anchor="ctr"/>
          <a:lstStyle/>
          <a:p>
            <a:pPr marL="0" indent="0" algn="ctr">
              <a:buNone/>
            </a:pPr>
            <a:r>
              <a:rPr lang="en-US" sz="1200" b="1" dirty="0">
                <a:solidFill>
                  <a:srgbClr val="D0433A"/>
                </a:solidFill>
                <a:latin typeface="Poppins" pitchFamily="34" charset="0"/>
                <a:ea typeface="Poppins" pitchFamily="34" charset="-122"/>
                <a:cs typeface="Poppins" pitchFamily="34" charset="-120"/>
              </a:rPr>
              <a:t>!</a:t>
            </a:r>
            <a:endParaRPr lang="en-US" sz="1200" dirty="0"/>
          </a:p>
        </p:txBody>
      </p:sp>
      <p:sp>
        <p:nvSpPr>
          <p:cNvPr id="25" name="Text 20"/>
          <p:cNvSpPr/>
          <p:nvPr/>
        </p:nvSpPr>
        <p:spPr>
          <a:xfrm>
            <a:off x="6854800" y="3557016"/>
            <a:ext cx="4541368" cy="740664"/>
          </a:xfrm>
          <a:prstGeom prst="rect">
            <a:avLst/>
          </a:prstGeom>
          <a:noFill/>
          <a:ln/>
        </p:spPr>
        <p:txBody>
          <a:bodyPr wrap="square" lIns="0" tIns="0" rIns="0" bIns="0" rtlCol="0" anchor="ctr"/>
          <a:lstStyle/>
          <a:p>
            <a:pPr marL="0" indent="0">
              <a:lnSpc>
                <a:spcPct val="125000"/>
              </a:lnSpc>
              <a:buNone/>
            </a:pPr>
            <a:r>
              <a:rPr lang="en-US" sz="1200" dirty="0">
                <a:solidFill>
                  <a:srgbClr val="102033"/>
                </a:solidFill>
                <a:latin typeface="Poppins" pitchFamily="34" charset="0"/>
                <a:ea typeface="Poppins" pitchFamily="34" charset="-122"/>
                <a:cs typeface="Poppins" pitchFamily="34" charset="-120"/>
              </a:rPr>
              <a:t>Recherche et consultation lentes et peu efficaces</a:t>
            </a:r>
            <a:endParaRPr lang="en-US" sz="1200" dirty="0"/>
          </a:p>
        </p:txBody>
      </p:sp>
      <p:sp>
        <p:nvSpPr>
          <p:cNvPr id="26" name="Shape 21"/>
          <p:cNvSpPr/>
          <p:nvPr/>
        </p:nvSpPr>
        <p:spPr>
          <a:xfrm>
            <a:off x="6507328" y="4325112"/>
            <a:ext cx="219456" cy="219456"/>
          </a:xfrm>
          <a:prstGeom prst="line">
            <a:avLst/>
          </a:prstGeom>
          <a:solidFill>
            <a:srgbClr val="FDEDEA"/>
          </a:solidFill>
          <a:ln/>
        </p:spPr>
      </p:sp>
      <p:sp>
        <p:nvSpPr>
          <p:cNvPr id="27" name="Text 22"/>
          <p:cNvSpPr/>
          <p:nvPr/>
        </p:nvSpPr>
        <p:spPr>
          <a:xfrm>
            <a:off x="6507328" y="4325112"/>
            <a:ext cx="219456" cy="219456"/>
          </a:xfrm>
          <a:prstGeom prst="rect">
            <a:avLst/>
          </a:prstGeom>
          <a:noFill/>
          <a:ln/>
        </p:spPr>
        <p:txBody>
          <a:bodyPr wrap="square" lIns="0" tIns="0" rIns="0" bIns="0" rtlCol="0" anchor="ctr"/>
          <a:lstStyle/>
          <a:p>
            <a:pPr marL="0" indent="0" algn="ctr">
              <a:buNone/>
            </a:pPr>
            <a:r>
              <a:rPr lang="en-US" sz="1200" b="1" dirty="0">
                <a:solidFill>
                  <a:srgbClr val="D0433A"/>
                </a:solidFill>
                <a:latin typeface="Poppins" pitchFamily="34" charset="0"/>
                <a:ea typeface="Poppins" pitchFamily="34" charset="-122"/>
                <a:cs typeface="Poppins" pitchFamily="34" charset="-120"/>
              </a:rPr>
              <a:t>!</a:t>
            </a:r>
            <a:endParaRPr lang="en-US" sz="1200" dirty="0"/>
          </a:p>
        </p:txBody>
      </p:sp>
      <p:sp>
        <p:nvSpPr>
          <p:cNvPr id="28" name="Text 23"/>
          <p:cNvSpPr/>
          <p:nvPr/>
        </p:nvSpPr>
        <p:spPr>
          <a:xfrm>
            <a:off x="6854800" y="4297680"/>
            <a:ext cx="4541368" cy="740664"/>
          </a:xfrm>
          <a:prstGeom prst="rect">
            <a:avLst/>
          </a:prstGeom>
          <a:noFill/>
          <a:ln/>
        </p:spPr>
        <p:txBody>
          <a:bodyPr wrap="square" lIns="0" tIns="0" rIns="0" bIns="0" rtlCol="0" anchor="ctr"/>
          <a:lstStyle/>
          <a:p>
            <a:pPr marL="0" indent="0">
              <a:lnSpc>
                <a:spcPct val="125000"/>
              </a:lnSpc>
              <a:buNone/>
            </a:pPr>
            <a:r>
              <a:rPr lang="en-US" sz="1200" dirty="0">
                <a:solidFill>
                  <a:srgbClr val="102033"/>
                </a:solidFill>
                <a:latin typeface="Poppins" pitchFamily="34" charset="0"/>
                <a:ea typeface="Poppins" pitchFamily="34" charset="-122"/>
                <a:cs typeface="Poppins" pitchFamily="34" charset="-120"/>
              </a:rPr>
              <a:t>Retards dans la prise de décision, faute de communication instantanée</a:t>
            </a:r>
            <a:endParaRPr lang="en-US" sz="1200" dirty="0"/>
          </a:p>
        </p:txBody>
      </p:sp>
      <p:sp>
        <p:nvSpPr>
          <p:cNvPr id="29" name="Shape 24"/>
          <p:cNvSpPr/>
          <p:nvPr/>
        </p:nvSpPr>
        <p:spPr>
          <a:xfrm>
            <a:off x="6507328" y="5065776"/>
            <a:ext cx="219456" cy="219456"/>
          </a:xfrm>
          <a:prstGeom prst="line">
            <a:avLst/>
          </a:prstGeom>
          <a:solidFill>
            <a:srgbClr val="FDEDEA"/>
          </a:solidFill>
          <a:ln/>
        </p:spPr>
      </p:sp>
      <p:sp>
        <p:nvSpPr>
          <p:cNvPr id="30" name="Text 25"/>
          <p:cNvSpPr/>
          <p:nvPr/>
        </p:nvSpPr>
        <p:spPr>
          <a:xfrm>
            <a:off x="6507328" y="5065776"/>
            <a:ext cx="219456" cy="219456"/>
          </a:xfrm>
          <a:prstGeom prst="rect">
            <a:avLst/>
          </a:prstGeom>
          <a:noFill/>
          <a:ln/>
        </p:spPr>
        <p:txBody>
          <a:bodyPr wrap="square" lIns="0" tIns="0" rIns="0" bIns="0" rtlCol="0" anchor="ctr"/>
          <a:lstStyle/>
          <a:p>
            <a:pPr marL="0" indent="0" algn="ctr">
              <a:buNone/>
            </a:pPr>
            <a:r>
              <a:rPr lang="en-US" sz="1200" b="1" dirty="0">
                <a:solidFill>
                  <a:srgbClr val="D0433A"/>
                </a:solidFill>
                <a:latin typeface="Poppins" pitchFamily="34" charset="0"/>
                <a:ea typeface="Poppins" pitchFamily="34" charset="-122"/>
                <a:cs typeface="Poppins" pitchFamily="34" charset="-120"/>
              </a:rPr>
              <a:t>!</a:t>
            </a:r>
            <a:endParaRPr lang="en-US" sz="1200" dirty="0"/>
          </a:p>
        </p:txBody>
      </p:sp>
      <p:sp>
        <p:nvSpPr>
          <p:cNvPr id="31" name="Text 26"/>
          <p:cNvSpPr/>
          <p:nvPr/>
        </p:nvSpPr>
        <p:spPr>
          <a:xfrm>
            <a:off x="6854800" y="5038344"/>
            <a:ext cx="4541368" cy="740664"/>
          </a:xfrm>
          <a:prstGeom prst="rect">
            <a:avLst/>
          </a:prstGeom>
          <a:noFill/>
          <a:ln/>
        </p:spPr>
        <p:txBody>
          <a:bodyPr wrap="square" lIns="0" tIns="0" rIns="0" bIns="0" rtlCol="0" anchor="ctr"/>
          <a:lstStyle/>
          <a:p>
            <a:pPr marL="0" indent="0">
              <a:lnSpc>
                <a:spcPct val="125000"/>
              </a:lnSpc>
              <a:buNone/>
            </a:pPr>
            <a:r>
              <a:rPr lang="en-US" sz="1200" dirty="0">
                <a:solidFill>
                  <a:srgbClr val="102033"/>
                </a:solidFill>
                <a:latin typeface="Poppins" pitchFamily="34" charset="0"/>
                <a:ea typeface="Poppins" pitchFamily="34" charset="-122"/>
                <a:cs typeface="Poppins" pitchFamily="34" charset="-120"/>
              </a:rPr>
              <a:t>Suivi financier difficile à contrôler et à tracer</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02920" y="384048"/>
            <a:ext cx="566928" cy="566928"/>
          </a:xfrm>
          <a:prstGeom prst="roundRect">
            <a:avLst>
              <a:gd name="adj" fmla="val 19355"/>
            </a:avLst>
          </a:prstGeom>
          <a:solidFill>
            <a:srgbClr val="E9F0FE"/>
          </a:solidFill>
          <a:ln/>
        </p:spPr>
      </p:sp>
      <p:pic>
        <p:nvPicPr>
          <p:cNvPr id="3" name="Image 0" descr="/home/claude/icons/bullseye.png"/>
          <p:cNvPicPr>
            <a:picLocks noChangeAspect="1"/>
          </p:cNvPicPr>
          <p:nvPr/>
        </p:nvPicPr>
        <p:blipFill>
          <a:blip r:embed="rId4"/>
          <a:stretch>
            <a:fillRect/>
          </a:stretch>
        </p:blipFill>
        <p:spPr>
          <a:xfrm>
            <a:off x="621792" y="502920"/>
            <a:ext cx="329184" cy="329184"/>
          </a:xfrm>
          <a:prstGeom prst="rect">
            <a:avLst/>
          </a:prstGeom>
        </p:spPr>
      </p:pic>
      <p:sp>
        <p:nvSpPr>
          <p:cNvPr id="4" name="Text 1"/>
          <p:cNvSpPr/>
          <p:nvPr/>
        </p:nvSpPr>
        <p:spPr>
          <a:xfrm>
            <a:off x="1252728" y="310896"/>
            <a:ext cx="10436047" cy="457200"/>
          </a:xfrm>
          <a:prstGeom prst="rect">
            <a:avLst/>
          </a:prstGeom>
          <a:noFill/>
          <a:ln/>
        </p:spPr>
        <p:txBody>
          <a:bodyPr wrap="square" lIns="0" tIns="0" rIns="0" bIns="0" rtlCol="0" anchor="b"/>
          <a:lstStyle/>
          <a:p>
            <a:pPr marL="0" indent="0" algn="l">
              <a:buNone/>
            </a:pPr>
            <a:r>
              <a:rPr lang="en-US" sz="2600" b="1" kern="0" spc="-30" dirty="0">
                <a:solidFill>
                  <a:srgbClr val="102033"/>
                </a:solidFill>
                <a:latin typeface="Poppins" pitchFamily="34" charset="0"/>
                <a:ea typeface="Poppins" pitchFamily="34" charset="-122"/>
                <a:cs typeface="Poppins" pitchFamily="34" charset="-120"/>
              </a:rPr>
              <a:t>Objectifs du projet</a:t>
            </a:r>
            <a:endParaRPr lang="en-US" sz="2600" dirty="0"/>
          </a:p>
        </p:txBody>
      </p:sp>
      <p:sp>
        <p:nvSpPr>
          <p:cNvPr id="5" name="Text 2"/>
          <p:cNvSpPr/>
          <p:nvPr/>
        </p:nvSpPr>
        <p:spPr>
          <a:xfrm>
            <a:off x="1252728" y="749808"/>
            <a:ext cx="10436047" cy="292608"/>
          </a:xfrm>
          <a:prstGeom prst="rect">
            <a:avLst/>
          </a:prstGeom>
          <a:noFill/>
          <a:ln/>
        </p:spPr>
        <p:txBody>
          <a:bodyPr wrap="square" lIns="0" tIns="0" rIns="0" bIns="0" rtlCol="0" anchor="t"/>
          <a:lstStyle/>
          <a:p>
            <a:pPr marL="0" indent="0" algn="l">
              <a:buNone/>
            </a:pPr>
            <a:r>
              <a:rPr lang="en-US" sz="1300" dirty="0">
                <a:solidFill>
                  <a:srgbClr val="526579"/>
                </a:solidFill>
                <a:latin typeface="Poppins" pitchFamily="34" charset="0"/>
                <a:ea typeface="Poppins" pitchFamily="34" charset="-122"/>
                <a:cs typeface="Poppins" pitchFamily="34" charset="-120"/>
              </a:rPr>
              <a:t>Passer d'une organisation fragmentée à un système centralisé</a:t>
            </a:r>
            <a:endParaRPr lang="en-US" sz="1300" dirty="0"/>
          </a:p>
        </p:txBody>
      </p:sp>
      <p:sp>
        <p:nvSpPr>
          <p:cNvPr id="6" name="Shape 3"/>
          <p:cNvSpPr/>
          <p:nvPr/>
        </p:nvSpPr>
        <p:spPr>
          <a:xfrm>
            <a:off x="502920" y="1170432"/>
            <a:ext cx="11185855" cy="0"/>
          </a:xfrm>
          <a:prstGeom prst="line">
            <a:avLst/>
          </a:prstGeom>
          <a:noFill/>
          <a:ln w="15875">
            <a:solidFill>
              <a:srgbClr val="D8E2F3"/>
            </a:solidFill>
            <a:prstDash val="solid"/>
          </a:ln>
        </p:spPr>
      </p:sp>
      <p:pic>
        <p:nvPicPr>
          <p:cNvPr id="7" name="Image 1" descr="/home/claude/icons/school.png"/>
          <p:cNvPicPr>
            <a:picLocks noChangeAspect="1"/>
          </p:cNvPicPr>
          <p:nvPr/>
        </p:nvPicPr>
        <p:blipFill>
          <a:blip r:embed="rId5"/>
          <a:stretch>
            <a:fillRect/>
          </a:stretch>
        </p:blipFill>
        <p:spPr>
          <a:xfrm>
            <a:off x="502920" y="6528816"/>
            <a:ext cx="146304" cy="146304"/>
          </a:xfrm>
          <a:prstGeom prst="rect">
            <a:avLst/>
          </a:prstGeom>
        </p:spPr>
      </p:pic>
      <p:sp>
        <p:nvSpPr>
          <p:cNvPr id="8" name="Shape 4"/>
          <p:cNvSpPr/>
          <p:nvPr/>
        </p:nvSpPr>
        <p:spPr>
          <a:xfrm>
            <a:off x="475488" y="6501384"/>
            <a:ext cx="201168" cy="201168"/>
          </a:xfrm>
          <a:prstGeom prst="line">
            <a:avLst/>
          </a:prstGeom>
          <a:solidFill>
            <a:srgbClr val="0F5ED7"/>
          </a:solidFill>
          <a:ln/>
        </p:spPr>
      </p:sp>
      <p:pic>
        <p:nvPicPr>
          <p:cNvPr id="9" name="Image 2" descr="/home/claude/icons/school.png"/>
          <p:cNvPicPr>
            <a:picLocks noChangeAspect="1"/>
          </p:cNvPicPr>
          <p:nvPr/>
        </p:nvPicPr>
        <p:blipFill>
          <a:blip r:embed="rId5"/>
          <a:stretch>
            <a:fillRect/>
          </a:stretch>
        </p:blipFill>
        <p:spPr>
          <a:xfrm>
            <a:off x="516636" y="6533388"/>
            <a:ext cx="137160" cy="137160"/>
          </a:xfrm>
          <a:prstGeom prst="rect">
            <a:avLst/>
          </a:prstGeom>
        </p:spPr>
      </p:pic>
      <p:sp>
        <p:nvSpPr>
          <p:cNvPr id="10" name="Text 5"/>
          <p:cNvSpPr/>
          <p:nvPr/>
        </p:nvSpPr>
        <p:spPr>
          <a:xfrm>
            <a:off x="777240" y="6473952"/>
            <a:ext cx="5943600" cy="274320"/>
          </a:xfrm>
          <a:prstGeom prst="rect">
            <a:avLst/>
          </a:prstGeom>
          <a:noFill/>
          <a:ln/>
        </p:spPr>
        <p:txBody>
          <a:bodyPr wrap="square" lIns="0" tIns="0" rIns="0" bIns="0" rtlCol="0" anchor="ctr"/>
          <a:lstStyle/>
          <a:p>
            <a:pPr marL="0" indent="0">
              <a:buNone/>
            </a:pPr>
            <a:r>
              <a:rPr lang="en-US" sz="950" dirty="0">
                <a:solidFill>
                  <a:srgbClr val="526579"/>
                </a:solidFill>
                <a:latin typeface="Poppins" pitchFamily="34" charset="0"/>
                <a:ea typeface="Poppins" pitchFamily="34" charset="-122"/>
                <a:cs typeface="Poppins" pitchFamily="34" charset="-120"/>
              </a:rPr>
              <a:t>Groupe Y  •  Gestion d'un établissement scolaire</a:t>
            </a:r>
            <a:endParaRPr lang="en-US" sz="950" dirty="0"/>
          </a:p>
        </p:txBody>
      </p:sp>
      <p:sp>
        <p:nvSpPr>
          <p:cNvPr id="11" name="Text 6"/>
          <p:cNvSpPr/>
          <p:nvPr/>
        </p:nvSpPr>
        <p:spPr>
          <a:xfrm>
            <a:off x="10591495" y="6473952"/>
            <a:ext cx="1097280" cy="274320"/>
          </a:xfrm>
          <a:prstGeom prst="rect">
            <a:avLst/>
          </a:prstGeom>
          <a:noFill/>
          <a:ln/>
        </p:spPr>
        <p:txBody>
          <a:bodyPr wrap="square" lIns="0" tIns="0" rIns="0" bIns="0" rtlCol="0" anchor="ctr"/>
          <a:lstStyle/>
          <a:p>
            <a:pPr marL="0" indent="0" algn="r">
              <a:buNone/>
            </a:pPr>
            <a:r>
              <a:rPr lang="en-US" sz="950" dirty="0">
                <a:solidFill>
                  <a:srgbClr val="526579"/>
                </a:solidFill>
                <a:latin typeface="JetBrains Mono" pitchFamily="34" charset="0"/>
                <a:ea typeface="JetBrains Mono" pitchFamily="34" charset="-122"/>
                <a:cs typeface="JetBrains Mono" pitchFamily="34" charset="-120"/>
              </a:rPr>
              <a:t>05</a:t>
            </a:r>
            <a:endParaRPr lang="en-US" sz="950" dirty="0"/>
          </a:p>
        </p:txBody>
      </p:sp>
      <p:sp>
        <p:nvSpPr>
          <p:cNvPr id="12" name="Shape 7"/>
          <p:cNvSpPr/>
          <p:nvPr/>
        </p:nvSpPr>
        <p:spPr>
          <a:xfrm>
            <a:off x="502920" y="1463040"/>
            <a:ext cx="11185855" cy="896112"/>
          </a:xfrm>
          <a:prstGeom prst="roundRect">
            <a:avLst>
              <a:gd name="adj" fmla="val 12245"/>
            </a:avLst>
          </a:prstGeom>
          <a:solidFill>
            <a:srgbClr val="FFFFFF"/>
          </a:solidFill>
          <a:ln w="12700">
            <a:solidFill>
              <a:srgbClr val="D8E2F3"/>
            </a:solidFill>
            <a:prstDash val="solid"/>
          </a:ln>
        </p:spPr>
      </p:sp>
      <p:sp>
        <p:nvSpPr>
          <p:cNvPr id="13" name="Shape 8"/>
          <p:cNvSpPr/>
          <p:nvPr/>
        </p:nvSpPr>
        <p:spPr>
          <a:xfrm>
            <a:off x="704088" y="1655064"/>
            <a:ext cx="512064" cy="512064"/>
          </a:xfrm>
          <a:prstGeom prst="roundRect">
            <a:avLst>
              <a:gd name="adj" fmla="val 21429"/>
            </a:avLst>
          </a:prstGeom>
          <a:solidFill>
            <a:srgbClr val="0F5ED7"/>
          </a:solidFill>
          <a:ln/>
        </p:spPr>
      </p:sp>
      <p:sp>
        <p:nvSpPr>
          <p:cNvPr id="14" name="Text 9"/>
          <p:cNvSpPr/>
          <p:nvPr/>
        </p:nvSpPr>
        <p:spPr>
          <a:xfrm>
            <a:off x="704088" y="1655064"/>
            <a:ext cx="512064" cy="512064"/>
          </a:xfrm>
          <a:prstGeom prst="rect">
            <a:avLst/>
          </a:prstGeom>
          <a:noFill/>
          <a:ln/>
        </p:spPr>
        <p:txBody>
          <a:bodyPr wrap="square" lIns="0" tIns="0" rIns="0" bIns="0" rtlCol="0" anchor="ctr"/>
          <a:lstStyle/>
          <a:p>
            <a:pPr marL="0" indent="0" algn="ctr">
              <a:buNone/>
            </a:pPr>
            <a:r>
              <a:rPr lang="en-US" sz="2000" b="1" dirty="0">
                <a:solidFill>
                  <a:srgbClr val="FFFFFF"/>
                </a:solidFill>
                <a:latin typeface="JetBrains Mono" pitchFamily="34" charset="0"/>
                <a:ea typeface="JetBrains Mono" pitchFamily="34" charset="-122"/>
                <a:cs typeface="JetBrains Mono" pitchFamily="34" charset="-120"/>
              </a:rPr>
              <a:t>1</a:t>
            </a:r>
            <a:endParaRPr lang="en-US" sz="2000" dirty="0"/>
          </a:p>
        </p:txBody>
      </p:sp>
      <p:sp>
        <p:nvSpPr>
          <p:cNvPr id="15" name="Text 10"/>
          <p:cNvSpPr/>
          <p:nvPr/>
        </p:nvSpPr>
        <p:spPr>
          <a:xfrm>
            <a:off x="1463040" y="1463040"/>
            <a:ext cx="9951415" cy="896112"/>
          </a:xfrm>
          <a:prstGeom prst="rect">
            <a:avLst/>
          </a:prstGeom>
          <a:noFill/>
          <a:ln/>
        </p:spPr>
        <p:txBody>
          <a:bodyPr wrap="square" lIns="0" tIns="0" rIns="0" bIns="0" rtlCol="0" anchor="ctr"/>
          <a:lstStyle/>
          <a:p>
            <a:pPr marL="0" indent="0">
              <a:lnSpc>
                <a:spcPct val="130000"/>
              </a:lnSpc>
              <a:buNone/>
            </a:pPr>
            <a:r>
              <a:rPr lang="en-US" sz="1450" dirty="0">
                <a:solidFill>
                  <a:srgbClr val="102033"/>
                </a:solidFill>
                <a:latin typeface="Poppins" pitchFamily="34" charset="0"/>
                <a:ea typeface="Poppins" pitchFamily="34" charset="-122"/>
                <a:cs typeface="Poppins" pitchFamily="34" charset="-120"/>
              </a:rPr>
              <a:t>Optimiser la gestion administrative globale : inscriptions, emplois du temps, notes, absences, sanctions</a:t>
            </a:r>
            <a:endParaRPr lang="en-US" sz="1450" dirty="0"/>
          </a:p>
        </p:txBody>
      </p:sp>
      <p:sp>
        <p:nvSpPr>
          <p:cNvPr id="16" name="Shape 11"/>
          <p:cNvSpPr/>
          <p:nvPr/>
        </p:nvSpPr>
        <p:spPr>
          <a:xfrm>
            <a:off x="502920" y="2468880"/>
            <a:ext cx="11185855" cy="896112"/>
          </a:xfrm>
          <a:prstGeom prst="roundRect">
            <a:avLst>
              <a:gd name="adj" fmla="val 12245"/>
            </a:avLst>
          </a:prstGeom>
          <a:solidFill>
            <a:srgbClr val="FFFFFF"/>
          </a:solidFill>
          <a:ln w="12700">
            <a:solidFill>
              <a:srgbClr val="D8E2F3"/>
            </a:solidFill>
            <a:prstDash val="solid"/>
          </a:ln>
        </p:spPr>
      </p:sp>
      <p:sp>
        <p:nvSpPr>
          <p:cNvPr id="17" name="Shape 12"/>
          <p:cNvSpPr/>
          <p:nvPr/>
        </p:nvSpPr>
        <p:spPr>
          <a:xfrm>
            <a:off x="704088" y="2660904"/>
            <a:ext cx="512064" cy="512064"/>
          </a:xfrm>
          <a:prstGeom prst="roundRect">
            <a:avLst>
              <a:gd name="adj" fmla="val 21429"/>
            </a:avLst>
          </a:prstGeom>
          <a:solidFill>
            <a:srgbClr val="0F5ED7"/>
          </a:solidFill>
          <a:ln/>
        </p:spPr>
      </p:sp>
      <p:sp>
        <p:nvSpPr>
          <p:cNvPr id="18" name="Text 13"/>
          <p:cNvSpPr/>
          <p:nvPr/>
        </p:nvSpPr>
        <p:spPr>
          <a:xfrm>
            <a:off x="704088" y="2660904"/>
            <a:ext cx="512064" cy="512064"/>
          </a:xfrm>
          <a:prstGeom prst="rect">
            <a:avLst/>
          </a:prstGeom>
          <a:noFill/>
          <a:ln/>
        </p:spPr>
        <p:txBody>
          <a:bodyPr wrap="square" lIns="0" tIns="0" rIns="0" bIns="0" rtlCol="0" anchor="ctr"/>
          <a:lstStyle/>
          <a:p>
            <a:pPr marL="0" indent="0" algn="ctr">
              <a:buNone/>
            </a:pPr>
            <a:r>
              <a:rPr lang="en-US" sz="2000" b="1" dirty="0">
                <a:solidFill>
                  <a:srgbClr val="FFFFFF"/>
                </a:solidFill>
                <a:latin typeface="JetBrains Mono" pitchFamily="34" charset="0"/>
                <a:ea typeface="JetBrains Mono" pitchFamily="34" charset="-122"/>
                <a:cs typeface="JetBrains Mono" pitchFamily="34" charset="-120"/>
              </a:rPr>
              <a:t>2</a:t>
            </a:r>
            <a:endParaRPr lang="en-US" sz="2000" dirty="0"/>
          </a:p>
        </p:txBody>
      </p:sp>
      <p:sp>
        <p:nvSpPr>
          <p:cNvPr id="19" name="Text 14"/>
          <p:cNvSpPr/>
          <p:nvPr/>
        </p:nvSpPr>
        <p:spPr>
          <a:xfrm>
            <a:off x="1463040" y="2468880"/>
            <a:ext cx="9951415" cy="896112"/>
          </a:xfrm>
          <a:prstGeom prst="rect">
            <a:avLst/>
          </a:prstGeom>
          <a:noFill/>
          <a:ln/>
        </p:spPr>
        <p:txBody>
          <a:bodyPr wrap="square" lIns="0" tIns="0" rIns="0" bIns="0" rtlCol="0" anchor="ctr"/>
          <a:lstStyle/>
          <a:p>
            <a:pPr marL="0" indent="0">
              <a:lnSpc>
                <a:spcPct val="130000"/>
              </a:lnSpc>
              <a:buNone/>
            </a:pPr>
            <a:r>
              <a:rPr lang="en-US" sz="1450" dirty="0">
                <a:solidFill>
                  <a:srgbClr val="102033"/>
                </a:solidFill>
                <a:latin typeface="Poppins" pitchFamily="34" charset="0"/>
                <a:ea typeface="Poppins" pitchFamily="34" charset="-122"/>
                <a:cs typeface="Poppins" pitchFamily="34" charset="-120"/>
              </a:rPr>
              <a:t>Améliorer l'organisation interne de l'établissement</a:t>
            </a:r>
            <a:endParaRPr lang="en-US" sz="1450" dirty="0"/>
          </a:p>
        </p:txBody>
      </p:sp>
      <p:sp>
        <p:nvSpPr>
          <p:cNvPr id="20" name="Shape 15"/>
          <p:cNvSpPr/>
          <p:nvPr/>
        </p:nvSpPr>
        <p:spPr>
          <a:xfrm>
            <a:off x="502920" y="3474720"/>
            <a:ext cx="11185855" cy="896112"/>
          </a:xfrm>
          <a:prstGeom prst="roundRect">
            <a:avLst>
              <a:gd name="adj" fmla="val 12245"/>
            </a:avLst>
          </a:prstGeom>
          <a:solidFill>
            <a:srgbClr val="FFFFFF"/>
          </a:solidFill>
          <a:ln w="12700">
            <a:solidFill>
              <a:srgbClr val="D8E2F3"/>
            </a:solidFill>
            <a:prstDash val="solid"/>
          </a:ln>
        </p:spPr>
      </p:sp>
      <p:sp>
        <p:nvSpPr>
          <p:cNvPr id="21" name="Shape 16"/>
          <p:cNvSpPr/>
          <p:nvPr/>
        </p:nvSpPr>
        <p:spPr>
          <a:xfrm>
            <a:off x="704088" y="3666744"/>
            <a:ext cx="512064" cy="512064"/>
          </a:xfrm>
          <a:prstGeom prst="roundRect">
            <a:avLst>
              <a:gd name="adj" fmla="val 21429"/>
            </a:avLst>
          </a:prstGeom>
          <a:solidFill>
            <a:srgbClr val="0F5ED7"/>
          </a:solidFill>
          <a:ln/>
        </p:spPr>
      </p:sp>
      <p:sp>
        <p:nvSpPr>
          <p:cNvPr id="22" name="Text 17"/>
          <p:cNvSpPr/>
          <p:nvPr/>
        </p:nvSpPr>
        <p:spPr>
          <a:xfrm>
            <a:off x="704088" y="3666744"/>
            <a:ext cx="512064" cy="512064"/>
          </a:xfrm>
          <a:prstGeom prst="rect">
            <a:avLst/>
          </a:prstGeom>
          <a:noFill/>
          <a:ln/>
        </p:spPr>
        <p:txBody>
          <a:bodyPr wrap="square" lIns="0" tIns="0" rIns="0" bIns="0" rtlCol="0" anchor="ctr"/>
          <a:lstStyle/>
          <a:p>
            <a:pPr marL="0" indent="0" algn="ctr">
              <a:buNone/>
            </a:pPr>
            <a:r>
              <a:rPr lang="en-US" sz="2000" b="1" dirty="0">
                <a:solidFill>
                  <a:srgbClr val="FFFFFF"/>
                </a:solidFill>
                <a:latin typeface="JetBrains Mono" pitchFamily="34" charset="0"/>
                <a:ea typeface="JetBrains Mono" pitchFamily="34" charset="-122"/>
                <a:cs typeface="JetBrains Mono" pitchFamily="34" charset="-120"/>
              </a:rPr>
              <a:t>3</a:t>
            </a:r>
            <a:endParaRPr lang="en-US" sz="2000" dirty="0"/>
          </a:p>
        </p:txBody>
      </p:sp>
      <p:sp>
        <p:nvSpPr>
          <p:cNvPr id="23" name="Text 18"/>
          <p:cNvSpPr/>
          <p:nvPr/>
        </p:nvSpPr>
        <p:spPr>
          <a:xfrm>
            <a:off x="1463040" y="3474720"/>
            <a:ext cx="9951415" cy="896112"/>
          </a:xfrm>
          <a:prstGeom prst="rect">
            <a:avLst/>
          </a:prstGeom>
          <a:noFill/>
          <a:ln/>
        </p:spPr>
        <p:txBody>
          <a:bodyPr wrap="square" lIns="0" tIns="0" rIns="0" bIns="0" rtlCol="0" anchor="ctr"/>
          <a:lstStyle/>
          <a:p>
            <a:pPr marL="0" indent="0">
              <a:lnSpc>
                <a:spcPct val="130000"/>
              </a:lnSpc>
              <a:buNone/>
            </a:pPr>
            <a:r>
              <a:rPr lang="en-US" sz="1450" dirty="0">
                <a:solidFill>
                  <a:srgbClr val="102033"/>
                </a:solidFill>
                <a:latin typeface="Poppins" pitchFamily="34" charset="0"/>
                <a:ea typeface="Poppins" pitchFamily="34" charset="-122"/>
                <a:cs typeface="Poppins" pitchFamily="34" charset="-120"/>
              </a:rPr>
              <a:t>Fluidifier la communication entre élèves, parents, enseignants, administration et direction</a:t>
            </a:r>
            <a:endParaRPr lang="en-US" sz="1450" dirty="0"/>
          </a:p>
        </p:txBody>
      </p:sp>
      <p:sp>
        <p:nvSpPr>
          <p:cNvPr id="24" name="Shape 19"/>
          <p:cNvSpPr/>
          <p:nvPr/>
        </p:nvSpPr>
        <p:spPr>
          <a:xfrm>
            <a:off x="502920" y="4480560"/>
            <a:ext cx="11185855" cy="896112"/>
          </a:xfrm>
          <a:prstGeom prst="roundRect">
            <a:avLst>
              <a:gd name="adj" fmla="val 12245"/>
            </a:avLst>
          </a:prstGeom>
          <a:solidFill>
            <a:srgbClr val="FFFFFF"/>
          </a:solidFill>
          <a:ln w="12700">
            <a:solidFill>
              <a:srgbClr val="D8E2F3"/>
            </a:solidFill>
            <a:prstDash val="solid"/>
          </a:ln>
        </p:spPr>
      </p:sp>
      <p:sp>
        <p:nvSpPr>
          <p:cNvPr id="25" name="Shape 20"/>
          <p:cNvSpPr/>
          <p:nvPr/>
        </p:nvSpPr>
        <p:spPr>
          <a:xfrm>
            <a:off x="704088" y="4672584"/>
            <a:ext cx="512064" cy="512064"/>
          </a:xfrm>
          <a:prstGeom prst="roundRect">
            <a:avLst>
              <a:gd name="adj" fmla="val 21429"/>
            </a:avLst>
          </a:prstGeom>
          <a:solidFill>
            <a:srgbClr val="0F5ED7"/>
          </a:solidFill>
          <a:ln/>
        </p:spPr>
      </p:sp>
      <p:sp>
        <p:nvSpPr>
          <p:cNvPr id="26" name="Text 21"/>
          <p:cNvSpPr/>
          <p:nvPr/>
        </p:nvSpPr>
        <p:spPr>
          <a:xfrm>
            <a:off x="704088" y="4672584"/>
            <a:ext cx="512064" cy="512064"/>
          </a:xfrm>
          <a:prstGeom prst="rect">
            <a:avLst/>
          </a:prstGeom>
          <a:noFill/>
          <a:ln/>
        </p:spPr>
        <p:txBody>
          <a:bodyPr wrap="square" lIns="0" tIns="0" rIns="0" bIns="0" rtlCol="0" anchor="ctr"/>
          <a:lstStyle/>
          <a:p>
            <a:pPr marL="0" indent="0" algn="ctr">
              <a:buNone/>
            </a:pPr>
            <a:r>
              <a:rPr lang="en-US" sz="2000" b="1" dirty="0">
                <a:solidFill>
                  <a:srgbClr val="FFFFFF"/>
                </a:solidFill>
                <a:latin typeface="JetBrains Mono" pitchFamily="34" charset="0"/>
                <a:ea typeface="JetBrains Mono" pitchFamily="34" charset="-122"/>
                <a:cs typeface="JetBrains Mono" pitchFamily="34" charset="-120"/>
              </a:rPr>
              <a:t>4</a:t>
            </a:r>
            <a:endParaRPr lang="en-US" sz="2000" dirty="0"/>
          </a:p>
        </p:txBody>
      </p:sp>
      <p:sp>
        <p:nvSpPr>
          <p:cNvPr id="27" name="Text 22"/>
          <p:cNvSpPr/>
          <p:nvPr/>
        </p:nvSpPr>
        <p:spPr>
          <a:xfrm>
            <a:off x="1463040" y="4480560"/>
            <a:ext cx="9951415" cy="896112"/>
          </a:xfrm>
          <a:prstGeom prst="rect">
            <a:avLst/>
          </a:prstGeom>
          <a:noFill/>
          <a:ln/>
        </p:spPr>
        <p:txBody>
          <a:bodyPr wrap="square" lIns="0" tIns="0" rIns="0" bIns="0" rtlCol="0" anchor="ctr"/>
          <a:lstStyle/>
          <a:p>
            <a:pPr marL="0" indent="0">
              <a:lnSpc>
                <a:spcPct val="130000"/>
              </a:lnSpc>
              <a:buNone/>
            </a:pPr>
            <a:r>
              <a:rPr lang="en-US" sz="1450" dirty="0">
                <a:solidFill>
                  <a:srgbClr val="102033"/>
                </a:solidFill>
                <a:latin typeface="Poppins" pitchFamily="34" charset="0"/>
                <a:ea typeface="Poppins" pitchFamily="34" charset="-122"/>
                <a:cs typeface="Poppins" pitchFamily="34" charset="-120"/>
              </a:rPr>
              <a:t>Personnaliser le suivi pédagogique et l'accompagnement des élèves</a:t>
            </a:r>
            <a:endParaRPr lang="en-US" sz="1450" dirty="0"/>
          </a:p>
        </p:txBody>
      </p:sp>
      <p:sp>
        <p:nvSpPr>
          <p:cNvPr id="28" name="Shape 23"/>
          <p:cNvSpPr/>
          <p:nvPr/>
        </p:nvSpPr>
        <p:spPr>
          <a:xfrm>
            <a:off x="502920" y="5486400"/>
            <a:ext cx="11185855" cy="896112"/>
          </a:xfrm>
          <a:prstGeom prst="roundRect">
            <a:avLst>
              <a:gd name="adj" fmla="val 12245"/>
            </a:avLst>
          </a:prstGeom>
          <a:solidFill>
            <a:srgbClr val="FFFFFF"/>
          </a:solidFill>
          <a:ln w="12700">
            <a:solidFill>
              <a:srgbClr val="D8E2F3"/>
            </a:solidFill>
            <a:prstDash val="solid"/>
          </a:ln>
        </p:spPr>
      </p:sp>
      <p:sp>
        <p:nvSpPr>
          <p:cNvPr id="29" name="Shape 24"/>
          <p:cNvSpPr/>
          <p:nvPr/>
        </p:nvSpPr>
        <p:spPr>
          <a:xfrm>
            <a:off x="704088" y="5678424"/>
            <a:ext cx="512064" cy="512064"/>
          </a:xfrm>
          <a:prstGeom prst="roundRect">
            <a:avLst>
              <a:gd name="adj" fmla="val 21429"/>
            </a:avLst>
          </a:prstGeom>
          <a:solidFill>
            <a:srgbClr val="0F5ED7"/>
          </a:solidFill>
          <a:ln/>
        </p:spPr>
      </p:sp>
      <p:sp>
        <p:nvSpPr>
          <p:cNvPr id="30" name="Text 25"/>
          <p:cNvSpPr/>
          <p:nvPr/>
        </p:nvSpPr>
        <p:spPr>
          <a:xfrm>
            <a:off x="704088" y="5678424"/>
            <a:ext cx="512064" cy="512064"/>
          </a:xfrm>
          <a:prstGeom prst="rect">
            <a:avLst/>
          </a:prstGeom>
          <a:noFill/>
          <a:ln/>
        </p:spPr>
        <p:txBody>
          <a:bodyPr wrap="square" lIns="0" tIns="0" rIns="0" bIns="0" rtlCol="0" anchor="ctr"/>
          <a:lstStyle/>
          <a:p>
            <a:pPr marL="0" indent="0" algn="ctr">
              <a:buNone/>
            </a:pPr>
            <a:r>
              <a:rPr lang="en-US" sz="2000" b="1" dirty="0">
                <a:solidFill>
                  <a:srgbClr val="FFFFFF"/>
                </a:solidFill>
                <a:latin typeface="JetBrains Mono" pitchFamily="34" charset="0"/>
                <a:ea typeface="JetBrains Mono" pitchFamily="34" charset="-122"/>
                <a:cs typeface="JetBrains Mono" pitchFamily="34" charset="-120"/>
              </a:rPr>
              <a:t>5</a:t>
            </a:r>
            <a:endParaRPr lang="en-US" sz="2000" dirty="0"/>
          </a:p>
        </p:txBody>
      </p:sp>
      <p:sp>
        <p:nvSpPr>
          <p:cNvPr id="31" name="Text 26"/>
          <p:cNvSpPr/>
          <p:nvPr/>
        </p:nvSpPr>
        <p:spPr>
          <a:xfrm>
            <a:off x="1463040" y="5486400"/>
            <a:ext cx="9951415" cy="896112"/>
          </a:xfrm>
          <a:prstGeom prst="rect">
            <a:avLst/>
          </a:prstGeom>
          <a:noFill/>
          <a:ln/>
        </p:spPr>
        <p:txBody>
          <a:bodyPr wrap="square" lIns="0" tIns="0" rIns="0" bIns="0" rtlCol="0" anchor="ctr"/>
          <a:lstStyle/>
          <a:p>
            <a:pPr marL="0" indent="0">
              <a:lnSpc>
                <a:spcPct val="130000"/>
              </a:lnSpc>
              <a:buNone/>
            </a:pPr>
            <a:r>
              <a:rPr lang="en-US" sz="1450" dirty="0">
                <a:solidFill>
                  <a:srgbClr val="102033"/>
                </a:solidFill>
                <a:latin typeface="Poppins" pitchFamily="34" charset="0"/>
                <a:ea typeface="Poppins" pitchFamily="34" charset="-122"/>
                <a:cs typeface="Poppins" pitchFamily="34" charset="-120"/>
              </a:rPr>
              <a:t>Réduire drastiquement les tâches manuelles répétitives et sources d'erreurs</a:t>
            </a:r>
            <a:endParaRPr lang="en-US" sz="14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02920" y="384048"/>
            <a:ext cx="566928" cy="566928"/>
          </a:xfrm>
          <a:prstGeom prst="roundRect">
            <a:avLst>
              <a:gd name="adj" fmla="val 19355"/>
            </a:avLst>
          </a:prstGeom>
          <a:solidFill>
            <a:srgbClr val="E9F0FE"/>
          </a:solidFill>
          <a:ln/>
        </p:spPr>
      </p:sp>
      <p:pic>
        <p:nvPicPr>
          <p:cNvPr id="3" name="Image 0" descr="/home/claude/icons/layerGroup.png"/>
          <p:cNvPicPr>
            <a:picLocks noChangeAspect="1"/>
          </p:cNvPicPr>
          <p:nvPr/>
        </p:nvPicPr>
        <p:blipFill>
          <a:blip r:embed="rId4"/>
          <a:stretch>
            <a:fillRect/>
          </a:stretch>
        </p:blipFill>
        <p:spPr>
          <a:xfrm>
            <a:off x="621792" y="502920"/>
            <a:ext cx="329184" cy="329184"/>
          </a:xfrm>
          <a:prstGeom prst="rect">
            <a:avLst/>
          </a:prstGeom>
        </p:spPr>
      </p:pic>
      <p:sp>
        <p:nvSpPr>
          <p:cNvPr id="4" name="Text 1"/>
          <p:cNvSpPr/>
          <p:nvPr/>
        </p:nvSpPr>
        <p:spPr>
          <a:xfrm>
            <a:off x="1252728" y="310896"/>
            <a:ext cx="10436047" cy="457200"/>
          </a:xfrm>
          <a:prstGeom prst="rect">
            <a:avLst/>
          </a:prstGeom>
          <a:noFill/>
          <a:ln/>
        </p:spPr>
        <p:txBody>
          <a:bodyPr wrap="square" lIns="0" tIns="0" rIns="0" bIns="0" rtlCol="0" anchor="b"/>
          <a:lstStyle/>
          <a:p>
            <a:pPr marL="0" indent="0" algn="l">
              <a:buNone/>
            </a:pPr>
            <a:r>
              <a:rPr lang="en-US" sz="2600" b="1" kern="0" spc="-30" dirty="0">
                <a:solidFill>
                  <a:srgbClr val="102033"/>
                </a:solidFill>
                <a:latin typeface="Poppins" pitchFamily="34" charset="0"/>
                <a:ea typeface="Poppins" pitchFamily="34" charset="-122"/>
                <a:cs typeface="Poppins" pitchFamily="34" charset="-120"/>
              </a:rPr>
              <a:t>Fonctionnalités — 1/2</a:t>
            </a:r>
            <a:endParaRPr lang="en-US" sz="2600" dirty="0"/>
          </a:p>
        </p:txBody>
      </p:sp>
      <p:sp>
        <p:nvSpPr>
          <p:cNvPr id="5" name="Text 2"/>
          <p:cNvSpPr/>
          <p:nvPr/>
        </p:nvSpPr>
        <p:spPr>
          <a:xfrm>
            <a:off x="1252728" y="749808"/>
            <a:ext cx="10436047" cy="292608"/>
          </a:xfrm>
          <a:prstGeom prst="rect">
            <a:avLst/>
          </a:prstGeom>
          <a:noFill/>
          <a:ln/>
        </p:spPr>
        <p:txBody>
          <a:bodyPr wrap="square" lIns="0" tIns="0" rIns="0" bIns="0" rtlCol="0" anchor="t"/>
          <a:lstStyle/>
          <a:p>
            <a:pPr marL="0" indent="0" algn="l">
              <a:buNone/>
            </a:pPr>
            <a:r>
              <a:rPr lang="en-US" sz="1300" dirty="0">
                <a:solidFill>
                  <a:srgbClr val="526579"/>
                </a:solidFill>
                <a:latin typeface="Poppins" pitchFamily="34" charset="0"/>
                <a:ea typeface="Poppins" pitchFamily="34" charset="-122"/>
                <a:cs typeface="Poppins" pitchFamily="34" charset="-120"/>
              </a:rPr>
              <a:t>Gestion des personnes et du parcours scolaire</a:t>
            </a:r>
            <a:endParaRPr lang="en-US" sz="1300" dirty="0"/>
          </a:p>
        </p:txBody>
      </p:sp>
      <p:sp>
        <p:nvSpPr>
          <p:cNvPr id="6" name="Shape 3"/>
          <p:cNvSpPr/>
          <p:nvPr/>
        </p:nvSpPr>
        <p:spPr>
          <a:xfrm>
            <a:off x="502920" y="1170432"/>
            <a:ext cx="11185855" cy="0"/>
          </a:xfrm>
          <a:prstGeom prst="line">
            <a:avLst/>
          </a:prstGeom>
          <a:noFill/>
          <a:ln w="15875">
            <a:solidFill>
              <a:srgbClr val="D8E2F3"/>
            </a:solidFill>
            <a:prstDash val="solid"/>
          </a:ln>
        </p:spPr>
      </p:sp>
      <p:pic>
        <p:nvPicPr>
          <p:cNvPr id="7" name="Image 1" descr="/home/claude/icons/school.png"/>
          <p:cNvPicPr>
            <a:picLocks noChangeAspect="1"/>
          </p:cNvPicPr>
          <p:nvPr/>
        </p:nvPicPr>
        <p:blipFill>
          <a:blip r:embed="rId5"/>
          <a:stretch>
            <a:fillRect/>
          </a:stretch>
        </p:blipFill>
        <p:spPr>
          <a:xfrm>
            <a:off x="502920" y="6528816"/>
            <a:ext cx="146304" cy="146304"/>
          </a:xfrm>
          <a:prstGeom prst="rect">
            <a:avLst/>
          </a:prstGeom>
        </p:spPr>
      </p:pic>
      <p:sp>
        <p:nvSpPr>
          <p:cNvPr id="8" name="Shape 4"/>
          <p:cNvSpPr/>
          <p:nvPr/>
        </p:nvSpPr>
        <p:spPr>
          <a:xfrm>
            <a:off x="475488" y="6501384"/>
            <a:ext cx="201168" cy="201168"/>
          </a:xfrm>
          <a:prstGeom prst="line">
            <a:avLst/>
          </a:prstGeom>
          <a:solidFill>
            <a:srgbClr val="0F5ED7"/>
          </a:solidFill>
          <a:ln/>
        </p:spPr>
      </p:sp>
      <p:pic>
        <p:nvPicPr>
          <p:cNvPr id="9" name="Image 2" descr="/home/claude/icons/school.png"/>
          <p:cNvPicPr>
            <a:picLocks noChangeAspect="1"/>
          </p:cNvPicPr>
          <p:nvPr/>
        </p:nvPicPr>
        <p:blipFill>
          <a:blip r:embed="rId5"/>
          <a:stretch>
            <a:fillRect/>
          </a:stretch>
        </p:blipFill>
        <p:spPr>
          <a:xfrm>
            <a:off x="516636" y="6533388"/>
            <a:ext cx="137160" cy="137160"/>
          </a:xfrm>
          <a:prstGeom prst="rect">
            <a:avLst/>
          </a:prstGeom>
        </p:spPr>
      </p:pic>
      <p:sp>
        <p:nvSpPr>
          <p:cNvPr id="10" name="Text 5"/>
          <p:cNvSpPr/>
          <p:nvPr/>
        </p:nvSpPr>
        <p:spPr>
          <a:xfrm>
            <a:off x="777240" y="6473952"/>
            <a:ext cx="5943600" cy="274320"/>
          </a:xfrm>
          <a:prstGeom prst="rect">
            <a:avLst/>
          </a:prstGeom>
          <a:noFill/>
          <a:ln/>
        </p:spPr>
        <p:txBody>
          <a:bodyPr wrap="square" lIns="0" tIns="0" rIns="0" bIns="0" rtlCol="0" anchor="ctr"/>
          <a:lstStyle/>
          <a:p>
            <a:pPr marL="0" indent="0">
              <a:buNone/>
            </a:pPr>
            <a:r>
              <a:rPr lang="en-US" sz="950" dirty="0">
                <a:solidFill>
                  <a:srgbClr val="526579"/>
                </a:solidFill>
                <a:latin typeface="Poppins" pitchFamily="34" charset="0"/>
                <a:ea typeface="Poppins" pitchFamily="34" charset="-122"/>
                <a:cs typeface="Poppins" pitchFamily="34" charset="-120"/>
              </a:rPr>
              <a:t>Groupe Y  •  Gestion d'un établissement scolaire</a:t>
            </a:r>
            <a:endParaRPr lang="en-US" sz="950" dirty="0"/>
          </a:p>
        </p:txBody>
      </p:sp>
      <p:sp>
        <p:nvSpPr>
          <p:cNvPr id="11" name="Text 6"/>
          <p:cNvSpPr/>
          <p:nvPr/>
        </p:nvSpPr>
        <p:spPr>
          <a:xfrm>
            <a:off x="10591495" y="6473952"/>
            <a:ext cx="1097280" cy="274320"/>
          </a:xfrm>
          <a:prstGeom prst="rect">
            <a:avLst/>
          </a:prstGeom>
          <a:noFill/>
          <a:ln/>
        </p:spPr>
        <p:txBody>
          <a:bodyPr wrap="square" lIns="0" tIns="0" rIns="0" bIns="0" rtlCol="0" anchor="ctr"/>
          <a:lstStyle/>
          <a:p>
            <a:pPr marL="0" indent="0" algn="r">
              <a:buNone/>
            </a:pPr>
            <a:r>
              <a:rPr lang="en-US" sz="950" dirty="0">
                <a:solidFill>
                  <a:srgbClr val="526579"/>
                </a:solidFill>
                <a:latin typeface="JetBrains Mono" pitchFamily="34" charset="0"/>
                <a:ea typeface="JetBrains Mono" pitchFamily="34" charset="-122"/>
                <a:cs typeface="JetBrains Mono" pitchFamily="34" charset="-120"/>
              </a:rPr>
              <a:t>06</a:t>
            </a:r>
            <a:endParaRPr lang="en-US" sz="950" dirty="0"/>
          </a:p>
        </p:txBody>
      </p:sp>
      <p:sp>
        <p:nvSpPr>
          <p:cNvPr id="12" name="Shape 7"/>
          <p:cNvSpPr/>
          <p:nvPr/>
        </p:nvSpPr>
        <p:spPr>
          <a:xfrm>
            <a:off x="502920" y="1417320"/>
            <a:ext cx="5455768" cy="2148840"/>
          </a:xfrm>
          <a:prstGeom prst="roundRect">
            <a:avLst>
              <a:gd name="adj" fmla="val 5106"/>
            </a:avLst>
          </a:prstGeom>
          <a:solidFill>
            <a:srgbClr val="FFFFFF"/>
          </a:solidFill>
          <a:ln w="12700">
            <a:solidFill>
              <a:srgbClr val="D8E2F3"/>
            </a:solidFill>
            <a:prstDash val="solid"/>
          </a:ln>
          <a:effectLst>
            <a:outerShdw blurRad="127000" dist="38100" dir="5400000" algn="bl" rotWithShape="0">
              <a:srgbClr val="0F5ED7">
                <a:alpha val="12000"/>
              </a:srgbClr>
            </a:outerShdw>
          </a:effectLst>
        </p:spPr>
      </p:sp>
      <p:sp>
        <p:nvSpPr>
          <p:cNvPr id="13" name="Shape 8"/>
          <p:cNvSpPr/>
          <p:nvPr/>
        </p:nvSpPr>
        <p:spPr>
          <a:xfrm>
            <a:off x="777240" y="1673352"/>
            <a:ext cx="512064" cy="512064"/>
          </a:xfrm>
          <a:prstGeom prst="roundRect">
            <a:avLst>
              <a:gd name="adj" fmla="val 21429"/>
            </a:avLst>
          </a:prstGeom>
          <a:solidFill>
            <a:srgbClr val="E9F0FE"/>
          </a:solidFill>
          <a:ln/>
        </p:spPr>
      </p:sp>
      <p:pic>
        <p:nvPicPr>
          <p:cNvPr id="14" name="Image 3" descr="/home/claude/icons/userLock.png"/>
          <p:cNvPicPr>
            <a:picLocks noChangeAspect="1"/>
          </p:cNvPicPr>
          <p:nvPr/>
        </p:nvPicPr>
        <p:blipFill>
          <a:blip r:embed="rId6"/>
          <a:stretch>
            <a:fillRect/>
          </a:stretch>
        </p:blipFill>
        <p:spPr>
          <a:xfrm>
            <a:off x="905256" y="1801368"/>
            <a:ext cx="256032" cy="256032"/>
          </a:xfrm>
          <a:prstGeom prst="rect">
            <a:avLst/>
          </a:prstGeom>
        </p:spPr>
      </p:pic>
      <p:sp>
        <p:nvSpPr>
          <p:cNvPr id="15" name="Text 9"/>
          <p:cNvSpPr/>
          <p:nvPr/>
        </p:nvSpPr>
        <p:spPr>
          <a:xfrm>
            <a:off x="1417320" y="1673352"/>
            <a:ext cx="4267048" cy="512064"/>
          </a:xfrm>
          <a:prstGeom prst="rect">
            <a:avLst/>
          </a:prstGeom>
          <a:noFill/>
          <a:ln/>
        </p:spPr>
        <p:txBody>
          <a:bodyPr wrap="square" lIns="0" tIns="0" rIns="0" bIns="0" rtlCol="0" anchor="ctr"/>
          <a:lstStyle/>
          <a:p>
            <a:pPr marL="0" indent="0">
              <a:lnSpc>
                <a:spcPct val="110000"/>
              </a:lnSpc>
              <a:buNone/>
            </a:pPr>
            <a:r>
              <a:rPr lang="en-US" sz="1550" b="1" dirty="0">
                <a:solidFill>
                  <a:srgbClr val="102033"/>
                </a:solidFill>
                <a:latin typeface="Poppins" pitchFamily="34" charset="0"/>
                <a:ea typeface="Poppins" pitchFamily="34" charset="-122"/>
                <a:cs typeface="Poppins" pitchFamily="34" charset="-120"/>
              </a:rPr>
              <a:t>Gestion des utilisateurs</a:t>
            </a:r>
            <a:endParaRPr lang="en-US" sz="1550" dirty="0"/>
          </a:p>
        </p:txBody>
      </p:sp>
      <p:sp>
        <p:nvSpPr>
          <p:cNvPr id="16" name="Text 10"/>
          <p:cNvSpPr/>
          <p:nvPr/>
        </p:nvSpPr>
        <p:spPr>
          <a:xfrm>
            <a:off x="777240" y="2377440"/>
            <a:ext cx="4907128" cy="1005840"/>
          </a:xfrm>
          <a:prstGeom prst="rect">
            <a:avLst/>
          </a:prstGeom>
          <a:noFill/>
          <a:ln/>
        </p:spPr>
        <p:txBody>
          <a:bodyPr wrap="square" lIns="0" tIns="0" rIns="0" bIns="0" rtlCol="0" anchor="ctr"/>
          <a:lstStyle/>
          <a:p>
            <a:pPr marL="0" indent="0">
              <a:lnSpc>
                <a:spcPct val="150000"/>
              </a:lnSpc>
              <a:buNone/>
            </a:pPr>
            <a:r>
              <a:rPr lang="en-US" sz="1250" dirty="0">
                <a:solidFill>
                  <a:srgbClr val="526579"/>
                </a:solidFill>
                <a:latin typeface="Poppins" pitchFamily="34" charset="0"/>
                <a:ea typeface="Poppins" pitchFamily="34" charset="-122"/>
                <a:cs typeface="Poppins" pitchFamily="34" charset="-120"/>
              </a:rPr>
              <a:t>Inscription, authentification, rôles (admin, enseignant, élève, parent), sécurisation des accès.</a:t>
            </a:r>
            <a:endParaRPr lang="en-US" sz="1250" dirty="0"/>
          </a:p>
        </p:txBody>
      </p:sp>
      <p:sp>
        <p:nvSpPr>
          <p:cNvPr id="17" name="Shape 11"/>
          <p:cNvSpPr/>
          <p:nvPr/>
        </p:nvSpPr>
        <p:spPr>
          <a:xfrm>
            <a:off x="6233008" y="1417320"/>
            <a:ext cx="5455768" cy="2148840"/>
          </a:xfrm>
          <a:prstGeom prst="roundRect">
            <a:avLst>
              <a:gd name="adj" fmla="val 5106"/>
            </a:avLst>
          </a:prstGeom>
          <a:solidFill>
            <a:srgbClr val="FFFFFF"/>
          </a:solidFill>
          <a:ln w="12700">
            <a:solidFill>
              <a:srgbClr val="D8E2F3"/>
            </a:solidFill>
            <a:prstDash val="solid"/>
          </a:ln>
          <a:effectLst>
            <a:outerShdw blurRad="127000" dist="38100" dir="5400000" algn="bl" rotWithShape="0">
              <a:srgbClr val="0F5ED7">
                <a:alpha val="12000"/>
              </a:srgbClr>
            </a:outerShdw>
          </a:effectLst>
        </p:spPr>
      </p:sp>
      <p:sp>
        <p:nvSpPr>
          <p:cNvPr id="18" name="Shape 12"/>
          <p:cNvSpPr/>
          <p:nvPr/>
        </p:nvSpPr>
        <p:spPr>
          <a:xfrm>
            <a:off x="6507328" y="1673352"/>
            <a:ext cx="512064" cy="512064"/>
          </a:xfrm>
          <a:prstGeom prst="roundRect">
            <a:avLst>
              <a:gd name="adj" fmla="val 21429"/>
            </a:avLst>
          </a:prstGeom>
          <a:solidFill>
            <a:srgbClr val="E9F0FE"/>
          </a:solidFill>
          <a:ln/>
        </p:spPr>
      </p:sp>
      <p:pic>
        <p:nvPicPr>
          <p:cNvPr id="19" name="Image 4" descr="/home/claude/icons/idCard.png"/>
          <p:cNvPicPr>
            <a:picLocks noChangeAspect="1"/>
          </p:cNvPicPr>
          <p:nvPr/>
        </p:nvPicPr>
        <p:blipFill>
          <a:blip r:embed="rId7"/>
          <a:stretch>
            <a:fillRect/>
          </a:stretch>
        </p:blipFill>
        <p:spPr>
          <a:xfrm>
            <a:off x="6635344" y="1801368"/>
            <a:ext cx="256032" cy="256032"/>
          </a:xfrm>
          <a:prstGeom prst="rect">
            <a:avLst/>
          </a:prstGeom>
        </p:spPr>
      </p:pic>
      <p:sp>
        <p:nvSpPr>
          <p:cNvPr id="20" name="Text 13"/>
          <p:cNvSpPr/>
          <p:nvPr/>
        </p:nvSpPr>
        <p:spPr>
          <a:xfrm>
            <a:off x="7147408" y="1673352"/>
            <a:ext cx="4267048" cy="512064"/>
          </a:xfrm>
          <a:prstGeom prst="rect">
            <a:avLst/>
          </a:prstGeom>
          <a:noFill/>
          <a:ln/>
        </p:spPr>
        <p:txBody>
          <a:bodyPr wrap="square" lIns="0" tIns="0" rIns="0" bIns="0" rtlCol="0" anchor="ctr"/>
          <a:lstStyle/>
          <a:p>
            <a:pPr marL="0" indent="0">
              <a:lnSpc>
                <a:spcPct val="110000"/>
              </a:lnSpc>
              <a:buNone/>
            </a:pPr>
            <a:r>
              <a:rPr lang="en-US" sz="1550" b="1" dirty="0">
                <a:solidFill>
                  <a:srgbClr val="102033"/>
                </a:solidFill>
                <a:latin typeface="Poppins" pitchFamily="34" charset="0"/>
                <a:ea typeface="Poppins" pitchFamily="34" charset="-122"/>
                <a:cs typeface="Poppins" pitchFamily="34" charset="-120"/>
              </a:rPr>
              <a:t>Gestion des profils</a:t>
            </a:r>
            <a:endParaRPr lang="en-US" sz="1550" dirty="0"/>
          </a:p>
        </p:txBody>
      </p:sp>
      <p:sp>
        <p:nvSpPr>
          <p:cNvPr id="21" name="Text 14"/>
          <p:cNvSpPr/>
          <p:nvPr/>
        </p:nvSpPr>
        <p:spPr>
          <a:xfrm>
            <a:off x="6507328" y="2377440"/>
            <a:ext cx="4907128" cy="1005840"/>
          </a:xfrm>
          <a:prstGeom prst="rect">
            <a:avLst/>
          </a:prstGeom>
          <a:noFill/>
          <a:ln/>
        </p:spPr>
        <p:txBody>
          <a:bodyPr wrap="square" lIns="0" tIns="0" rIns="0" bIns="0" rtlCol="0" anchor="ctr"/>
          <a:lstStyle/>
          <a:p>
            <a:pPr marL="0" indent="0">
              <a:lnSpc>
                <a:spcPct val="150000"/>
              </a:lnSpc>
              <a:buNone/>
            </a:pPr>
            <a:r>
              <a:rPr lang="en-US" sz="1250" dirty="0">
                <a:solidFill>
                  <a:srgbClr val="526579"/>
                </a:solidFill>
                <a:latin typeface="Poppins" pitchFamily="34" charset="0"/>
                <a:ea typeface="Poppins" pitchFamily="34" charset="-122"/>
                <a:cs typeface="Poppins" pitchFamily="34" charset="-120"/>
              </a:rPr>
              <a:t>Création, consultation et mise à jour des informations personnelles.</a:t>
            </a:r>
            <a:endParaRPr lang="en-US" sz="1250" dirty="0"/>
          </a:p>
        </p:txBody>
      </p:sp>
      <p:sp>
        <p:nvSpPr>
          <p:cNvPr id="22" name="Shape 15"/>
          <p:cNvSpPr/>
          <p:nvPr/>
        </p:nvSpPr>
        <p:spPr>
          <a:xfrm>
            <a:off x="502920" y="3840480"/>
            <a:ext cx="5455768" cy="2148840"/>
          </a:xfrm>
          <a:prstGeom prst="roundRect">
            <a:avLst>
              <a:gd name="adj" fmla="val 5106"/>
            </a:avLst>
          </a:prstGeom>
          <a:solidFill>
            <a:srgbClr val="FFFFFF"/>
          </a:solidFill>
          <a:ln w="12700">
            <a:solidFill>
              <a:srgbClr val="D8E2F3"/>
            </a:solidFill>
            <a:prstDash val="solid"/>
          </a:ln>
          <a:effectLst>
            <a:outerShdw blurRad="127000" dist="38100" dir="5400000" algn="bl" rotWithShape="0">
              <a:srgbClr val="0F5ED7">
                <a:alpha val="12000"/>
              </a:srgbClr>
            </a:outerShdw>
          </a:effectLst>
        </p:spPr>
      </p:sp>
      <p:sp>
        <p:nvSpPr>
          <p:cNvPr id="23" name="Shape 16"/>
          <p:cNvSpPr/>
          <p:nvPr/>
        </p:nvSpPr>
        <p:spPr>
          <a:xfrm>
            <a:off x="777240" y="4096512"/>
            <a:ext cx="512064" cy="512064"/>
          </a:xfrm>
          <a:prstGeom prst="roundRect">
            <a:avLst>
              <a:gd name="adj" fmla="val 21429"/>
            </a:avLst>
          </a:prstGeom>
          <a:solidFill>
            <a:srgbClr val="E9F0FE"/>
          </a:solidFill>
          <a:ln/>
        </p:spPr>
      </p:sp>
      <p:pic>
        <p:nvPicPr>
          <p:cNvPr id="24" name="Image 5" descr="/home/claude/icons/userPen.png"/>
          <p:cNvPicPr>
            <a:picLocks noChangeAspect="1"/>
          </p:cNvPicPr>
          <p:nvPr/>
        </p:nvPicPr>
        <p:blipFill>
          <a:blip r:embed="rId8"/>
          <a:stretch>
            <a:fillRect/>
          </a:stretch>
        </p:blipFill>
        <p:spPr>
          <a:xfrm>
            <a:off x="905256" y="4224528"/>
            <a:ext cx="256032" cy="256032"/>
          </a:xfrm>
          <a:prstGeom prst="rect">
            <a:avLst/>
          </a:prstGeom>
        </p:spPr>
      </p:pic>
      <p:sp>
        <p:nvSpPr>
          <p:cNvPr id="25" name="Text 17"/>
          <p:cNvSpPr/>
          <p:nvPr/>
        </p:nvSpPr>
        <p:spPr>
          <a:xfrm>
            <a:off x="1417320" y="4096512"/>
            <a:ext cx="4267048" cy="512064"/>
          </a:xfrm>
          <a:prstGeom prst="rect">
            <a:avLst/>
          </a:prstGeom>
          <a:noFill/>
          <a:ln/>
        </p:spPr>
        <p:txBody>
          <a:bodyPr wrap="square" lIns="0" tIns="0" rIns="0" bIns="0" rtlCol="0" anchor="ctr"/>
          <a:lstStyle/>
          <a:p>
            <a:pPr marL="0" indent="0">
              <a:lnSpc>
                <a:spcPct val="110000"/>
              </a:lnSpc>
              <a:buNone/>
            </a:pPr>
            <a:r>
              <a:rPr lang="en-US" sz="1550" b="1" dirty="0">
                <a:solidFill>
                  <a:srgbClr val="102033"/>
                </a:solidFill>
                <a:latin typeface="Poppins" pitchFamily="34" charset="0"/>
                <a:ea typeface="Poppins" pitchFamily="34" charset="-122"/>
                <a:cs typeface="Poppins" pitchFamily="34" charset="-120"/>
              </a:rPr>
              <a:t>Gestion des élèves</a:t>
            </a:r>
            <a:endParaRPr lang="en-US" sz="1550" dirty="0"/>
          </a:p>
        </p:txBody>
      </p:sp>
      <p:sp>
        <p:nvSpPr>
          <p:cNvPr id="26" name="Text 18"/>
          <p:cNvSpPr/>
          <p:nvPr/>
        </p:nvSpPr>
        <p:spPr>
          <a:xfrm>
            <a:off x="777240" y="4800600"/>
            <a:ext cx="4907128" cy="1005840"/>
          </a:xfrm>
          <a:prstGeom prst="rect">
            <a:avLst/>
          </a:prstGeom>
          <a:noFill/>
          <a:ln/>
        </p:spPr>
        <p:txBody>
          <a:bodyPr wrap="square" lIns="0" tIns="0" rIns="0" bIns="0" rtlCol="0" anchor="ctr"/>
          <a:lstStyle/>
          <a:p>
            <a:pPr marL="0" indent="0">
              <a:lnSpc>
                <a:spcPct val="150000"/>
              </a:lnSpc>
              <a:buNone/>
            </a:pPr>
            <a:r>
              <a:rPr lang="en-US" sz="1250" dirty="0">
                <a:solidFill>
                  <a:srgbClr val="526579"/>
                </a:solidFill>
                <a:latin typeface="Poppins" pitchFamily="34" charset="0"/>
                <a:ea typeface="Poppins" pitchFamily="34" charset="-122"/>
                <a:cs typeface="Poppins" pitchFamily="34" charset="-120"/>
              </a:rPr>
              <a:t>Ajout, modification, suppression et consultation des dossiers élèves.</a:t>
            </a:r>
            <a:endParaRPr lang="en-US" sz="1250" dirty="0"/>
          </a:p>
        </p:txBody>
      </p:sp>
      <p:sp>
        <p:nvSpPr>
          <p:cNvPr id="27" name="Shape 19"/>
          <p:cNvSpPr/>
          <p:nvPr/>
        </p:nvSpPr>
        <p:spPr>
          <a:xfrm>
            <a:off x="6233008" y="3840480"/>
            <a:ext cx="5455768" cy="2148840"/>
          </a:xfrm>
          <a:prstGeom prst="roundRect">
            <a:avLst>
              <a:gd name="adj" fmla="val 5106"/>
            </a:avLst>
          </a:prstGeom>
          <a:solidFill>
            <a:srgbClr val="FFFFFF"/>
          </a:solidFill>
          <a:ln w="12700">
            <a:solidFill>
              <a:srgbClr val="D8E2F3"/>
            </a:solidFill>
            <a:prstDash val="solid"/>
          </a:ln>
          <a:effectLst>
            <a:outerShdw blurRad="127000" dist="38100" dir="5400000" algn="bl" rotWithShape="0">
              <a:srgbClr val="0F5ED7">
                <a:alpha val="12000"/>
              </a:srgbClr>
            </a:outerShdw>
          </a:effectLst>
        </p:spPr>
      </p:sp>
      <p:sp>
        <p:nvSpPr>
          <p:cNvPr id="28" name="Shape 20"/>
          <p:cNvSpPr/>
          <p:nvPr/>
        </p:nvSpPr>
        <p:spPr>
          <a:xfrm>
            <a:off x="6507328" y="4096512"/>
            <a:ext cx="512064" cy="512064"/>
          </a:xfrm>
          <a:prstGeom prst="roundRect">
            <a:avLst>
              <a:gd name="adj" fmla="val 21429"/>
            </a:avLst>
          </a:prstGeom>
          <a:solidFill>
            <a:srgbClr val="E9F0FE"/>
          </a:solidFill>
          <a:ln/>
        </p:spPr>
      </p:sp>
      <p:pic>
        <p:nvPicPr>
          <p:cNvPr id="29" name="Image 6" descr="/home/claude/icons/bookOpen.png"/>
          <p:cNvPicPr>
            <a:picLocks noChangeAspect="1"/>
          </p:cNvPicPr>
          <p:nvPr/>
        </p:nvPicPr>
        <p:blipFill>
          <a:blip r:embed="rId9"/>
          <a:stretch>
            <a:fillRect/>
          </a:stretch>
        </p:blipFill>
        <p:spPr>
          <a:xfrm>
            <a:off x="6635344" y="4224528"/>
            <a:ext cx="256032" cy="256032"/>
          </a:xfrm>
          <a:prstGeom prst="rect">
            <a:avLst/>
          </a:prstGeom>
        </p:spPr>
      </p:pic>
      <p:sp>
        <p:nvSpPr>
          <p:cNvPr id="30" name="Text 21"/>
          <p:cNvSpPr/>
          <p:nvPr/>
        </p:nvSpPr>
        <p:spPr>
          <a:xfrm>
            <a:off x="7147408" y="4096512"/>
            <a:ext cx="4267048" cy="512064"/>
          </a:xfrm>
          <a:prstGeom prst="rect">
            <a:avLst/>
          </a:prstGeom>
          <a:noFill/>
          <a:ln/>
        </p:spPr>
        <p:txBody>
          <a:bodyPr wrap="square" lIns="0" tIns="0" rIns="0" bIns="0" rtlCol="0" anchor="ctr"/>
          <a:lstStyle/>
          <a:p>
            <a:pPr marL="0" indent="0">
              <a:lnSpc>
                <a:spcPct val="110000"/>
              </a:lnSpc>
              <a:buNone/>
            </a:pPr>
            <a:r>
              <a:rPr lang="en-US" sz="1550" b="1" dirty="0">
                <a:solidFill>
                  <a:srgbClr val="102033"/>
                </a:solidFill>
                <a:latin typeface="Poppins" pitchFamily="34" charset="0"/>
                <a:ea typeface="Poppins" pitchFamily="34" charset="-122"/>
                <a:cs typeface="Poppins" pitchFamily="34" charset="-120"/>
              </a:rPr>
              <a:t>Gestion académique</a:t>
            </a:r>
            <a:endParaRPr lang="en-US" sz="1550" dirty="0"/>
          </a:p>
        </p:txBody>
      </p:sp>
      <p:sp>
        <p:nvSpPr>
          <p:cNvPr id="31" name="Text 22"/>
          <p:cNvSpPr/>
          <p:nvPr/>
        </p:nvSpPr>
        <p:spPr>
          <a:xfrm>
            <a:off x="6507328" y="4800600"/>
            <a:ext cx="4907128" cy="1005840"/>
          </a:xfrm>
          <a:prstGeom prst="rect">
            <a:avLst/>
          </a:prstGeom>
          <a:noFill/>
          <a:ln/>
        </p:spPr>
        <p:txBody>
          <a:bodyPr wrap="square" lIns="0" tIns="0" rIns="0" bIns="0" rtlCol="0" anchor="ctr"/>
          <a:lstStyle/>
          <a:p>
            <a:pPr marL="0" indent="0">
              <a:lnSpc>
                <a:spcPct val="150000"/>
              </a:lnSpc>
              <a:buNone/>
            </a:pPr>
            <a:r>
              <a:rPr lang="en-US" sz="1250" dirty="0">
                <a:solidFill>
                  <a:srgbClr val="526579"/>
                </a:solidFill>
                <a:latin typeface="Poppins" pitchFamily="34" charset="0"/>
                <a:ea typeface="Poppins" pitchFamily="34" charset="-122"/>
                <a:cs typeface="Poppins" pitchFamily="34" charset="-120"/>
              </a:rPr>
              <a:t>Classes, matières, emplois du temps, notes et absences.</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02920" y="384048"/>
            <a:ext cx="566928" cy="566928"/>
          </a:xfrm>
          <a:prstGeom prst="roundRect">
            <a:avLst>
              <a:gd name="adj" fmla="val 19355"/>
            </a:avLst>
          </a:prstGeom>
          <a:solidFill>
            <a:srgbClr val="E9F0FE"/>
          </a:solidFill>
          <a:ln/>
        </p:spPr>
      </p:sp>
      <p:pic>
        <p:nvPicPr>
          <p:cNvPr id="3" name="Image 0" descr="/home/claude/icons/layerGroup.png"/>
          <p:cNvPicPr>
            <a:picLocks noChangeAspect="1"/>
          </p:cNvPicPr>
          <p:nvPr/>
        </p:nvPicPr>
        <p:blipFill>
          <a:blip r:embed="rId4"/>
          <a:stretch>
            <a:fillRect/>
          </a:stretch>
        </p:blipFill>
        <p:spPr>
          <a:xfrm>
            <a:off x="621792" y="502920"/>
            <a:ext cx="329184" cy="329184"/>
          </a:xfrm>
          <a:prstGeom prst="rect">
            <a:avLst/>
          </a:prstGeom>
        </p:spPr>
      </p:pic>
      <p:sp>
        <p:nvSpPr>
          <p:cNvPr id="4" name="Text 1"/>
          <p:cNvSpPr/>
          <p:nvPr/>
        </p:nvSpPr>
        <p:spPr>
          <a:xfrm>
            <a:off x="1252728" y="310896"/>
            <a:ext cx="10436047" cy="457200"/>
          </a:xfrm>
          <a:prstGeom prst="rect">
            <a:avLst/>
          </a:prstGeom>
          <a:noFill/>
          <a:ln/>
        </p:spPr>
        <p:txBody>
          <a:bodyPr wrap="square" lIns="0" tIns="0" rIns="0" bIns="0" rtlCol="0" anchor="b"/>
          <a:lstStyle/>
          <a:p>
            <a:pPr marL="0" indent="0" algn="l">
              <a:buNone/>
            </a:pPr>
            <a:r>
              <a:rPr lang="en-US" sz="2600" b="1" kern="0" spc="-30" dirty="0">
                <a:solidFill>
                  <a:srgbClr val="102033"/>
                </a:solidFill>
                <a:latin typeface="Poppins" pitchFamily="34" charset="0"/>
                <a:ea typeface="Poppins" pitchFamily="34" charset="-122"/>
                <a:cs typeface="Poppins" pitchFamily="34" charset="-120"/>
              </a:rPr>
              <a:t>Fonctionnalités — 2/2</a:t>
            </a:r>
            <a:endParaRPr lang="en-US" sz="2600" dirty="0"/>
          </a:p>
        </p:txBody>
      </p:sp>
      <p:sp>
        <p:nvSpPr>
          <p:cNvPr id="5" name="Text 2"/>
          <p:cNvSpPr/>
          <p:nvPr/>
        </p:nvSpPr>
        <p:spPr>
          <a:xfrm>
            <a:off x="1252728" y="749808"/>
            <a:ext cx="10436047" cy="292608"/>
          </a:xfrm>
          <a:prstGeom prst="rect">
            <a:avLst/>
          </a:prstGeom>
          <a:noFill/>
          <a:ln/>
        </p:spPr>
        <p:txBody>
          <a:bodyPr wrap="square" lIns="0" tIns="0" rIns="0" bIns="0" rtlCol="0" anchor="t"/>
          <a:lstStyle/>
          <a:p>
            <a:pPr marL="0" indent="0" algn="l">
              <a:buNone/>
            </a:pPr>
            <a:r>
              <a:rPr lang="en-US" sz="1300" dirty="0">
                <a:solidFill>
                  <a:srgbClr val="526579"/>
                </a:solidFill>
                <a:latin typeface="Poppins" pitchFamily="34" charset="0"/>
                <a:ea typeface="Poppins" pitchFamily="34" charset="-122"/>
                <a:cs typeface="Poppins" pitchFamily="34" charset="-120"/>
              </a:rPr>
              <a:t>Pilotage administratif, financier et décisionnel</a:t>
            </a:r>
            <a:endParaRPr lang="en-US" sz="1300" dirty="0"/>
          </a:p>
        </p:txBody>
      </p:sp>
      <p:sp>
        <p:nvSpPr>
          <p:cNvPr id="6" name="Shape 3"/>
          <p:cNvSpPr/>
          <p:nvPr/>
        </p:nvSpPr>
        <p:spPr>
          <a:xfrm>
            <a:off x="502920" y="1170432"/>
            <a:ext cx="11185855" cy="0"/>
          </a:xfrm>
          <a:prstGeom prst="line">
            <a:avLst/>
          </a:prstGeom>
          <a:noFill/>
          <a:ln w="15875">
            <a:solidFill>
              <a:srgbClr val="D8E2F3"/>
            </a:solidFill>
            <a:prstDash val="solid"/>
          </a:ln>
        </p:spPr>
      </p:sp>
      <p:pic>
        <p:nvPicPr>
          <p:cNvPr id="7" name="Image 1" descr="/home/claude/icons/school.png"/>
          <p:cNvPicPr>
            <a:picLocks noChangeAspect="1"/>
          </p:cNvPicPr>
          <p:nvPr/>
        </p:nvPicPr>
        <p:blipFill>
          <a:blip r:embed="rId5"/>
          <a:stretch>
            <a:fillRect/>
          </a:stretch>
        </p:blipFill>
        <p:spPr>
          <a:xfrm>
            <a:off x="502920" y="6528816"/>
            <a:ext cx="146304" cy="146304"/>
          </a:xfrm>
          <a:prstGeom prst="rect">
            <a:avLst/>
          </a:prstGeom>
        </p:spPr>
      </p:pic>
      <p:sp>
        <p:nvSpPr>
          <p:cNvPr id="8" name="Shape 4"/>
          <p:cNvSpPr/>
          <p:nvPr/>
        </p:nvSpPr>
        <p:spPr>
          <a:xfrm>
            <a:off x="475488" y="6501384"/>
            <a:ext cx="201168" cy="201168"/>
          </a:xfrm>
          <a:prstGeom prst="line">
            <a:avLst/>
          </a:prstGeom>
          <a:solidFill>
            <a:srgbClr val="0F5ED7"/>
          </a:solidFill>
          <a:ln/>
        </p:spPr>
      </p:sp>
      <p:pic>
        <p:nvPicPr>
          <p:cNvPr id="9" name="Image 2" descr="/home/claude/icons/school.png"/>
          <p:cNvPicPr>
            <a:picLocks noChangeAspect="1"/>
          </p:cNvPicPr>
          <p:nvPr/>
        </p:nvPicPr>
        <p:blipFill>
          <a:blip r:embed="rId5"/>
          <a:stretch>
            <a:fillRect/>
          </a:stretch>
        </p:blipFill>
        <p:spPr>
          <a:xfrm>
            <a:off x="516636" y="6533388"/>
            <a:ext cx="137160" cy="137160"/>
          </a:xfrm>
          <a:prstGeom prst="rect">
            <a:avLst/>
          </a:prstGeom>
        </p:spPr>
      </p:pic>
      <p:sp>
        <p:nvSpPr>
          <p:cNvPr id="10" name="Text 5"/>
          <p:cNvSpPr/>
          <p:nvPr/>
        </p:nvSpPr>
        <p:spPr>
          <a:xfrm>
            <a:off x="777240" y="6473952"/>
            <a:ext cx="5943600" cy="274320"/>
          </a:xfrm>
          <a:prstGeom prst="rect">
            <a:avLst/>
          </a:prstGeom>
          <a:noFill/>
          <a:ln/>
        </p:spPr>
        <p:txBody>
          <a:bodyPr wrap="square" lIns="0" tIns="0" rIns="0" bIns="0" rtlCol="0" anchor="ctr"/>
          <a:lstStyle/>
          <a:p>
            <a:pPr marL="0" indent="0">
              <a:buNone/>
            </a:pPr>
            <a:r>
              <a:rPr lang="en-US" sz="950" dirty="0">
                <a:solidFill>
                  <a:srgbClr val="526579"/>
                </a:solidFill>
                <a:latin typeface="Poppins" pitchFamily="34" charset="0"/>
                <a:ea typeface="Poppins" pitchFamily="34" charset="-122"/>
                <a:cs typeface="Poppins" pitchFamily="34" charset="-120"/>
              </a:rPr>
              <a:t>Groupe Y  •  Gestion d'un établissement scolaire</a:t>
            </a:r>
            <a:endParaRPr lang="en-US" sz="950" dirty="0"/>
          </a:p>
        </p:txBody>
      </p:sp>
      <p:sp>
        <p:nvSpPr>
          <p:cNvPr id="11" name="Text 6"/>
          <p:cNvSpPr/>
          <p:nvPr/>
        </p:nvSpPr>
        <p:spPr>
          <a:xfrm>
            <a:off x="10591495" y="6473952"/>
            <a:ext cx="1097280" cy="274320"/>
          </a:xfrm>
          <a:prstGeom prst="rect">
            <a:avLst/>
          </a:prstGeom>
          <a:noFill/>
          <a:ln/>
        </p:spPr>
        <p:txBody>
          <a:bodyPr wrap="square" lIns="0" tIns="0" rIns="0" bIns="0" rtlCol="0" anchor="ctr"/>
          <a:lstStyle/>
          <a:p>
            <a:pPr marL="0" indent="0" algn="r">
              <a:buNone/>
            </a:pPr>
            <a:r>
              <a:rPr lang="en-US" sz="950" dirty="0">
                <a:solidFill>
                  <a:srgbClr val="526579"/>
                </a:solidFill>
                <a:latin typeface="JetBrains Mono" pitchFamily="34" charset="0"/>
                <a:ea typeface="JetBrains Mono" pitchFamily="34" charset="-122"/>
                <a:cs typeface="JetBrains Mono" pitchFamily="34" charset="-120"/>
              </a:rPr>
              <a:t>07</a:t>
            </a:r>
            <a:endParaRPr lang="en-US" sz="950" dirty="0"/>
          </a:p>
        </p:txBody>
      </p:sp>
      <p:sp>
        <p:nvSpPr>
          <p:cNvPr id="12" name="Shape 7"/>
          <p:cNvSpPr/>
          <p:nvPr/>
        </p:nvSpPr>
        <p:spPr>
          <a:xfrm>
            <a:off x="502920" y="1417320"/>
            <a:ext cx="5455768" cy="1572768"/>
          </a:xfrm>
          <a:prstGeom prst="roundRect">
            <a:avLst>
              <a:gd name="adj" fmla="val 6977"/>
            </a:avLst>
          </a:prstGeom>
          <a:solidFill>
            <a:srgbClr val="FFFFFF"/>
          </a:solidFill>
          <a:ln w="12700">
            <a:solidFill>
              <a:srgbClr val="D8E2F3"/>
            </a:solidFill>
            <a:prstDash val="solid"/>
          </a:ln>
          <a:effectLst>
            <a:outerShdw blurRad="127000" dist="38100" dir="5400000" algn="bl" rotWithShape="0">
              <a:srgbClr val="0F5ED7">
                <a:alpha val="12000"/>
              </a:srgbClr>
            </a:outerShdw>
          </a:effectLst>
        </p:spPr>
      </p:sp>
      <p:sp>
        <p:nvSpPr>
          <p:cNvPr id="13" name="Shape 8"/>
          <p:cNvSpPr/>
          <p:nvPr/>
        </p:nvSpPr>
        <p:spPr>
          <a:xfrm>
            <a:off x="758952" y="1636776"/>
            <a:ext cx="457200" cy="457200"/>
          </a:xfrm>
          <a:prstGeom prst="roundRect">
            <a:avLst>
              <a:gd name="adj" fmla="val 20000"/>
            </a:avLst>
          </a:prstGeom>
          <a:solidFill>
            <a:srgbClr val="E9F0FE"/>
          </a:solidFill>
          <a:ln/>
        </p:spPr>
      </p:sp>
      <p:pic>
        <p:nvPicPr>
          <p:cNvPr id="14" name="Image 3" descr="/home/claude/icons/chalkboardTeacher.png"/>
          <p:cNvPicPr>
            <a:picLocks noChangeAspect="1"/>
          </p:cNvPicPr>
          <p:nvPr/>
        </p:nvPicPr>
        <p:blipFill>
          <a:blip r:embed="rId6"/>
          <a:stretch>
            <a:fillRect/>
          </a:stretch>
        </p:blipFill>
        <p:spPr>
          <a:xfrm>
            <a:off x="868680" y="1746504"/>
            <a:ext cx="237744" cy="237744"/>
          </a:xfrm>
          <a:prstGeom prst="rect">
            <a:avLst/>
          </a:prstGeom>
        </p:spPr>
      </p:pic>
      <p:sp>
        <p:nvSpPr>
          <p:cNvPr id="15" name="Text 9"/>
          <p:cNvSpPr/>
          <p:nvPr/>
        </p:nvSpPr>
        <p:spPr>
          <a:xfrm>
            <a:off x="1344168" y="1618488"/>
            <a:ext cx="4358488" cy="475488"/>
          </a:xfrm>
          <a:prstGeom prst="rect">
            <a:avLst/>
          </a:prstGeom>
          <a:noFill/>
          <a:ln/>
        </p:spPr>
        <p:txBody>
          <a:bodyPr wrap="square" lIns="0" tIns="0" rIns="0" bIns="0" rtlCol="0" anchor="ctr"/>
          <a:lstStyle/>
          <a:p>
            <a:pPr marL="0" indent="0">
              <a:lnSpc>
                <a:spcPct val="110000"/>
              </a:lnSpc>
              <a:buNone/>
            </a:pPr>
            <a:r>
              <a:rPr lang="en-US" sz="1450" b="1" dirty="0">
                <a:solidFill>
                  <a:srgbClr val="102033"/>
                </a:solidFill>
                <a:latin typeface="Poppins" pitchFamily="34" charset="0"/>
                <a:ea typeface="Poppins" pitchFamily="34" charset="-122"/>
                <a:cs typeface="Poppins" pitchFamily="34" charset="-120"/>
              </a:rPr>
              <a:t>Gestion des enseignants</a:t>
            </a:r>
            <a:endParaRPr lang="en-US" sz="1450" dirty="0"/>
          </a:p>
        </p:txBody>
      </p:sp>
      <p:sp>
        <p:nvSpPr>
          <p:cNvPr id="16" name="Text 10"/>
          <p:cNvSpPr/>
          <p:nvPr/>
        </p:nvSpPr>
        <p:spPr>
          <a:xfrm>
            <a:off x="758952" y="2258568"/>
            <a:ext cx="4943704" cy="612648"/>
          </a:xfrm>
          <a:prstGeom prst="rect">
            <a:avLst/>
          </a:prstGeom>
          <a:noFill/>
          <a:ln/>
        </p:spPr>
        <p:txBody>
          <a:bodyPr wrap="square" lIns="0" tIns="0" rIns="0" bIns="0" rtlCol="0" anchor="ctr"/>
          <a:lstStyle/>
          <a:p>
            <a:pPr marL="0" indent="0">
              <a:lnSpc>
                <a:spcPct val="140000"/>
              </a:lnSpc>
              <a:buNone/>
            </a:pPr>
            <a:r>
              <a:rPr lang="en-US" sz="1150" dirty="0">
                <a:solidFill>
                  <a:srgbClr val="526579"/>
                </a:solidFill>
                <a:latin typeface="Poppins" pitchFamily="34" charset="0"/>
                <a:ea typeface="Poppins" pitchFamily="34" charset="-122"/>
                <a:cs typeface="Poppins" pitchFamily="34" charset="-120"/>
              </a:rPr>
              <a:t>Attribution des classes et matières, suivi des activités pédagogiques.</a:t>
            </a:r>
            <a:endParaRPr lang="en-US" sz="1150" dirty="0"/>
          </a:p>
        </p:txBody>
      </p:sp>
      <p:sp>
        <p:nvSpPr>
          <p:cNvPr id="17" name="Shape 11"/>
          <p:cNvSpPr/>
          <p:nvPr/>
        </p:nvSpPr>
        <p:spPr>
          <a:xfrm>
            <a:off x="6233008" y="1417320"/>
            <a:ext cx="5455768" cy="1572768"/>
          </a:xfrm>
          <a:prstGeom prst="roundRect">
            <a:avLst>
              <a:gd name="adj" fmla="val 6977"/>
            </a:avLst>
          </a:prstGeom>
          <a:solidFill>
            <a:srgbClr val="FFFFFF"/>
          </a:solidFill>
          <a:ln w="12700">
            <a:solidFill>
              <a:srgbClr val="D8E2F3"/>
            </a:solidFill>
            <a:prstDash val="solid"/>
          </a:ln>
          <a:effectLst>
            <a:outerShdw blurRad="127000" dist="38100" dir="5400000" algn="bl" rotWithShape="0">
              <a:srgbClr val="0F5ED7">
                <a:alpha val="12000"/>
              </a:srgbClr>
            </a:outerShdw>
          </a:effectLst>
        </p:spPr>
      </p:sp>
      <p:sp>
        <p:nvSpPr>
          <p:cNvPr id="18" name="Shape 12"/>
          <p:cNvSpPr/>
          <p:nvPr/>
        </p:nvSpPr>
        <p:spPr>
          <a:xfrm>
            <a:off x="6489040" y="1636776"/>
            <a:ext cx="457200" cy="457200"/>
          </a:xfrm>
          <a:prstGeom prst="roundRect">
            <a:avLst>
              <a:gd name="adj" fmla="val 20000"/>
            </a:avLst>
          </a:prstGeom>
          <a:solidFill>
            <a:srgbClr val="E9F0FE"/>
          </a:solidFill>
          <a:ln/>
        </p:spPr>
      </p:sp>
      <p:pic>
        <p:nvPicPr>
          <p:cNvPr id="19" name="Image 4" descr="/home/claude/icons/fileInvoiceDollar.png"/>
          <p:cNvPicPr>
            <a:picLocks noChangeAspect="1"/>
          </p:cNvPicPr>
          <p:nvPr/>
        </p:nvPicPr>
        <p:blipFill>
          <a:blip r:embed="rId7"/>
          <a:stretch>
            <a:fillRect/>
          </a:stretch>
        </p:blipFill>
        <p:spPr>
          <a:xfrm>
            <a:off x="6598768" y="1746504"/>
            <a:ext cx="237744" cy="237744"/>
          </a:xfrm>
          <a:prstGeom prst="rect">
            <a:avLst/>
          </a:prstGeom>
        </p:spPr>
      </p:pic>
      <p:sp>
        <p:nvSpPr>
          <p:cNvPr id="20" name="Text 13"/>
          <p:cNvSpPr/>
          <p:nvPr/>
        </p:nvSpPr>
        <p:spPr>
          <a:xfrm>
            <a:off x="7074256" y="1618488"/>
            <a:ext cx="4358488" cy="475488"/>
          </a:xfrm>
          <a:prstGeom prst="rect">
            <a:avLst/>
          </a:prstGeom>
          <a:noFill/>
          <a:ln/>
        </p:spPr>
        <p:txBody>
          <a:bodyPr wrap="square" lIns="0" tIns="0" rIns="0" bIns="0" rtlCol="0" anchor="ctr"/>
          <a:lstStyle/>
          <a:p>
            <a:pPr marL="0" indent="0">
              <a:lnSpc>
                <a:spcPct val="110000"/>
              </a:lnSpc>
              <a:buNone/>
            </a:pPr>
            <a:r>
              <a:rPr lang="en-US" sz="1450" b="1" dirty="0">
                <a:solidFill>
                  <a:srgbClr val="102033"/>
                </a:solidFill>
                <a:latin typeface="Poppins" pitchFamily="34" charset="0"/>
                <a:ea typeface="Poppins" pitchFamily="34" charset="-122"/>
                <a:cs typeface="Poppins" pitchFamily="34" charset="-120"/>
              </a:rPr>
              <a:t>Gestion financière</a:t>
            </a:r>
            <a:endParaRPr lang="en-US" sz="1450" dirty="0"/>
          </a:p>
        </p:txBody>
      </p:sp>
      <p:sp>
        <p:nvSpPr>
          <p:cNvPr id="21" name="Text 14"/>
          <p:cNvSpPr/>
          <p:nvPr/>
        </p:nvSpPr>
        <p:spPr>
          <a:xfrm>
            <a:off x="6489040" y="2258568"/>
            <a:ext cx="4943704" cy="612648"/>
          </a:xfrm>
          <a:prstGeom prst="rect">
            <a:avLst/>
          </a:prstGeom>
          <a:noFill/>
          <a:ln/>
        </p:spPr>
        <p:txBody>
          <a:bodyPr wrap="square" lIns="0" tIns="0" rIns="0" bIns="0" rtlCol="0" anchor="ctr"/>
          <a:lstStyle/>
          <a:p>
            <a:pPr marL="0" indent="0">
              <a:lnSpc>
                <a:spcPct val="140000"/>
              </a:lnSpc>
              <a:buNone/>
            </a:pPr>
            <a:r>
              <a:rPr lang="en-US" sz="1150" dirty="0">
                <a:solidFill>
                  <a:srgbClr val="526579"/>
                </a:solidFill>
                <a:latin typeface="Poppins" pitchFamily="34" charset="0"/>
                <a:ea typeface="Poppins" pitchFamily="34" charset="-122"/>
                <a:cs typeface="Poppins" pitchFamily="34" charset="-120"/>
              </a:rPr>
              <a:t>Suivi des frais de scolarité, paiements, reçus et états financiers.</a:t>
            </a:r>
            <a:endParaRPr lang="en-US" sz="1150" dirty="0"/>
          </a:p>
        </p:txBody>
      </p:sp>
      <p:sp>
        <p:nvSpPr>
          <p:cNvPr id="22" name="Shape 15"/>
          <p:cNvSpPr/>
          <p:nvPr/>
        </p:nvSpPr>
        <p:spPr>
          <a:xfrm>
            <a:off x="502920" y="3264408"/>
            <a:ext cx="5455768" cy="1572768"/>
          </a:xfrm>
          <a:prstGeom prst="roundRect">
            <a:avLst>
              <a:gd name="adj" fmla="val 6977"/>
            </a:avLst>
          </a:prstGeom>
          <a:solidFill>
            <a:srgbClr val="FFFFFF"/>
          </a:solidFill>
          <a:ln w="12700">
            <a:solidFill>
              <a:srgbClr val="D8E2F3"/>
            </a:solidFill>
            <a:prstDash val="solid"/>
          </a:ln>
          <a:effectLst>
            <a:outerShdw blurRad="127000" dist="38100" dir="5400000" algn="bl" rotWithShape="0">
              <a:srgbClr val="0F5ED7">
                <a:alpha val="12000"/>
              </a:srgbClr>
            </a:outerShdw>
          </a:effectLst>
        </p:spPr>
      </p:sp>
      <p:sp>
        <p:nvSpPr>
          <p:cNvPr id="23" name="Shape 16"/>
          <p:cNvSpPr/>
          <p:nvPr/>
        </p:nvSpPr>
        <p:spPr>
          <a:xfrm>
            <a:off x="758952" y="3483864"/>
            <a:ext cx="457200" cy="457200"/>
          </a:xfrm>
          <a:prstGeom prst="roundRect">
            <a:avLst>
              <a:gd name="adj" fmla="val 20000"/>
            </a:avLst>
          </a:prstGeom>
          <a:solidFill>
            <a:srgbClr val="E9F0FE"/>
          </a:solidFill>
          <a:ln/>
        </p:spPr>
      </p:sp>
      <p:pic>
        <p:nvPicPr>
          <p:cNvPr id="24" name="Image 5" descr="/home/claude/icons/fileLines.png"/>
          <p:cNvPicPr>
            <a:picLocks noChangeAspect="1"/>
          </p:cNvPicPr>
          <p:nvPr/>
        </p:nvPicPr>
        <p:blipFill>
          <a:blip r:embed="rId8"/>
          <a:stretch>
            <a:fillRect/>
          </a:stretch>
        </p:blipFill>
        <p:spPr>
          <a:xfrm>
            <a:off x="868680" y="3593592"/>
            <a:ext cx="237744" cy="237744"/>
          </a:xfrm>
          <a:prstGeom prst="rect">
            <a:avLst/>
          </a:prstGeom>
        </p:spPr>
      </p:pic>
      <p:sp>
        <p:nvSpPr>
          <p:cNvPr id="25" name="Text 17"/>
          <p:cNvSpPr/>
          <p:nvPr/>
        </p:nvSpPr>
        <p:spPr>
          <a:xfrm>
            <a:off x="1344168" y="3465576"/>
            <a:ext cx="4358488" cy="475488"/>
          </a:xfrm>
          <a:prstGeom prst="rect">
            <a:avLst/>
          </a:prstGeom>
          <a:noFill/>
          <a:ln/>
        </p:spPr>
        <p:txBody>
          <a:bodyPr wrap="square" lIns="0" tIns="0" rIns="0" bIns="0" rtlCol="0" anchor="ctr"/>
          <a:lstStyle/>
          <a:p>
            <a:pPr marL="0" indent="0">
              <a:lnSpc>
                <a:spcPct val="110000"/>
              </a:lnSpc>
              <a:buNone/>
            </a:pPr>
            <a:r>
              <a:rPr lang="en-US" sz="1450" b="1" dirty="0">
                <a:solidFill>
                  <a:srgbClr val="102033"/>
                </a:solidFill>
                <a:latin typeface="Poppins" pitchFamily="34" charset="0"/>
                <a:ea typeface="Poppins" pitchFamily="34" charset="-122"/>
                <a:cs typeface="Poppins" pitchFamily="34" charset="-120"/>
              </a:rPr>
              <a:t>Gestion des documents</a:t>
            </a:r>
            <a:endParaRPr lang="en-US" sz="1450" dirty="0"/>
          </a:p>
        </p:txBody>
      </p:sp>
      <p:sp>
        <p:nvSpPr>
          <p:cNvPr id="26" name="Text 18"/>
          <p:cNvSpPr/>
          <p:nvPr/>
        </p:nvSpPr>
        <p:spPr>
          <a:xfrm>
            <a:off x="758952" y="4105656"/>
            <a:ext cx="4943704" cy="612648"/>
          </a:xfrm>
          <a:prstGeom prst="rect">
            <a:avLst/>
          </a:prstGeom>
          <a:noFill/>
          <a:ln/>
        </p:spPr>
        <p:txBody>
          <a:bodyPr wrap="square" lIns="0" tIns="0" rIns="0" bIns="0" rtlCol="0" anchor="ctr"/>
          <a:lstStyle/>
          <a:p>
            <a:pPr marL="0" indent="0">
              <a:lnSpc>
                <a:spcPct val="140000"/>
              </a:lnSpc>
              <a:buNone/>
            </a:pPr>
            <a:r>
              <a:rPr lang="en-US" sz="1150" dirty="0">
                <a:solidFill>
                  <a:srgbClr val="526579"/>
                </a:solidFill>
                <a:latin typeface="Poppins" pitchFamily="34" charset="0"/>
                <a:ea typeface="Poppins" pitchFamily="34" charset="-122"/>
                <a:cs typeface="Poppins" pitchFamily="34" charset="-120"/>
              </a:rPr>
              <a:t>Génération automatique des bulletins, certificats, relevés, reçus.</a:t>
            </a:r>
            <a:endParaRPr lang="en-US" sz="1150" dirty="0"/>
          </a:p>
        </p:txBody>
      </p:sp>
      <p:sp>
        <p:nvSpPr>
          <p:cNvPr id="27" name="Shape 19"/>
          <p:cNvSpPr/>
          <p:nvPr/>
        </p:nvSpPr>
        <p:spPr>
          <a:xfrm>
            <a:off x="6233008" y="3264408"/>
            <a:ext cx="5455768" cy="1572768"/>
          </a:xfrm>
          <a:prstGeom prst="roundRect">
            <a:avLst>
              <a:gd name="adj" fmla="val 6977"/>
            </a:avLst>
          </a:prstGeom>
          <a:solidFill>
            <a:srgbClr val="FFFFFF"/>
          </a:solidFill>
          <a:ln w="12700">
            <a:solidFill>
              <a:srgbClr val="D8E2F3"/>
            </a:solidFill>
            <a:prstDash val="solid"/>
          </a:ln>
          <a:effectLst>
            <a:outerShdw blurRad="127000" dist="38100" dir="5400000" algn="bl" rotWithShape="0">
              <a:srgbClr val="0F5ED7">
                <a:alpha val="12000"/>
              </a:srgbClr>
            </a:outerShdw>
          </a:effectLst>
        </p:spPr>
      </p:sp>
      <p:sp>
        <p:nvSpPr>
          <p:cNvPr id="28" name="Shape 20"/>
          <p:cNvSpPr/>
          <p:nvPr/>
        </p:nvSpPr>
        <p:spPr>
          <a:xfrm>
            <a:off x="6489040" y="3483864"/>
            <a:ext cx="457200" cy="457200"/>
          </a:xfrm>
          <a:prstGeom prst="roundRect">
            <a:avLst>
              <a:gd name="adj" fmla="val 20000"/>
            </a:avLst>
          </a:prstGeom>
          <a:solidFill>
            <a:srgbClr val="E9F0FE"/>
          </a:solidFill>
          <a:ln/>
        </p:spPr>
      </p:sp>
      <p:pic>
        <p:nvPicPr>
          <p:cNvPr id="29" name="Image 6" descr="/home/claude/icons/magnifyingGlass.png"/>
          <p:cNvPicPr>
            <a:picLocks noChangeAspect="1"/>
          </p:cNvPicPr>
          <p:nvPr/>
        </p:nvPicPr>
        <p:blipFill>
          <a:blip r:embed="rId9"/>
          <a:stretch>
            <a:fillRect/>
          </a:stretch>
        </p:blipFill>
        <p:spPr>
          <a:xfrm>
            <a:off x="6598768" y="3593592"/>
            <a:ext cx="237744" cy="237744"/>
          </a:xfrm>
          <a:prstGeom prst="rect">
            <a:avLst/>
          </a:prstGeom>
        </p:spPr>
      </p:pic>
      <p:sp>
        <p:nvSpPr>
          <p:cNvPr id="30" name="Text 21"/>
          <p:cNvSpPr/>
          <p:nvPr/>
        </p:nvSpPr>
        <p:spPr>
          <a:xfrm>
            <a:off x="7074256" y="3465576"/>
            <a:ext cx="4358488" cy="475488"/>
          </a:xfrm>
          <a:prstGeom prst="rect">
            <a:avLst/>
          </a:prstGeom>
          <a:noFill/>
          <a:ln/>
        </p:spPr>
        <p:txBody>
          <a:bodyPr wrap="square" lIns="0" tIns="0" rIns="0" bIns="0" rtlCol="0" anchor="ctr"/>
          <a:lstStyle/>
          <a:p>
            <a:pPr marL="0" indent="0">
              <a:lnSpc>
                <a:spcPct val="110000"/>
              </a:lnSpc>
              <a:buNone/>
            </a:pPr>
            <a:r>
              <a:rPr lang="en-US" sz="1450" b="1" dirty="0">
                <a:solidFill>
                  <a:srgbClr val="102033"/>
                </a:solidFill>
                <a:latin typeface="Poppins" pitchFamily="34" charset="0"/>
                <a:ea typeface="Poppins" pitchFamily="34" charset="-122"/>
                <a:cs typeface="Poppins" pitchFamily="34" charset="-120"/>
              </a:rPr>
              <a:t>Recherche &amp; consultation</a:t>
            </a:r>
            <a:endParaRPr lang="en-US" sz="1450" dirty="0"/>
          </a:p>
        </p:txBody>
      </p:sp>
      <p:sp>
        <p:nvSpPr>
          <p:cNvPr id="31" name="Text 22"/>
          <p:cNvSpPr/>
          <p:nvPr/>
        </p:nvSpPr>
        <p:spPr>
          <a:xfrm>
            <a:off x="6489040" y="4105656"/>
            <a:ext cx="4943704" cy="612648"/>
          </a:xfrm>
          <a:prstGeom prst="rect">
            <a:avLst/>
          </a:prstGeom>
          <a:noFill/>
          <a:ln/>
        </p:spPr>
        <p:txBody>
          <a:bodyPr wrap="square" lIns="0" tIns="0" rIns="0" bIns="0" rtlCol="0" anchor="ctr"/>
          <a:lstStyle/>
          <a:p>
            <a:pPr marL="0" indent="0">
              <a:lnSpc>
                <a:spcPct val="140000"/>
              </a:lnSpc>
              <a:buNone/>
            </a:pPr>
            <a:r>
              <a:rPr lang="en-US" sz="1150" dirty="0">
                <a:solidFill>
                  <a:srgbClr val="526579"/>
                </a:solidFill>
                <a:latin typeface="Poppins" pitchFamily="34" charset="0"/>
                <a:ea typeface="Poppins" pitchFamily="34" charset="-122"/>
                <a:cs typeface="Poppins" pitchFamily="34" charset="-120"/>
              </a:rPr>
              <a:t>Recherche rapide d'élèves, enseignants, classes, paiements.</a:t>
            </a:r>
            <a:endParaRPr lang="en-US" sz="1150" dirty="0"/>
          </a:p>
        </p:txBody>
      </p:sp>
      <p:sp>
        <p:nvSpPr>
          <p:cNvPr id="32" name="Shape 23"/>
          <p:cNvSpPr/>
          <p:nvPr/>
        </p:nvSpPr>
        <p:spPr>
          <a:xfrm>
            <a:off x="502920" y="5111496"/>
            <a:ext cx="11185855" cy="914400"/>
          </a:xfrm>
          <a:prstGeom prst="roundRect">
            <a:avLst>
              <a:gd name="adj" fmla="val 12000"/>
            </a:avLst>
          </a:prstGeom>
          <a:solidFill>
            <a:srgbClr val="0F5ED7"/>
          </a:solidFill>
          <a:ln w="12700">
            <a:solidFill>
              <a:srgbClr val="0F5ED7"/>
            </a:solidFill>
            <a:prstDash val="solid"/>
          </a:ln>
          <a:effectLst>
            <a:outerShdw blurRad="127000" dist="38100" dir="5400000" algn="bl" rotWithShape="0">
              <a:srgbClr val="0F5ED7">
                <a:alpha val="12000"/>
              </a:srgbClr>
            </a:outerShdw>
          </a:effectLst>
        </p:spPr>
      </p:sp>
      <p:sp>
        <p:nvSpPr>
          <p:cNvPr id="33" name="Shape 24"/>
          <p:cNvSpPr/>
          <p:nvPr/>
        </p:nvSpPr>
        <p:spPr>
          <a:xfrm>
            <a:off x="758952" y="5321808"/>
            <a:ext cx="493776" cy="493776"/>
          </a:xfrm>
          <a:prstGeom prst="roundRect">
            <a:avLst>
              <a:gd name="adj" fmla="val 18519"/>
            </a:avLst>
          </a:prstGeom>
          <a:solidFill>
            <a:srgbClr val="1B6EE8"/>
          </a:solidFill>
          <a:ln/>
        </p:spPr>
      </p:sp>
      <p:pic>
        <p:nvPicPr>
          <p:cNvPr id="34" name="Image 7" descr="/home/claude/icons/chartLine.png"/>
          <p:cNvPicPr>
            <a:picLocks noChangeAspect="1"/>
          </p:cNvPicPr>
          <p:nvPr/>
        </p:nvPicPr>
        <p:blipFill>
          <a:blip r:embed="rId10"/>
          <a:stretch>
            <a:fillRect/>
          </a:stretch>
        </p:blipFill>
        <p:spPr>
          <a:xfrm>
            <a:off x="877824" y="5440680"/>
            <a:ext cx="256032" cy="256032"/>
          </a:xfrm>
          <a:prstGeom prst="rect">
            <a:avLst/>
          </a:prstGeom>
        </p:spPr>
      </p:pic>
      <p:sp>
        <p:nvSpPr>
          <p:cNvPr id="35" name="Text 25"/>
          <p:cNvSpPr/>
          <p:nvPr/>
        </p:nvSpPr>
        <p:spPr>
          <a:xfrm>
            <a:off x="1417320" y="5248656"/>
            <a:ext cx="3017520" cy="640080"/>
          </a:xfrm>
          <a:prstGeom prst="rect">
            <a:avLst/>
          </a:prstGeom>
          <a:noFill/>
          <a:ln/>
        </p:spPr>
        <p:txBody>
          <a:bodyPr wrap="square" lIns="0" tIns="0" rIns="0" bIns="0" rtlCol="0" anchor="ctr"/>
          <a:lstStyle/>
          <a:p>
            <a:pPr marL="0" indent="0">
              <a:buNone/>
            </a:pPr>
            <a:r>
              <a:rPr lang="en-US" sz="1600" b="1" dirty="0">
                <a:solidFill>
                  <a:srgbClr val="FFFFFF"/>
                </a:solidFill>
                <a:latin typeface="Poppins" pitchFamily="34" charset="0"/>
                <a:ea typeface="Poppins" pitchFamily="34" charset="-122"/>
                <a:cs typeface="Poppins" pitchFamily="34" charset="-120"/>
              </a:rPr>
              <a:t>Tableau de bord</a:t>
            </a:r>
            <a:endParaRPr lang="en-US" sz="1600" dirty="0"/>
          </a:p>
        </p:txBody>
      </p:sp>
      <p:sp>
        <p:nvSpPr>
          <p:cNvPr id="36" name="Text 26"/>
          <p:cNvSpPr/>
          <p:nvPr/>
        </p:nvSpPr>
        <p:spPr>
          <a:xfrm>
            <a:off x="4434840" y="5111496"/>
            <a:ext cx="6979615" cy="914400"/>
          </a:xfrm>
          <a:prstGeom prst="rect">
            <a:avLst/>
          </a:prstGeom>
          <a:noFill/>
          <a:ln/>
        </p:spPr>
        <p:txBody>
          <a:bodyPr wrap="square" lIns="0" tIns="0" rIns="0" bIns="0" rtlCol="0" anchor="ctr"/>
          <a:lstStyle/>
          <a:p>
            <a:pPr marL="0" indent="0">
              <a:lnSpc>
                <a:spcPct val="135000"/>
              </a:lnSpc>
              <a:buNone/>
            </a:pPr>
            <a:r>
              <a:rPr lang="en-US" sz="1300" dirty="0">
                <a:solidFill>
                  <a:srgbClr val="DCE9FF"/>
                </a:solidFill>
                <a:latin typeface="Poppins" pitchFamily="34" charset="0"/>
                <a:ea typeface="Poppins" pitchFamily="34" charset="-122"/>
                <a:cs typeface="Poppins" pitchFamily="34" charset="-120"/>
              </a:rPr>
              <a:t>Statistiques et indicateurs clés : effectifs, performances, finances</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02920" y="384048"/>
            <a:ext cx="566928" cy="566928"/>
          </a:xfrm>
          <a:prstGeom prst="roundRect">
            <a:avLst>
              <a:gd name="adj" fmla="val 19355"/>
            </a:avLst>
          </a:prstGeom>
          <a:solidFill>
            <a:srgbClr val="E9F0FE"/>
          </a:solidFill>
          <a:ln/>
        </p:spPr>
      </p:sp>
      <p:pic>
        <p:nvPicPr>
          <p:cNvPr id="3" name="Image 0" descr="/home/claude/icons/users.png"/>
          <p:cNvPicPr>
            <a:picLocks noChangeAspect="1"/>
          </p:cNvPicPr>
          <p:nvPr/>
        </p:nvPicPr>
        <p:blipFill>
          <a:blip r:embed="rId4"/>
          <a:stretch>
            <a:fillRect/>
          </a:stretch>
        </p:blipFill>
        <p:spPr>
          <a:xfrm>
            <a:off x="621792" y="502920"/>
            <a:ext cx="329184" cy="329184"/>
          </a:xfrm>
          <a:prstGeom prst="rect">
            <a:avLst/>
          </a:prstGeom>
        </p:spPr>
      </p:pic>
      <p:sp>
        <p:nvSpPr>
          <p:cNvPr id="4" name="Text 1"/>
          <p:cNvSpPr/>
          <p:nvPr/>
        </p:nvSpPr>
        <p:spPr>
          <a:xfrm>
            <a:off x="1252728" y="310896"/>
            <a:ext cx="10436047" cy="457200"/>
          </a:xfrm>
          <a:prstGeom prst="rect">
            <a:avLst/>
          </a:prstGeom>
          <a:noFill/>
          <a:ln/>
        </p:spPr>
        <p:txBody>
          <a:bodyPr wrap="square" lIns="0" tIns="0" rIns="0" bIns="0" rtlCol="0" anchor="b"/>
          <a:lstStyle/>
          <a:p>
            <a:pPr marL="0" indent="0" algn="l">
              <a:buNone/>
            </a:pPr>
            <a:r>
              <a:rPr lang="en-US" sz="2600" b="1" kern="0" spc="-30" dirty="0">
                <a:solidFill>
                  <a:srgbClr val="102033"/>
                </a:solidFill>
                <a:latin typeface="Poppins" pitchFamily="34" charset="0"/>
                <a:ea typeface="Poppins" pitchFamily="34" charset="-122"/>
                <a:cs typeface="Poppins" pitchFamily="34" charset="-120"/>
              </a:rPr>
              <a:t>Utilisateurs &amp; rôles</a:t>
            </a:r>
            <a:endParaRPr lang="en-US" sz="2600" dirty="0"/>
          </a:p>
        </p:txBody>
      </p:sp>
      <p:sp>
        <p:nvSpPr>
          <p:cNvPr id="5" name="Text 2"/>
          <p:cNvSpPr/>
          <p:nvPr/>
        </p:nvSpPr>
        <p:spPr>
          <a:xfrm>
            <a:off x="1252728" y="749808"/>
            <a:ext cx="10436047" cy="292608"/>
          </a:xfrm>
          <a:prstGeom prst="rect">
            <a:avLst/>
          </a:prstGeom>
          <a:noFill/>
          <a:ln/>
        </p:spPr>
        <p:txBody>
          <a:bodyPr wrap="square" lIns="0" tIns="0" rIns="0" bIns="0" rtlCol="0" anchor="t"/>
          <a:lstStyle/>
          <a:p>
            <a:pPr marL="0" indent="0" algn="l">
              <a:buNone/>
            </a:pPr>
            <a:r>
              <a:rPr lang="en-US" sz="1300" dirty="0">
                <a:solidFill>
                  <a:srgbClr val="526579"/>
                </a:solidFill>
                <a:latin typeface="Poppins" pitchFamily="34" charset="0"/>
                <a:ea typeface="Poppins" pitchFamily="34" charset="-122"/>
                <a:cs typeface="Poppins" pitchFamily="34" charset="-120"/>
              </a:rPr>
              <a:t>Quatre profils, quatre niveaux d'accès</a:t>
            </a:r>
            <a:endParaRPr lang="en-US" sz="1300" dirty="0"/>
          </a:p>
        </p:txBody>
      </p:sp>
      <p:sp>
        <p:nvSpPr>
          <p:cNvPr id="6" name="Shape 3"/>
          <p:cNvSpPr/>
          <p:nvPr/>
        </p:nvSpPr>
        <p:spPr>
          <a:xfrm>
            <a:off x="502920" y="1170432"/>
            <a:ext cx="11185855" cy="0"/>
          </a:xfrm>
          <a:prstGeom prst="line">
            <a:avLst/>
          </a:prstGeom>
          <a:noFill/>
          <a:ln w="15875">
            <a:solidFill>
              <a:srgbClr val="D8E2F3"/>
            </a:solidFill>
            <a:prstDash val="solid"/>
          </a:ln>
        </p:spPr>
      </p:sp>
      <p:pic>
        <p:nvPicPr>
          <p:cNvPr id="7" name="Image 1" descr="/home/claude/icons/school.png"/>
          <p:cNvPicPr>
            <a:picLocks noChangeAspect="1"/>
          </p:cNvPicPr>
          <p:nvPr/>
        </p:nvPicPr>
        <p:blipFill>
          <a:blip r:embed="rId5"/>
          <a:stretch>
            <a:fillRect/>
          </a:stretch>
        </p:blipFill>
        <p:spPr>
          <a:xfrm>
            <a:off x="502920" y="6528816"/>
            <a:ext cx="146304" cy="146304"/>
          </a:xfrm>
          <a:prstGeom prst="rect">
            <a:avLst/>
          </a:prstGeom>
        </p:spPr>
      </p:pic>
      <p:sp>
        <p:nvSpPr>
          <p:cNvPr id="8" name="Shape 4"/>
          <p:cNvSpPr/>
          <p:nvPr/>
        </p:nvSpPr>
        <p:spPr>
          <a:xfrm>
            <a:off x="475488" y="6501384"/>
            <a:ext cx="201168" cy="201168"/>
          </a:xfrm>
          <a:prstGeom prst="line">
            <a:avLst/>
          </a:prstGeom>
          <a:solidFill>
            <a:srgbClr val="0F5ED7"/>
          </a:solidFill>
          <a:ln/>
        </p:spPr>
      </p:sp>
      <p:pic>
        <p:nvPicPr>
          <p:cNvPr id="9" name="Image 2" descr="/home/claude/icons/school.png"/>
          <p:cNvPicPr>
            <a:picLocks noChangeAspect="1"/>
          </p:cNvPicPr>
          <p:nvPr/>
        </p:nvPicPr>
        <p:blipFill>
          <a:blip r:embed="rId5"/>
          <a:stretch>
            <a:fillRect/>
          </a:stretch>
        </p:blipFill>
        <p:spPr>
          <a:xfrm>
            <a:off x="516636" y="6533388"/>
            <a:ext cx="137160" cy="137160"/>
          </a:xfrm>
          <a:prstGeom prst="rect">
            <a:avLst/>
          </a:prstGeom>
        </p:spPr>
      </p:pic>
      <p:sp>
        <p:nvSpPr>
          <p:cNvPr id="10" name="Text 5"/>
          <p:cNvSpPr/>
          <p:nvPr/>
        </p:nvSpPr>
        <p:spPr>
          <a:xfrm>
            <a:off x="777240" y="6473952"/>
            <a:ext cx="5943600" cy="274320"/>
          </a:xfrm>
          <a:prstGeom prst="rect">
            <a:avLst/>
          </a:prstGeom>
          <a:noFill/>
          <a:ln/>
        </p:spPr>
        <p:txBody>
          <a:bodyPr wrap="square" lIns="0" tIns="0" rIns="0" bIns="0" rtlCol="0" anchor="ctr"/>
          <a:lstStyle/>
          <a:p>
            <a:pPr marL="0" indent="0">
              <a:buNone/>
            </a:pPr>
            <a:r>
              <a:rPr lang="en-US" sz="950" dirty="0">
                <a:solidFill>
                  <a:srgbClr val="526579"/>
                </a:solidFill>
                <a:latin typeface="Poppins" pitchFamily="34" charset="0"/>
                <a:ea typeface="Poppins" pitchFamily="34" charset="-122"/>
                <a:cs typeface="Poppins" pitchFamily="34" charset="-120"/>
              </a:rPr>
              <a:t>Groupe Y  •  Gestion d'un établissement scolaire</a:t>
            </a:r>
            <a:endParaRPr lang="en-US" sz="950" dirty="0"/>
          </a:p>
        </p:txBody>
      </p:sp>
      <p:sp>
        <p:nvSpPr>
          <p:cNvPr id="11" name="Text 6"/>
          <p:cNvSpPr/>
          <p:nvPr/>
        </p:nvSpPr>
        <p:spPr>
          <a:xfrm>
            <a:off x="10591495" y="6473952"/>
            <a:ext cx="1097280" cy="274320"/>
          </a:xfrm>
          <a:prstGeom prst="rect">
            <a:avLst/>
          </a:prstGeom>
          <a:noFill/>
          <a:ln/>
        </p:spPr>
        <p:txBody>
          <a:bodyPr wrap="square" lIns="0" tIns="0" rIns="0" bIns="0" rtlCol="0" anchor="ctr"/>
          <a:lstStyle/>
          <a:p>
            <a:pPr marL="0" indent="0" algn="r">
              <a:buNone/>
            </a:pPr>
            <a:r>
              <a:rPr lang="en-US" sz="950" dirty="0">
                <a:solidFill>
                  <a:srgbClr val="526579"/>
                </a:solidFill>
                <a:latin typeface="JetBrains Mono" pitchFamily="34" charset="0"/>
                <a:ea typeface="JetBrains Mono" pitchFamily="34" charset="-122"/>
                <a:cs typeface="JetBrains Mono" pitchFamily="34" charset="-120"/>
              </a:rPr>
              <a:t>08</a:t>
            </a:r>
            <a:endParaRPr lang="en-US" sz="950" dirty="0"/>
          </a:p>
        </p:txBody>
      </p:sp>
      <p:sp>
        <p:nvSpPr>
          <p:cNvPr id="12" name="Shape 7"/>
          <p:cNvSpPr/>
          <p:nvPr/>
        </p:nvSpPr>
        <p:spPr>
          <a:xfrm>
            <a:off x="502920" y="1417320"/>
            <a:ext cx="2631872" cy="4617720"/>
          </a:xfrm>
          <a:prstGeom prst="roundRect">
            <a:avLst>
              <a:gd name="adj" fmla="val 4169"/>
            </a:avLst>
          </a:prstGeom>
          <a:solidFill>
            <a:srgbClr val="FFFFFF"/>
          </a:solidFill>
          <a:ln w="12700">
            <a:solidFill>
              <a:srgbClr val="D8E2F3"/>
            </a:solidFill>
            <a:prstDash val="solid"/>
          </a:ln>
          <a:effectLst>
            <a:outerShdw blurRad="127000" dist="38100" dir="5400000" algn="bl" rotWithShape="0">
              <a:srgbClr val="0F5ED7">
                <a:alpha val="12000"/>
              </a:srgbClr>
            </a:outerShdw>
          </a:effectLst>
        </p:spPr>
      </p:sp>
      <p:sp>
        <p:nvSpPr>
          <p:cNvPr id="13" name="Shape 8"/>
          <p:cNvSpPr/>
          <p:nvPr/>
        </p:nvSpPr>
        <p:spPr>
          <a:xfrm>
            <a:off x="502920" y="1417320"/>
            <a:ext cx="2631872" cy="1234440"/>
          </a:xfrm>
          <a:prstGeom prst="roundRect">
            <a:avLst>
              <a:gd name="adj" fmla="val 8889"/>
            </a:avLst>
          </a:prstGeom>
          <a:solidFill>
            <a:srgbClr val="0F5ED7"/>
          </a:solidFill>
          <a:ln/>
        </p:spPr>
      </p:sp>
      <p:sp>
        <p:nvSpPr>
          <p:cNvPr id="14" name="Shape 9"/>
          <p:cNvSpPr/>
          <p:nvPr/>
        </p:nvSpPr>
        <p:spPr>
          <a:xfrm>
            <a:off x="502920" y="2029968"/>
            <a:ext cx="2631872" cy="621792"/>
          </a:xfrm>
          <a:prstGeom prst="rect">
            <a:avLst/>
          </a:prstGeom>
          <a:solidFill>
            <a:srgbClr val="0F5ED7"/>
          </a:solidFill>
          <a:ln/>
        </p:spPr>
      </p:sp>
      <p:sp>
        <p:nvSpPr>
          <p:cNvPr id="15" name="Shape 10"/>
          <p:cNvSpPr/>
          <p:nvPr/>
        </p:nvSpPr>
        <p:spPr>
          <a:xfrm>
            <a:off x="1507960" y="1618488"/>
            <a:ext cx="621792" cy="621792"/>
          </a:xfrm>
          <a:prstGeom prst="line">
            <a:avLst/>
          </a:prstGeom>
          <a:solidFill>
            <a:srgbClr val="1B6EE8"/>
          </a:solidFill>
          <a:ln/>
        </p:spPr>
      </p:sp>
      <p:pic>
        <p:nvPicPr>
          <p:cNvPr id="16" name="Image 3" descr="/home/claude/icons/userShield.png"/>
          <p:cNvPicPr>
            <a:picLocks noChangeAspect="1"/>
          </p:cNvPicPr>
          <p:nvPr/>
        </p:nvPicPr>
        <p:blipFill>
          <a:blip r:embed="rId6"/>
          <a:stretch>
            <a:fillRect/>
          </a:stretch>
        </p:blipFill>
        <p:spPr>
          <a:xfrm>
            <a:off x="1645120" y="1755648"/>
            <a:ext cx="347472" cy="347472"/>
          </a:xfrm>
          <a:prstGeom prst="rect">
            <a:avLst/>
          </a:prstGeom>
        </p:spPr>
      </p:pic>
      <p:sp>
        <p:nvSpPr>
          <p:cNvPr id="17" name="Text 11"/>
          <p:cNvSpPr/>
          <p:nvPr/>
        </p:nvSpPr>
        <p:spPr>
          <a:xfrm>
            <a:off x="502920" y="2267712"/>
            <a:ext cx="2631872" cy="320040"/>
          </a:xfrm>
          <a:prstGeom prst="rect">
            <a:avLst/>
          </a:prstGeom>
          <a:noFill/>
          <a:ln/>
        </p:spPr>
        <p:txBody>
          <a:bodyPr wrap="square" lIns="0" tIns="0" rIns="0" bIns="0" rtlCol="0" anchor="ctr"/>
          <a:lstStyle/>
          <a:p>
            <a:pPr marL="0" indent="0" algn="ctr">
              <a:buNone/>
            </a:pPr>
            <a:r>
              <a:rPr lang="en-US" sz="1450" b="1" dirty="0">
                <a:solidFill>
                  <a:srgbClr val="FFFFFF"/>
                </a:solidFill>
                <a:latin typeface="Poppins" pitchFamily="34" charset="0"/>
                <a:ea typeface="Poppins" pitchFamily="34" charset="-122"/>
                <a:cs typeface="Poppins" pitchFamily="34" charset="-120"/>
              </a:rPr>
              <a:t>Administrateur</a:t>
            </a:r>
            <a:endParaRPr lang="en-US" sz="1450" dirty="0"/>
          </a:p>
        </p:txBody>
      </p:sp>
      <p:sp>
        <p:nvSpPr>
          <p:cNvPr id="18" name="Text 12"/>
          <p:cNvSpPr/>
          <p:nvPr/>
        </p:nvSpPr>
        <p:spPr>
          <a:xfrm>
            <a:off x="667512" y="2770632"/>
            <a:ext cx="2302688" cy="365760"/>
          </a:xfrm>
          <a:prstGeom prst="rect">
            <a:avLst/>
          </a:prstGeom>
          <a:noFill/>
          <a:ln/>
        </p:spPr>
        <p:txBody>
          <a:bodyPr wrap="square" lIns="0" tIns="0" rIns="0" bIns="0" rtlCol="0" anchor="ctr"/>
          <a:lstStyle/>
          <a:p>
            <a:pPr marL="0" indent="0" algn="ctr">
              <a:buNone/>
            </a:pPr>
            <a:r>
              <a:rPr lang="en-US" sz="1000" i="1" dirty="0">
                <a:solidFill>
                  <a:srgbClr val="526579"/>
                </a:solidFill>
                <a:latin typeface="Poppins" pitchFamily="34" charset="0"/>
                <a:ea typeface="Poppins" pitchFamily="34" charset="-122"/>
                <a:cs typeface="Poppins" pitchFamily="34" charset="-120"/>
              </a:rPr>
              <a:t>Directeur</a:t>
            </a:r>
            <a:endParaRPr lang="en-US" sz="1000" dirty="0"/>
          </a:p>
        </p:txBody>
      </p:sp>
      <p:sp>
        <p:nvSpPr>
          <p:cNvPr id="19" name="Text 13"/>
          <p:cNvSpPr/>
          <p:nvPr/>
        </p:nvSpPr>
        <p:spPr>
          <a:xfrm>
            <a:off x="722376" y="3200400"/>
            <a:ext cx="2192960" cy="2651760"/>
          </a:xfrm>
          <a:prstGeom prst="rect">
            <a:avLst/>
          </a:prstGeom>
          <a:noFill/>
          <a:ln/>
        </p:spPr>
        <p:txBody>
          <a:bodyPr wrap="square" lIns="0" tIns="0" rIns="0" bIns="0" rtlCol="0" anchor="t"/>
          <a:lstStyle/>
          <a:p>
            <a:pPr marL="152400" indent="-152400">
              <a:lnSpc>
                <a:spcPct val="130000"/>
              </a:lnSpc>
              <a:spcAft>
                <a:spcPts val="1000"/>
              </a:spcAft>
              <a:buSzPct val="100000"/>
              <a:buChar char="•"/>
            </a:pPr>
            <a:r>
              <a:rPr lang="en-US" sz="1100" dirty="0">
                <a:solidFill>
                  <a:srgbClr val="102033"/>
                </a:solidFill>
                <a:latin typeface="Poppins" pitchFamily="34" charset="0"/>
                <a:ea typeface="Poppins" pitchFamily="34" charset="-122"/>
                <a:cs typeface="Poppins" pitchFamily="34" charset="-120"/>
              </a:rPr>
              <a:t>Gère utilisateurs &amp; droits d'accès</a:t>
            </a:r>
            <a:endParaRPr lang="en-US" sz="1100" dirty="0"/>
          </a:p>
          <a:p>
            <a:pPr marL="152400" indent="-152400">
              <a:lnSpc>
                <a:spcPct val="130000"/>
              </a:lnSpc>
              <a:spcAft>
                <a:spcPts val="1000"/>
              </a:spcAft>
              <a:buSzPct val="100000"/>
              <a:buChar char="•"/>
            </a:pPr>
            <a:r>
              <a:rPr lang="en-US" sz="1100" dirty="0">
                <a:solidFill>
                  <a:srgbClr val="102033"/>
                </a:solidFill>
                <a:latin typeface="Poppins" pitchFamily="34" charset="0"/>
                <a:ea typeface="Poppins" pitchFamily="34" charset="-122"/>
                <a:cs typeface="Poppins" pitchFamily="34" charset="-120"/>
              </a:rPr>
              <a:t>Configure classes, matières, année scolaire</a:t>
            </a:r>
            <a:endParaRPr lang="en-US" sz="1100" dirty="0"/>
          </a:p>
          <a:p>
            <a:pPr marL="152400" indent="-152400">
              <a:lnSpc>
                <a:spcPct val="130000"/>
              </a:lnSpc>
              <a:spcAft>
                <a:spcPts val="1000"/>
              </a:spcAft>
              <a:buSzPct val="100000"/>
              <a:buChar char="•"/>
            </a:pPr>
            <a:r>
              <a:rPr lang="en-US" sz="1100" dirty="0">
                <a:solidFill>
                  <a:srgbClr val="102033"/>
                </a:solidFill>
                <a:latin typeface="Poppins" pitchFamily="34" charset="0"/>
                <a:ea typeface="Poppins" pitchFamily="34" charset="-122"/>
                <a:cs typeface="Poppins" pitchFamily="34" charset="-120"/>
              </a:rPr>
              <a:t>Supervise &amp; consulte les statistiques globales</a:t>
            </a:r>
            <a:endParaRPr lang="en-US" sz="1100" dirty="0"/>
          </a:p>
        </p:txBody>
      </p:sp>
      <p:sp>
        <p:nvSpPr>
          <p:cNvPr id="20" name="Shape 14"/>
          <p:cNvSpPr/>
          <p:nvPr/>
        </p:nvSpPr>
        <p:spPr>
          <a:xfrm>
            <a:off x="3354248" y="1417320"/>
            <a:ext cx="2631872" cy="4617720"/>
          </a:xfrm>
          <a:prstGeom prst="roundRect">
            <a:avLst>
              <a:gd name="adj" fmla="val 4169"/>
            </a:avLst>
          </a:prstGeom>
          <a:solidFill>
            <a:srgbClr val="FFFFFF"/>
          </a:solidFill>
          <a:ln w="12700">
            <a:solidFill>
              <a:srgbClr val="D8E2F3"/>
            </a:solidFill>
            <a:prstDash val="solid"/>
          </a:ln>
          <a:effectLst>
            <a:outerShdw blurRad="127000" dist="38100" dir="5400000" algn="bl" rotWithShape="0">
              <a:srgbClr val="0F5ED7">
                <a:alpha val="12000"/>
              </a:srgbClr>
            </a:outerShdw>
          </a:effectLst>
        </p:spPr>
      </p:sp>
      <p:sp>
        <p:nvSpPr>
          <p:cNvPr id="21" name="Shape 15"/>
          <p:cNvSpPr/>
          <p:nvPr/>
        </p:nvSpPr>
        <p:spPr>
          <a:xfrm>
            <a:off x="3354248" y="1417320"/>
            <a:ext cx="2631872" cy="1234440"/>
          </a:xfrm>
          <a:prstGeom prst="roundRect">
            <a:avLst>
              <a:gd name="adj" fmla="val 8889"/>
            </a:avLst>
          </a:prstGeom>
          <a:solidFill>
            <a:srgbClr val="0F5ED7"/>
          </a:solidFill>
          <a:ln/>
        </p:spPr>
      </p:sp>
      <p:sp>
        <p:nvSpPr>
          <p:cNvPr id="22" name="Shape 16"/>
          <p:cNvSpPr/>
          <p:nvPr/>
        </p:nvSpPr>
        <p:spPr>
          <a:xfrm>
            <a:off x="3354248" y="2029968"/>
            <a:ext cx="2631872" cy="621792"/>
          </a:xfrm>
          <a:prstGeom prst="rect">
            <a:avLst/>
          </a:prstGeom>
          <a:solidFill>
            <a:srgbClr val="0F5ED7"/>
          </a:solidFill>
          <a:ln/>
        </p:spPr>
      </p:sp>
      <p:sp>
        <p:nvSpPr>
          <p:cNvPr id="23" name="Shape 17"/>
          <p:cNvSpPr/>
          <p:nvPr/>
        </p:nvSpPr>
        <p:spPr>
          <a:xfrm>
            <a:off x="4359288" y="1618488"/>
            <a:ext cx="621792" cy="621792"/>
          </a:xfrm>
          <a:prstGeom prst="line">
            <a:avLst/>
          </a:prstGeom>
          <a:solidFill>
            <a:srgbClr val="1B6EE8"/>
          </a:solidFill>
          <a:ln/>
        </p:spPr>
      </p:sp>
      <p:pic>
        <p:nvPicPr>
          <p:cNvPr id="24" name="Image 4" descr="/home/claude/icons/chalkboardUser.png"/>
          <p:cNvPicPr>
            <a:picLocks noChangeAspect="1"/>
          </p:cNvPicPr>
          <p:nvPr/>
        </p:nvPicPr>
        <p:blipFill>
          <a:blip r:embed="rId7"/>
          <a:stretch>
            <a:fillRect/>
          </a:stretch>
        </p:blipFill>
        <p:spPr>
          <a:xfrm>
            <a:off x="4496448" y="1755648"/>
            <a:ext cx="347472" cy="347472"/>
          </a:xfrm>
          <a:prstGeom prst="rect">
            <a:avLst/>
          </a:prstGeom>
        </p:spPr>
      </p:pic>
      <p:sp>
        <p:nvSpPr>
          <p:cNvPr id="25" name="Text 18"/>
          <p:cNvSpPr/>
          <p:nvPr/>
        </p:nvSpPr>
        <p:spPr>
          <a:xfrm>
            <a:off x="3354248" y="2267712"/>
            <a:ext cx="2631872" cy="320040"/>
          </a:xfrm>
          <a:prstGeom prst="rect">
            <a:avLst/>
          </a:prstGeom>
          <a:noFill/>
          <a:ln/>
        </p:spPr>
        <p:txBody>
          <a:bodyPr wrap="square" lIns="0" tIns="0" rIns="0" bIns="0" rtlCol="0" anchor="ctr"/>
          <a:lstStyle/>
          <a:p>
            <a:pPr marL="0" indent="0" algn="ctr">
              <a:buNone/>
            </a:pPr>
            <a:r>
              <a:rPr lang="en-US" sz="1450" b="1" dirty="0">
                <a:solidFill>
                  <a:srgbClr val="FFFFFF"/>
                </a:solidFill>
                <a:latin typeface="Poppins" pitchFamily="34" charset="0"/>
                <a:ea typeface="Poppins" pitchFamily="34" charset="-122"/>
                <a:cs typeface="Poppins" pitchFamily="34" charset="-120"/>
              </a:rPr>
              <a:t>Enseignant</a:t>
            </a:r>
            <a:endParaRPr lang="en-US" sz="1450" dirty="0"/>
          </a:p>
        </p:txBody>
      </p:sp>
      <p:sp>
        <p:nvSpPr>
          <p:cNvPr id="26" name="Text 19"/>
          <p:cNvSpPr/>
          <p:nvPr/>
        </p:nvSpPr>
        <p:spPr>
          <a:xfrm>
            <a:off x="3518840" y="2770632"/>
            <a:ext cx="2302688" cy="365760"/>
          </a:xfrm>
          <a:prstGeom prst="rect">
            <a:avLst/>
          </a:prstGeom>
          <a:noFill/>
          <a:ln/>
        </p:spPr>
        <p:txBody>
          <a:bodyPr wrap="square" lIns="0" tIns="0" rIns="0" bIns="0" rtlCol="0" anchor="ctr"/>
          <a:lstStyle/>
          <a:p>
            <a:pPr marL="0" indent="0" algn="ctr">
              <a:buNone/>
            </a:pPr>
            <a:r>
              <a:rPr lang="en-US" sz="1000" i="1" dirty="0">
                <a:solidFill>
                  <a:srgbClr val="526579"/>
                </a:solidFill>
                <a:latin typeface="Poppins" pitchFamily="34" charset="0"/>
                <a:ea typeface="Poppins" pitchFamily="34" charset="-122"/>
                <a:cs typeface="Poppins" pitchFamily="34" charset="-120"/>
              </a:rPr>
              <a:t>Encadrement pédagogique</a:t>
            </a:r>
            <a:endParaRPr lang="en-US" sz="1000" dirty="0"/>
          </a:p>
        </p:txBody>
      </p:sp>
      <p:sp>
        <p:nvSpPr>
          <p:cNvPr id="27" name="Text 20"/>
          <p:cNvSpPr/>
          <p:nvPr/>
        </p:nvSpPr>
        <p:spPr>
          <a:xfrm>
            <a:off x="3573704" y="3200400"/>
            <a:ext cx="2192960" cy="2651760"/>
          </a:xfrm>
          <a:prstGeom prst="rect">
            <a:avLst/>
          </a:prstGeom>
          <a:noFill/>
          <a:ln/>
        </p:spPr>
        <p:txBody>
          <a:bodyPr wrap="square" lIns="0" tIns="0" rIns="0" bIns="0" rtlCol="0" anchor="t"/>
          <a:lstStyle/>
          <a:p>
            <a:pPr marL="152400" indent="-152400">
              <a:lnSpc>
                <a:spcPct val="130000"/>
              </a:lnSpc>
              <a:spcAft>
                <a:spcPts val="1000"/>
              </a:spcAft>
              <a:buSzPct val="100000"/>
              <a:buChar char="•"/>
            </a:pPr>
            <a:r>
              <a:rPr lang="en-US" sz="1100" dirty="0">
                <a:solidFill>
                  <a:srgbClr val="102033"/>
                </a:solidFill>
                <a:latin typeface="Poppins" pitchFamily="34" charset="0"/>
                <a:ea typeface="Poppins" pitchFamily="34" charset="-122"/>
                <a:cs typeface="Poppins" pitchFamily="34" charset="-120"/>
              </a:rPr>
              <a:t>Consulte ses classes et élèves</a:t>
            </a:r>
            <a:endParaRPr lang="en-US" sz="1100" dirty="0"/>
          </a:p>
          <a:p>
            <a:pPr marL="152400" indent="-152400">
              <a:lnSpc>
                <a:spcPct val="130000"/>
              </a:lnSpc>
              <a:spcAft>
                <a:spcPts val="1000"/>
              </a:spcAft>
              <a:buSzPct val="100000"/>
              <a:buChar char="•"/>
            </a:pPr>
            <a:r>
              <a:rPr lang="en-US" sz="1100" dirty="0">
                <a:solidFill>
                  <a:srgbClr val="102033"/>
                </a:solidFill>
                <a:latin typeface="Poppins" pitchFamily="34" charset="0"/>
                <a:ea typeface="Poppins" pitchFamily="34" charset="-122"/>
                <a:cs typeface="Poppins" pitchFamily="34" charset="-120"/>
              </a:rPr>
              <a:t>Saisit notes et absences</a:t>
            </a:r>
            <a:endParaRPr lang="en-US" sz="1100" dirty="0"/>
          </a:p>
          <a:p>
            <a:pPr marL="152400" indent="-152400">
              <a:lnSpc>
                <a:spcPct val="130000"/>
              </a:lnSpc>
              <a:spcAft>
                <a:spcPts val="1000"/>
              </a:spcAft>
              <a:buSzPct val="100000"/>
              <a:buChar char="•"/>
            </a:pPr>
            <a:r>
              <a:rPr lang="en-US" sz="1100" dirty="0">
                <a:solidFill>
                  <a:srgbClr val="102033"/>
                </a:solidFill>
                <a:latin typeface="Poppins" pitchFamily="34" charset="0"/>
                <a:ea typeface="Poppins" pitchFamily="34" charset="-122"/>
                <a:cs typeface="Poppins" pitchFamily="34" charset="-120"/>
              </a:rPr>
              <a:t>Génère les bulletins</a:t>
            </a:r>
            <a:endParaRPr lang="en-US" sz="1100" dirty="0"/>
          </a:p>
        </p:txBody>
      </p:sp>
      <p:sp>
        <p:nvSpPr>
          <p:cNvPr id="28" name="Shape 21"/>
          <p:cNvSpPr/>
          <p:nvPr/>
        </p:nvSpPr>
        <p:spPr>
          <a:xfrm>
            <a:off x="6205576" y="1417320"/>
            <a:ext cx="2631872" cy="4617720"/>
          </a:xfrm>
          <a:prstGeom prst="roundRect">
            <a:avLst>
              <a:gd name="adj" fmla="val 4169"/>
            </a:avLst>
          </a:prstGeom>
          <a:solidFill>
            <a:srgbClr val="FFFFFF"/>
          </a:solidFill>
          <a:ln w="12700">
            <a:solidFill>
              <a:srgbClr val="D8E2F3"/>
            </a:solidFill>
            <a:prstDash val="solid"/>
          </a:ln>
          <a:effectLst>
            <a:outerShdw blurRad="127000" dist="38100" dir="5400000" algn="bl" rotWithShape="0">
              <a:srgbClr val="0F5ED7">
                <a:alpha val="12000"/>
              </a:srgbClr>
            </a:outerShdw>
          </a:effectLst>
        </p:spPr>
      </p:sp>
      <p:sp>
        <p:nvSpPr>
          <p:cNvPr id="29" name="Shape 22"/>
          <p:cNvSpPr/>
          <p:nvPr/>
        </p:nvSpPr>
        <p:spPr>
          <a:xfrm>
            <a:off x="6205576" y="1417320"/>
            <a:ext cx="2631872" cy="1234440"/>
          </a:xfrm>
          <a:prstGeom prst="roundRect">
            <a:avLst>
              <a:gd name="adj" fmla="val 8889"/>
            </a:avLst>
          </a:prstGeom>
          <a:solidFill>
            <a:srgbClr val="0F5ED7"/>
          </a:solidFill>
          <a:ln/>
        </p:spPr>
      </p:sp>
      <p:sp>
        <p:nvSpPr>
          <p:cNvPr id="30" name="Shape 23"/>
          <p:cNvSpPr/>
          <p:nvPr/>
        </p:nvSpPr>
        <p:spPr>
          <a:xfrm>
            <a:off x="6205576" y="2029968"/>
            <a:ext cx="2631872" cy="621792"/>
          </a:xfrm>
          <a:prstGeom prst="rect">
            <a:avLst/>
          </a:prstGeom>
          <a:solidFill>
            <a:srgbClr val="0F5ED7"/>
          </a:solidFill>
          <a:ln/>
        </p:spPr>
      </p:sp>
      <p:sp>
        <p:nvSpPr>
          <p:cNvPr id="31" name="Shape 24"/>
          <p:cNvSpPr/>
          <p:nvPr/>
        </p:nvSpPr>
        <p:spPr>
          <a:xfrm>
            <a:off x="7210615" y="1618488"/>
            <a:ext cx="621792" cy="621792"/>
          </a:xfrm>
          <a:prstGeom prst="line">
            <a:avLst/>
          </a:prstGeom>
          <a:solidFill>
            <a:srgbClr val="1B6EE8"/>
          </a:solidFill>
          <a:ln/>
        </p:spPr>
      </p:sp>
      <p:pic>
        <p:nvPicPr>
          <p:cNvPr id="32" name="Image 5" descr="/home/claude/icons/userGraduate.png"/>
          <p:cNvPicPr>
            <a:picLocks noChangeAspect="1"/>
          </p:cNvPicPr>
          <p:nvPr/>
        </p:nvPicPr>
        <p:blipFill>
          <a:blip r:embed="rId8"/>
          <a:stretch>
            <a:fillRect/>
          </a:stretch>
        </p:blipFill>
        <p:spPr>
          <a:xfrm>
            <a:off x="7347776" y="1755648"/>
            <a:ext cx="347472" cy="347472"/>
          </a:xfrm>
          <a:prstGeom prst="rect">
            <a:avLst/>
          </a:prstGeom>
        </p:spPr>
      </p:pic>
      <p:sp>
        <p:nvSpPr>
          <p:cNvPr id="33" name="Text 25"/>
          <p:cNvSpPr/>
          <p:nvPr/>
        </p:nvSpPr>
        <p:spPr>
          <a:xfrm>
            <a:off x="6205576" y="2267712"/>
            <a:ext cx="2631872" cy="320040"/>
          </a:xfrm>
          <a:prstGeom prst="rect">
            <a:avLst/>
          </a:prstGeom>
          <a:noFill/>
          <a:ln/>
        </p:spPr>
        <p:txBody>
          <a:bodyPr wrap="square" lIns="0" tIns="0" rIns="0" bIns="0" rtlCol="0" anchor="ctr"/>
          <a:lstStyle/>
          <a:p>
            <a:pPr marL="0" indent="0" algn="ctr">
              <a:buNone/>
            </a:pPr>
            <a:r>
              <a:rPr lang="en-US" sz="1450" b="1" dirty="0">
                <a:solidFill>
                  <a:srgbClr val="FFFFFF"/>
                </a:solidFill>
                <a:latin typeface="Poppins" pitchFamily="34" charset="0"/>
                <a:ea typeface="Poppins" pitchFamily="34" charset="-122"/>
                <a:cs typeface="Poppins" pitchFamily="34" charset="-120"/>
              </a:rPr>
              <a:t>Élève</a:t>
            </a:r>
            <a:endParaRPr lang="en-US" sz="1450" dirty="0"/>
          </a:p>
        </p:txBody>
      </p:sp>
      <p:sp>
        <p:nvSpPr>
          <p:cNvPr id="34" name="Text 26"/>
          <p:cNvSpPr/>
          <p:nvPr/>
        </p:nvSpPr>
        <p:spPr>
          <a:xfrm>
            <a:off x="6370168" y="2770632"/>
            <a:ext cx="2302688" cy="365760"/>
          </a:xfrm>
          <a:prstGeom prst="rect">
            <a:avLst/>
          </a:prstGeom>
          <a:noFill/>
          <a:ln/>
        </p:spPr>
        <p:txBody>
          <a:bodyPr wrap="square" lIns="0" tIns="0" rIns="0" bIns="0" rtlCol="0" anchor="ctr"/>
          <a:lstStyle/>
          <a:p>
            <a:pPr marL="0" indent="0" algn="ctr">
              <a:buNone/>
            </a:pPr>
            <a:r>
              <a:rPr lang="en-US" sz="1000" i="1" dirty="0">
                <a:solidFill>
                  <a:srgbClr val="526579"/>
                </a:solidFill>
                <a:latin typeface="Poppins" pitchFamily="34" charset="0"/>
                <a:ea typeface="Poppins" pitchFamily="34" charset="-122"/>
                <a:cs typeface="Poppins" pitchFamily="34" charset="-120"/>
              </a:rPr>
              <a:t>Bénéficiaire du système</a:t>
            </a:r>
            <a:endParaRPr lang="en-US" sz="1000" dirty="0"/>
          </a:p>
        </p:txBody>
      </p:sp>
      <p:sp>
        <p:nvSpPr>
          <p:cNvPr id="35" name="Text 27"/>
          <p:cNvSpPr/>
          <p:nvPr/>
        </p:nvSpPr>
        <p:spPr>
          <a:xfrm>
            <a:off x="6425032" y="3200400"/>
            <a:ext cx="2192960" cy="2651760"/>
          </a:xfrm>
          <a:prstGeom prst="rect">
            <a:avLst/>
          </a:prstGeom>
          <a:noFill/>
          <a:ln/>
        </p:spPr>
        <p:txBody>
          <a:bodyPr wrap="square" lIns="0" tIns="0" rIns="0" bIns="0" rtlCol="0" anchor="t"/>
          <a:lstStyle/>
          <a:p>
            <a:pPr marL="152400" indent="-152400">
              <a:lnSpc>
                <a:spcPct val="130000"/>
              </a:lnSpc>
              <a:spcAft>
                <a:spcPts val="1000"/>
              </a:spcAft>
              <a:buSzPct val="100000"/>
              <a:buChar char="•"/>
            </a:pPr>
            <a:r>
              <a:rPr lang="en-US" sz="1100" dirty="0">
                <a:solidFill>
                  <a:srgbClr val="102033"/>
                </a:solidFill>
                <a:latin typeface="Poppins" pitchFamily="34" charset="0"/>
                <a:ea typeface="Poppins" pitchFamily="34" charset="-122"/>
                <a:cs typeface="Poppins" pitchFamily="34" charset="-120"/>
              </a:rPr>
              <a:t>Consulte notes et bulletins</a:t>
            </a:r>
            <a:endParaRPr lang="en-US" sz="1100" dirty="0"/>
          </a:p>
          <a:p>
            <a:pPr marL="152400" indent="-152400">
              <a:lnSpc>
                <a:spcPct val="130000"/>
              </a:lnSpc>
              <a:spcAft>
                <a:spcPts val="1000"/>
              </a:spcAft>
              <a:buSzPct val="100000"/>
              <a:buChar char="•"/>
            </a:pPr>
            <a:r>
              <a:rPr lang="en-US" sz="1100" dirty="0">
                <a:solidFill>
                  <a:srgbClr val="102033"/>
                </a:solidFill>
                <a:latin typeface="Poppins" pitchFamily="34" charset="0"/>
                <a:ea typeface="Poppins" pitchFamily="34" charset="-122"/>
                <a:cs typeface="Poppins" pitchFamily="34" charset="-120"/>
              </a:rPr>
              <a:t>Consulte son emploi du temps</a:t>
            </a:r>
            <a:endParaRPr lang="en-US" sz="1100" dirty="0"/>
          </a:p>
          <a:p>
            <a:pPr marL="152400" indent="-152400">
              <a:lnSpc>
                <a:spcPct val="130000"/>
              </a:lnSpc>
              <a:spcAft>
                <a:spcPts val="1000"/>
              </a:spcAft>
              <a:buSzPct val="100000"/>
              <a:buChar char="•"/>
            </a:pPr>
            <a:r>
              <a:rPr lang="en-US" sz="1100" dirty="0">
                <a:solidFill>
                  <a:srgbClr val="102033"/>
                </a:solidFill>
                <a:latin typeface="Poppins" pitchFamily="34" charset="0"/>
                <a:ea typeface="Poppins" pitchFamily="34" charset="-122"/>
                <a:cs typeface="Poppins" pitchFamily="34" charset="-120"/>
              </a:rPr>
              <a:t>Reçoit notifications et annonces</a:t>
            </a:r>
            <a:endParaRPr lang="en-US" sz="1100" dirty="0"/>
          </a:p>
        </p:txBody>
      </p:sp>
      <p:sp>
        <p:nvSpPr>
          <p:cNvPr id="36" name="Shape 28"/>
          <p:cNvSpPr/>
          <p:nvPr/>
        </p:nvSpPr>
        <p:spPr>
          <a:xfrm>
            <a:off x="9056903" y="1417320"/>
            <a:ext cx="2631872" cy="4617720"/>
          </a:xfrm>
          <a:prstGeom prst="roundRect">
            <a:avLst>
              <a:gd name="adj" fmla="val 4169"/>
            </a:avLst>
          </a:prstGeom>
          <a:solidFill>
            <a:srgbClr val="FFFFFF"/>
          </a:solidFill>
          <a:ln w="12700">
            <a:solidFill>
              <a:srgbClr val="D8E2F3"/>
            </a:solidFill>
            <a:prstDash val="solid"/>
          </a:ln>
          <a:effectLst>
            <a:outerShdw blurRad="127000" dist="38100" dir="5400000" algn="bl" rotWithShape="0">
              <a:srgbClr val="0F5ED7">
                <a:alpha val="12000"/>
              </a:srgbClr>
            </a:outerShdw>
          </a:effectLst>
        </p:spPr>
      </p:sp>
      <p:sp>
        <p:nvSpPr>
          <p:cNvPr id="37" name="Shape 29"/>
          <p:cNvSpPr/>
          <p:nvPr/>
        </p:nvSpPr>
        <p:spPr>
          <a:xfrm>
            <a:off x="9056903" y="1417320"/>
            <a:ext cx="2631872" cy="1234440"/>
          </a:xfrm>
          <a:prstGeom prst="roundRect">
            <a:avLst>
              <a:gd name="adj" fmla="val 8889"/>
            </a:avLst>
          </a:prstGeom>
          <a:solidFill>
            <a:srgbClr val="0F5ED7"/>
          </a:solidFill>
          <a:ln/>
        </p:spPr>
      </p:sp>
      <p:sp>
        <p:nvSpPr>
          <p:cNvPr id="38" name="Shape 30"/>
          <p:cNvSpPr/>
          <p:nvPr/>
        </p:nvSpPr>
        <p:spPr>
          <a:xfrm>
            <a:off x="9056903" y="2029968"/>
            <a:ext cx="2631872" cy="621792"/>
          </a:xfrm>
          <a:prstGeom prst="rect">
            <a:avLst/>
          </a:prstGeom>
          <a:solidFill>
            <a:srgbClr val="0F5ED7"/>
          </a:solidFill>
          <a:ln/>
        </p:spPr>
      </p:sp>
      <p:sp>
        <p:nvSpPr>
          <p:cNvPr id="39" name="Shape 31"/>
          <p:cNvSpPr/>
          <p:nvPr/>
        </p:nvSpPr>
        <p:spPr>
          <a:xfrm>
            <a:off x="10061943" y="1618488"/>
            <a:ext cx="621792" cy="621792"/>
          </a:xfrm>
          <a:prstGeom prst="line">
            <a:avLst/>
          </a:prstGeom>
          <a:solidFill>
            <a:srgbClr val="1B6EE8"/>
          </a:solidFill>
          <a:ln/>
        </p:spPr>
      </p:sp>
      <p:pic>
        <p:nvPicPr>
          <p:cNvPr id="40" name="Image 6" descr="/home/claude/icons/moneyCheckDollar.png"/>
          <p:cNvPicPr>
            <a:picLocks noChangeAspect="1"/>
          </p:cNvPicPr>
          <p:nvPr/>
        </p:nvPicPr>
        <p:blipFill>
          <a:blip r:embed="rId9"/>
          <a:stretch>
            <a:fillRect/>
          </a:stretch>
        </p:blipFill>
        <p:spPr>
          <a:xfrm>
            <a:off x="10199103" y="1755648"/>
            <a:ext cx="347472" cy="347472"/>
          </a:xfrm>
          <a:prstGeom prst="rect">
            <a:avLst/>
          </a:prstGeom>
        </p:spPr>
      </p:pic>
      <p:sp>
        <p:nvSpPr>
          <p:cNvPr id="41" name="Text 32"/>
          <p:cNvSpPr/>
          <p:nvPr/>
        </p:nvSpPr>
        <p:spPr>
          <a:xfrm>
            <a:off x="9056903" y="2267712"/>
            <a:ext cx="2631872" cy="320040"/>
          </a:xfrm>
          <a:prstGeom prst="rect">
            <a:avLst/>
          </a:prstGeom>
          <a:noFill/>
          <a:ln/>
        </p:spPr>
        <p:txBody>
          <a:bodyPr wrap="square" lIns="0" tIns="0" rIns="0" bIns="0" rtlCol="0" anchor="ctr"/>
          <a:lstStyle/>
          <a:p>
            <a:pPr marL="0" indent="0" algn="ctr">
              <a:buNone/>
            </a:pPr>
            <a:r>
              <a:rPr lang="en-US" sz="1450" b="1" dirty="0">
                <a:solidFill>
                  <a:srgbClr val="FFFFFF"/>
                </a:solidFill>
                <a:latin typeface="Poppins" pitchFamily="34" charset="0"/>
                <a:ea typeface="Poppins" pitchFamily="34" charset="-122"/>
                <a:cs typeface="Poppins" pitchFamily="34" charset="-120"/>
              </a:rPr>
              <a:t>Gestionnaire</a:t>
            </a:r>
            <a:endParaRPr lang="en-US" sz="1450" dirty="0"/>
          </a:p>
        </p:txBody>
      </p:sp>
      <p:sp>
        <p:nvSpPr>
          <p:cNvPr id="42" name="Text 33"/>
          <p:cNvSpPr/>
          <p:nvPr/>
        </p:nvSpPr>
        <p:spPr>
          <a:xfrm>
            <a:off x="9221495" y="2770632"/>
            <a:ext cx="2302688" cy="365760"/>
          </a:xfrm>
          <a:prstGeom prst="rect">
            <a:avLst/>
          </a:prstGeom>
          <a:noFill/>
          <a:ln/>
        </p:spPr>
        <p:txBody>
          <a:bodyPr wrap="square" lIns="0" tIns="0" rIns="0" bIns="0" rtlCol="0" anchor="ctr"/>
          <a:lstStyle/>
          <a:p>
            <a:pPr marL="0" indent="0" algn="ctr">
              <a:buNone/>
            </a:pPr>
            <a:r>
              <a:rPr lang="en-US" sz="1000" i="1" dirty="0">
                <a:solidFill>
                  <a:srgbClr val="526579"/>
                </a:solidFill>
                <a:latin typeface="Poppins" pitchFamily="34" charset="0"/>
                <a:ea typeface="Poppins" pitchFamily="34" charset="-122"/>
                <a:cs typeface="Poppins" pitchFamily="34" charset="-120"/>
              </a:rPr>
              <a:t>Comptable / administratif</a:t>
            </a:r>
            <a:endParaRPr lang="en-US" sz="1000" dirty="0"/>
          </a:p>
        </p:txBody>
      </p:sp>
      <p:sp>
        <p:nvSpPr>
          <p:cNvPr id="43" name="Text 34"/>
          <p:cNvSpPr/>
          <p:nvPr/>
        </p:nvSpPr>
        <p:spPr>
          <a:xfrm>
            <a:off x="9276359" y="3200400"/>
            <a:ext cx="2192960" cy="2651760"/>
          </a:xfrm>
          <a:prstGeom prst="rect">
            <a:avLst/>
          </a:prstGeom>
          <a:noFill/>
          <a:ln/>
        </p:spPr>
        <p:txBody>
          <a:bodyPr wrap="square" lIns="0" tIns="0" rIns="0" bIns="0" rtlCol="0" anchor="t"/>
          <a:lstStyle/>
          <a:p>
            <a:pPr marL="152400" indent="-152400">
              <a:lnSpc>
                <a:spcPct val="130000"/>
              </a:lnSpc>
              <a:spcAft>
                <a:spcPts val="1000"/>
              </a:spcAft>
              <a:buSzPct val="100000"/>
              <a:buChar char="•"/>
            </a:pPr>
            <a:r>
              <a:rPr lang="en-US" sz="1100" dirty="0">
                <a:solidFill>
                  <a:srgbClr val="102033"/>
                </a:solidFill>
                <a:latin typeface="Poppins" pitchFamily="34" charset="0"/>
                <a:ea typeface="Poppins" pitchFamily="34" charset="-122"/>
                <a:cs typeface="Poppins" pitchFamily="34" charset="-120"/>
              </a:rPr>
              <a:t>Enregistre les paiements</a:t>
            </a:r>
            <a:endParaRPr lang="en-US" sz="1100" dirty="0"/>
          </a:p>
          <a:p>
            <a:pPr marL="152400" indent="-152400">
              <a:lnSpc>
                <a:spcPct val="130000"/>
              </a:lnSpc>
              <a:spcAft>
                <a:spcPts val="1000"/>
              </a:spcAft>
              <a:buSzPct val="100000"/>
              <a:buChar char="•"/>
            </a:pPr>
            <a:r>
              <a:rPr lang="en-US" sz="1100" dirty="0">
                <a:solidFill>
                  <a:srgbClr val="102033"/>
                </a:solidFill>
                <a:latin typeface="Poppins" pitchFamily="34" charset="0"/>
                <a:ea typeface="Poppins" pitchFamily="34" charset="-122"/>
                <a:cs typeface="Poppins" pitchFamily="34" charset="-120"/>
              </a:rPr>
              <a:t>Gère les frais de scolarité</a:t>
            </a:r>
            <a:endParaRPr lang="en-US" sz="1100" dirty="0"/>
          </a:p>
          <a:p>
            <a:pPr marL="152400" indent="-152400">
              <a:lnSpc>
                <a:spcPct val="130000"/>
              </a:lnSpc>
              <a:spcAft>
                <a:spcPts val="1000"/>
              </a:spcAft>
              <a:buSzPct val="100000"/>
              <a:buChar char="•"/>
            </a:pPr>
            <a:r>
              <a:rPr lang="en-US" sz="1100" dirty="0">
                <a:solidFill>
                  <a:srgbClr val="102033"/>
                </a:solidFill>
                <a:latin typeface="Poppins" pitchFamily="34" charset="0"/>
                <a:ea typeface="Poppins" pitchFamily="34" charset="-122"/>
                <a:cs typeface="Poppins" pitchFamily="34" charset="-120"/>
              </a:rPr>
              <a:t>Génère reçus &amp; rapports financiers</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02920" y="384048"/>
            <a:ext cx="566928" cy="566928"/>
          </a:xfrm>
          <a:prstGeom prst="roundRect">
            <a:avLst>
              <a:gd name="adj" fmla="val 19355"/>
            </a:avLst>
          </a:prstGeom>
          <a:solidFill>
            <a:srgbClr val="E9F0FE"/>
          </a:solidFill>
          <a:ln/>
        </p:spPr>
      </p:sp>
      <p:pic>
        <p:nvPicPr>
          <p:cNvPr id="3" name="Image 0" descr="/home/claude/icons/route.png"/>
          <p:cNvPicPr>
            <a:picLocks noChangeAspect="1"/>
          </p:cNvPicPr>
          <p:nvPr/>
        </p:nvPicPr>
        <p:blipFill>
          <a:blip r:embed="rId4"/>
          <a:stretch>
            <a:fillRect/>
          </a:stretch>
        </p:blipFill>
        <p:spPr>
          <a:xfrm>
            <a:off x="621792" y="502920"/>
            <a:ext cx="329184" cy="329184"/>
          </a:xfrm>
          <a:prstGeom prst="rect">
            <a:avLst/>
          </a:prstGeom>
        </p:spPr>
      </p:pic>
      <p:sp>
        <p:nvSpPr>
          <p:cNvPr id="4" name="Text 1"/>
          <p:cNvSpPr/>
          <p:nvPr/>
        </p:nvSpPr>
        <p:spPr>
          <a:xfrm>
            <a:off x="1252728" y="310896"/>
            <a:ext cx="10436047" cy="457200"/>
          </a:xfrm>
          <a:prstGeom prst="rect">
            <a:avLst/>
          </a:prstGeom>
          <a:noFill/>
          <a:ln/>
        </p:spPr>
        <p:txBody>
          <a:bodyPr wrap="square" lIns="0" tIns="0" rIns="0" bIns="0" rtlCol="0" anchor="b"/>
          <a:lstStyle/>
          <a:p>
            <a:pPr marL="0" indent="0" algn="l">
              <a:buNone/>
            </a:pPr>
            <a:r>
              <a:rPr lang="en-US" sz="2600" b="1" kern="0" spc="-30" dirty="0">
                <a:solidFill>
                  <a:srgbClr val="102033"/>
                </a:solidFill>
                <a:latin typeface="Poppins" pitchFamily="34" charset="0"/>
                <a:ea typeface="Poppins" pitchFamily="34" charset="-122"/>
                <a:cs typeface="Poppins" pitchFamily="34" charset="-120"/>
              </a:rPr>
              <a:t>Parcours utilisateur</a:t>
            </a:r>
            <a:endParaRPr lang="en-US" sz="2600" dirty="0"/>
          </a:p>
        </p:txBody>
      </p:sp>
      <p:sp>
        <p:nvSpPr>
          <p:cNvPr id="5" name="Text 2"/>
          <p:cNvSpPr/>
          <p:nvPr/>
        </p:nvSpPr>
        <p:spPr>
          <a:xfrm>
            <a:off x="1252728" y="749808"/>
            <a:ext cx="10436047" cy="292608"/>
          </a:xfrm>
          <a:prstGeom prst="rect">
            <a:avLst/>
          </a:prstGeom>
          <a:noFill/>
          <a:ln/>
        </p:spPr>
        <p:txBody>
          <a:bodyPr wrap="square" lIns="0" tIns="0" rIns="0" bIns="0" rtlCol="0" anchor="t"/>
          <a:lstStyle/>
          <a:p>
            <a:pPr marL="0" indent="0" algn="l">
              <a:buNone/>
            </a:pPr>
            <a:r>
              <a:rPr lang="en-US" sz="1300" dirty="0">
                <a:solidFill>
                  <a:srgbClr val="526579"/>
                </a:solidFill>
                <a:latin typeface="Poppins" pitchFamily="34" charset="0"/>
                <a:ea typeface="Poppins" pitchFamily="34" charset="-122"/>
                <a:cs typeface="Poppins" pitchFamily="34" charset="-120"/>
              </a:rPr>
              <a:t>Rôle : Directeur</a:t>
            </a:r>
            <a:endParaRPr lang="en-US" sz="1300" dirty="0"/>
          </a:p>
        </p:txBody>
      </p:sp>
      <p:sp>
        <p:nvSpPr>
          <p:cNvPr id="6" name="Shape 3"/>
          <p:cNvSpPr/>
          <p:nvPr/>
        </p:nvSpPr>
        <p:spPr>
          <a:xfrm>
            <a:off x="502920" y="1170432"/>
            <a:ext cx="11185855" cy="0"/>
          </a:xfrm>
          <a:prstGeom prst="line">
            <a:avLst/>
          </a:prstGeom>
          <a:noFill/>
          <a:ln w="15875">
            <a:solidFill>
              <a:srgbClr val="D8E2F3"/>
            </a:solidFill>
            <a:prstDash val="solid"/>
          </a:ln>
        </p:spPr>
      </p:sp>
      <p:pic>
        <p:nvPicPr>
          <p:cNvPr id="7" name="Image 1" descr="/home/claude/icons/school.png"/>
          <p:cNvPicPr>
            <a:picLocks noChangeAspect="1"/>
          </p:cNvPicPr>
          <p:nvPr/>
        </p:nvPicPr>
        <p:blipFill>
          <a:blip r:embed="rId5"/>
          <a:stretch>
            <a:fillRect/>
          </a:stretch>
        </p:blipFill>
        <p:spPr>
          <a:xfrm>
            <a:off x="502920" y="6528816"/>
            <a:ext cx="146304" cy="146304"/>
          </a:xfrm>
          <a:prstGeom prst="rect">
            <a:avLst/>
          </a:prstGeom>
        </p:spPr>
      </p:pic>
      <p:sp>
        <p:nvSpPr>
          <p:cNvPr id="8" name="Shape 4"/>
          <p:cNvSpPr/>
          <p:nvPr/>
        </p:nvSpPr>
        <p:spPr>
          <a:xfrm>
            <a:off x="475488" y="6501384"/>
            <a:ext cx="201168" cy="201168"/>
          </a:xfrm>
          <a:prstGeom prst="line">
            <a:avLst/>
          </a:prstGeom>
          <a:solidFill>
            <a:srgbClr val="0F5ED7"/>
          </a:solidFill>
          <a:ln/>
        </p:spPr>
      </p:sp>
      <p:pic>
        <p:nvPicPr>
          <p:cNvPr id="9" name="Image 2" descr="/home/claude/icons/school.png"/>
          <p:cNvPicPr>
            <a:picLocks noChangeAspect="1"/>
          </p:cNvPicPr>
          <p:nvPr/>
        </p:nvPicPr>
        <p:blipFill>
          <a:blip r:embed="rId5"/>
          <a:stretch>
            <a:fillRect/>
          </a:stretch>
        </p:blipFill>
        <p:spPr>
          <a:xfrm>
            <a:off x="516636" y="6533388"/>
            <a:ext cx="137160" cy="137160"/>
          </a:xfrm>
          <a:prstGeom prst="rect">
            <a:avLst/>
          </a:prstGeom>
        </p:spPr>
      </p:pic>
      <p:sp>
        <p:nvSpPr>
          <p:cNvPr id="10" name="Text 5"/>
          <p:cNvSpPr/>
          <p:nvPr/>
        </p:nvSpPr>
        <p:spPr>
          <a:xfrm>
            <a:off x="777240" y="6473952"/>
            <a:ext cx="5943600" cy="274320"/>
          </a:xfrm>
          <a:prstGeom prst="rect">
            <a:avLst/>
          </a:prstGeom>
          <a:noFill/>
          <a:ln/>
        </p:spPr>
        <p:txBody>
          <a:bodyPr wrap="square" lIns="0" tIns="0" rIns="0" bIns="0" rtlCol="0" anchor="ctr"/>
          <a:lstStyle/>
          <a:p>
            <a:pPr marL="0" indent="0">
              <a:buNone/>
            </a:pPr>
            <a:r>
              <a:rPr lang="en-US" sz="950" dirty="0">
                <a:solidFill>
                  <a:srgbClr val="526579"/>
                </a:solidFill>
                <a:latin typeface="Poppins" pitchFamily="34" charset="0"/>
                <a:ea typeface="Poppins" pitchFamily="34" charset="-122"/>
                <a:cs typeface="Poppins" pitchFamily="34" charset="-120"/>
              </a:rPr>
              <a:t>Groupe Y  •  Gestion d'un établissement scolaire</a:t>
            </a:r>
            <a:endParaRPr lang="en-US" sz="950" dirty="0"/>
          </a:p>
        </p:txBody>
      </p:sp>
      <p:sp>
        <p:nvSpPr>
          <p:cNvPr id="11" name="Text 6"/>
          <p:cNvSpPr/>
          <p:nvPr/>
        </p:nvSpPr>
        <p:spPr>
          <a:xfrm>
            <a:off x="10591495" y="6473952"/>
            <a:ext cx="1097280" cy="274320"/>
          </a:xfrm>
          <a:prstGeom prst="rect">
            <a:avLst/>
          </a:prstGeom>
          <a:noFill/>
          <a:ln/>
        </p:spPr>
        <p:txBody>
          <a:bodyPr wrap="square" lIns="0" tIns="0" rIns="0" bIns="0" rtlCol="0" anchor="ctr"/>
          <a:lstStyle/>
          <a:p>
            <a:pPr marL="0" indent="0" algn="r">
              <a:buNone/>
            </a:pPr>
            <a:r>
              <a:rPr lang="en-US" sz="950" dirty="0">
                <a:solidFill>
                  <a:srgbClr val="526579"/>
                </a:solidFill>
                <a:latin typeface="JetBrains Mono" pitchFamily="34" charset="0"/>
                <a:ea typeface="JetBrains Mono" pitchFamily="34" charset="-122"/>
                <a:cs typeface="JetBrains Mono" pitchFamily="34" charset="-120"/>
              </a:rPr>
              <a:t>09</a:t>
            </a:r>
            <a:endParaRPr lang="en-US" sz="950" dirty="0"/>
          </a:p>
        </p:txBody>
      </p:sp>
      <p:sp>
        <p:nvSpPr>
          <p:cNvPr id="12" name="Shape 7"/>
          <p:cNvSpPr/>
          <p:nvPr/>
        </p:nvSpPr>
        <p:spPr>
          <a:xfrm>
            <a:off x="502920" y="1417320"/>
            <a:ext cx="3383280" cy="4617720"/>
          </a:xfrm>
          <a:prstGeom prst="roundRect">
            <a:avLst>
              <a:gd name="adj" fmla="val 3243"/>
            </a:avLst>
          </a:prstGeom>
          <a:solidFill>
            <a:srgbClr val="0F5ED7"/>
          </a:solidFill>
          <a:ln w="12700">
            <a:solidFill>
              <a:srgbClr val="0F5ED7"/>
            </a:solidFill>
            <a:prstDash val="solid"/>
          </a:ln>
          <a:effectLst>
            <a:outerShdw blurRad="127000" dist="38100" dir="5400000" algn="bl" rotWithShape="0">
              <a:srgbClr val="0F5ED7">
                <a:alpha val="12000"/>
              </a:srgbClr>
            </a:outerShdw>
          </a:effectLst>
        </p:spPr>
      </p:sp>
      <p:sp>
        <p:nvSpPr>
          <p:cNvPr id="13" name="Text 8"/>
          <p:cNvSpPr/>
          <p:nvPr/>
        </p:nvSpPr>
        <p:spPr>
          <a:xfrm>
            <a:off x="777240" y="1691640"/>
            <a:ext cx="2834640" cy="457200"/>
          </a:xfrm>
          <a:prstGeom prst="rect">
            <a:avLst/>
          </a:prstGeom>
          <a:noFill/>
          <a:ln/>
        </p:spPr>
        <p:txBody>
          <a:bodyPr wrap="square" lIns="0" tIns="0" rIns="0" bIns="0" rtlCol="0" anchor="ctr"/>
          <a:lstStyle/>
          <a:p>
            <a:pPr marL="0" indent="0">
              <a:buNone/>
            </a:pPr>
            <a:r>
              <a:rPr lang="en-US" sz="2200" b="1" dirty="0">
                <a:solidFill>
                  <a:srgbClr val="AFCBFA"/>
                </a:solidFill>
                <a:latin typeface="JetBrains Mono" pitchFamily="34" charset="0"/>
                <a:ea typeface="JetBrains Mono" pitchFamily="34" charset="-122"/>
                <a:cs typeface="JetBrains Mono" pitchFamily="34" charset="-120"/>
              </a:rPr>
              <a:t>1 / 4</a:t>
            </a:r>
            <a:endParaRPr lang="en-US" sz="2200" dirty="0"/>
          </a:p>
        </p:txBody>
      </p:sp>
      <p:sp>
        <p:nvSpPr>
          <p:cNvPr id="14" name="Text 9"/>
          <p:cNvSpPr/>
          <p:nvPr/>
        </p:nvSpPr>
        <p:spPr>
          <a:xfrm>
            <a:off x="777240" y="2194560"/>
            <a:ext cx="2834640" cy="640080"/>
          </a:xfrm>
          <a:prstGeom prst="rect">
            <a:avLst/>
          </a:prstGeom>
          <a:noFill/>
          <a:ln/>
        </p:spPr>
        <p:txBody>
          <a:bodyPr wrap="square" lIns="0" tIns="0" rIns="0" bIns="0" rtlCol="0" anchor="ctr"/>
          <a:lstStyle/>
          <a:p>
            <a:pPr marL="0" indent="0">
              <a:buNone/>
            </a:pPr>
            <a:r>
              <a:rPr lang="en-US" sz="2800" b="1" dirty="0">
                <a:solidFill>
                  <a:srgbClr val="FFFFFF"/>
                </a:solidFill>
                <a:latin typeface="Poppins" pitchFamily="34" charset="0"/>
                <a:ea typeface="Poppins" pitchFamily="34" charset="-122"/>
                <a:cs typeface="Poppins" pitchFamily="34" charset="-120"/>
              </a:rPr>
              <a:t>Directeur</a:t>
            </a:r>
            <a:endParaRPr lang="en-US" sz="2800" dirty="0"/>
          </a:p>
        </p:txBody>
      </p:sp>
      <p:sp>
        <p:nvSpPr>
          <p:cNvPr id="15" name="Shape 10"/>
          <p:cNvSpPr/>
          <p:nvPr/>
        </p:nvSpPr>
        <p:spPr>
          <a:xfrm>
            <a:off x="777240" y="2971800"/>
            <a:ext cx="548640" cy="0"/>
          </a:xfrm>
          <a:prstGeom prst="line">
            <a:avLst/>
          </a:prstGeom>
          <a:noFill/>
          <a:ln w="25400">
            <a:solidFill>
              <a:srgbClr val="5C93E8"/>
            </a:solidFill>
            <a:prstDash val="solid"/>
          </a:ln>
        </p:spPr>
      </p:sp>
      <p:sp>
        <p:nvSpPr>
          <p:cNvPr id="16" name="Text 11"/>
          <p:cNvSpPr/>
          <p:nvPr/>
        </p:nvSpPr>
        <p:spPr>
          <a:xfrm>
            <a:off x="777240" y="3200400"/>
            <a:ext cx="2834640" cy="2560320"/>
          </a:xfrm>
          <a:prstGeom prst="rect">
            <a:avLst/>
          </a:prstGeom>
          <a:noFill/>
          <a:ln/>
        </p:spPr>
        <p:txBody>
          <a:bodyPr wrap="square" lIns="0" tIns="0" rIns="0" bIns="0" rtlCol="0" anchor="ctr"/>
          <a:lstStyle/>
          <a:p>
            <a:pPr marL="0" indent="0">
              <a:lnSpc>
                <a:spcPct val="150000"/>
              </a:lnSpc>
              <a:buNone/>
            </a:pPr>
            <a:r>
              <a:rPr lang="en-US" sz="1300" dirty="0">
                <a:solidFill>
                  <a:srgbClr val="E2EBFB"/>
                </a:solidFill>
                <a:latin typeface="Poppins" pitchFamily="34" charset="0"/>
                <a:ea typeface="Poppins" pitchFamily="34" charset="-122"/>
                <a:cs typeface="Poppins" pitchFamily="34" charset="-120"/>
              </a:rPr>
              <a:t>Gestion des départements, des employés, recherche &amp; statistiques, et suivi du cycle de vie d'un employé.</a:t>
            </a:r>
            <a:endParaRPr lang="en-US" sz="1300" dirty="0"/>
          </a:p>
        </p:txBody>
      </p:sp>
      <p:sp>
        <p:nvSpPr>
          <p:cNvPr id="17" name="Shape 12"/>
          <p:cNvSpPr/>
          <p:nvPr/>
        </p:nvSpPr>
        <p:spPr>
          <a:xfrm>
            <a:off x="777240" y="5669280"/>
            <a:ext cx="146304" cy="146304"/>
          </a:xfrm>
          <a:prstGeom prst="line">
            <a:avLst/>
          </a:prstGeom>
          <a:solidFill>
            <a:srgbClr val="FFFFFF"/>
          </a:solidFill>
          <a:ln/>
        </p:spPr>
      </p:sp>
      <p:sp>
        <p:nvSpPr>
          <p:cNvPr id="18" name="Shape 13"/>
          <p:cNvSpPr/>
          <p:nvPr/>
        </p:nvSpPr>
        <p:spPr>
          <a:xfrm>
            <a:off x="1088136" y="5669280"/>
            <a:ext cx="146304" cy="146304"/>
          </a:xfrm>
          <a:prstGeom prst="line">
            <a:avLst/>
          </a:prstGeom>
          <a:solidFill>
            <a:srgbClr val="3E76D6"/>
          </a:solidFill>
          <a:ln/>
        </p:spPr>
      </p:sp>
      <p:sp>
        <p:nvSpPr>
          <p:cNvPr id="19" name="Shape 14"/>
          <p:cNvSpPr/>
          <p:nvPr/>
        </p:nvSpPr>
        <p:spPr>
          <a:xfrm>
            <a:off x="1399032" y="5669280"/>
            <a:ext cx="146304" cy="146304"/>
          </a:xfrm>
          <a:prstGeom prst="line">
            <a:avLst/>
          </a:prstGeom>
          <a:solidFill>
            <a:srgbClr val="3E76D6"/>
          </a:solidFill>
          <a:ln/>
        </p:spPr>
      </p:sp>
      <p:sp>
        <p:nvSpPr>
          <p:cNvPr id="20" name="Shape 15"/>
          <p:cNvSpPr/>
          <p:nvPr/>
        </p:nvSpPr>
        <p:spPr>
          <a:xfrm>
            <a:off x="1709928" y="5669280"/>
            <a:ext cx="146304" cy="146304"/>
          </a:xfrm>
          <a:prstGeom prst="line">
            <a:avLst/>
          </a:prstGeom>
          <a:solidFill>
            <a:srgbClr val="3E76D6"/>
          </a:solidFill>
          <a:ln/>
        </p:spPr>
      </p:sp>
      <p:sp>
        <p:nvSpPr>
          <p:cNvPr id="21" name="Shape 16"/>
          <p:cNvSpPr/>
          <p:nvPr/>
        </p:nvSpPr>
        <p:spPr>
          <a:xfrm>
            <a:off x="4160520" y="1417320"/>
            <a:ext cx="7528255" cy="4617720"/>
          </a:xfrm>
          <a:prstGeom prst="roundRect">
            <a:avLst>
              <a:gd name="adj" fmla="val 2376"/>
            </a:avLst>
          </a:prstGeom>
          <a:solidFill>
            <a:srgbClr val="FFFFFF"/>
          </a:solidFill>
          <a:ln w="12700">
            <a:solidFill>
              <a:srgbClr val="D8E2F3"/>
            </a:solidFill>
            <a:prstDash val="solid"/>
          </a:ln>
          <a:effectLst>
            <a:outerShdw blurRad="127000" dist="38100" dir="5400000" algn="bl" rotWithShape="0">
              <a:srgbClr val="0F5ED7">
                <a:alpha val="12000"/>
              </a:srgbClr>
            </a:outerShdw>
          </a:effectLst>
        </p:spPr>
      </p:sp>
      <p:sp>
        <p:nvSpPr>
          <p:cNvPr id="22" name="Shape 17"/>
          <p:cNvSpPr/>
          <p:nvPr/>
        </p:nvSpPr>
        <p:spPr>
          <a:xfrm>
            <a:off x="4160520" y="1417320"/>
            <a:ext cx="7528255" cy="329184"/>
          </a:xfrm>
          <a:prstGeom prst="roundRect">
            <a:avLst>
              <a:gd name="adj" fmla="val 33333"/>
            </a:avLst>
          </a:prstGeom>
          <a:solidFill>
            <a:srgbClr val="EEF3FD"/>
          </a:solidFill>
          <a:ln/>
        </p:spPr>
      </p:sp>
      <p:sp>
        <p:nvSpPr>
          <p:cNvPr id="23" name="Shape 18"/>
          <p:cNvSpPr/>
          <p:nvPr/>
        </p:nvSpPr>
        <p:spPr>
          <a:xfrm>
            <a:off x="4160520" y="1581912"/>
            <a:ext cx="7528255" cy="164592"/>
          </a:xfrm>
          <a:prstGeom prst="rect">
            <a:avLst/>
          </a:prstGeom>
          <a:solidFill>
            <a:srgbClr val="EEF3FD"/>
          </a:solidFill>
          <a:ln/>
        </p:spPr>
      </p:sp>
      <p:sp>
        <p:nvSpPr>
          <p:cNvPr id="24" name="Shape 19"/>
          <p:cNvSpPr/>
          <p:nvPr/>
        </p:nvSpPr>
        <p:spPr>
          <a:xfrm>
            <a:off x="4306824" y="1536192"/>
            <a:ext cx="91440" cy="91440"/>
          </a:xfrm>
          <a:prstGeom prst="line">
            <a:avLst/>
          </a:prstGeom>
          <a:solidFill>
            <a:srgbClr val="D8E2F3"/>
          </a:solidFill>
          <a:ln/>
        </p:spPr>
      </p:sp>
      <p:sp>
        <p:nvSpPr>
          <p:cNvPr id="25" name="Shape 20"/>
          <p:cNvSpPr/>
          <p:nvPr/>
        </p:nvSpPr>
        <p:spPr>
          <a:xfrm>
            <a:off x="4471416" y="1536192"/>
            <a:ext cx="91440" cy="91440"/>
          </a:xfrm>
          <a:prstGeom prst="line">
            <a:avLst/>
          </a:prstGeom>
          <a:solidFill>
            <a:srgbClr val="D8E2F3"/>
          </a:solidFill>
          <a:ln/>
        </p:spPr>
      </p:sp>
      <p:sp>
        <p:nvSpPr>
          <p:cNvPr id="26" name="Shape 21"/>
          <p:cNvSpPr/>
          <p:nvPr/>
        </p:nvSpPr>
        <p:spPr>
          <a:xfrm>
            <a:off x="4636008" y="1536192"/>
            <a:ext cx="91440" cy="91440"/>
          </a:xfrm>
          <a:prstGeom prst="line">
            <a:avLst/>
          </a:prstGeom>
          <a:solidFill>
            <a:srgbClr val="D8E2F3"/>
          </a:solidFill>
          <a:ln/>
        </p:spPr>
      </p:sp>
      <p:sp>
        <p:nvSpPr>
          <p:cNvPr id="27" name="Text 22"/>
          <p:cNvSpPr/>
          <p:nvPr/>
        </p:nvSpPr>
        <p:spPr>
          <a:xfrm>
            <a:off x="4160520" y="1417320"/>
            <a:ext cx="7528255" cy="329184"/>
          </a:xfrm>
          <a:prstGeom prst="rect">
            <a:avLst/>
          </a:prstGeom>
          <a:noFill/>
          <a:ln/>
        </p:spPr>
        <p:txBody>
          <a:bodyPr wrap="square" lIns="0" tIns="0" rIns="0" bIns="0" rtlCol="0" anchor="ctr"/>
          <a:lstStyle/>
          <a:p>
            <a:pPr marL="0" indent="0" algn="ctr">
              <a:buNone/>
            </a:pPr>
            <a:r>
              <a:rPr lang="en-US" sz="1000" dirty="0">
                <a:solidFill>
                  <a:srgbClr val="526579"/>
                </a:solidFill>
                <a:latin typeface="Poppins" pitchFamily="34" charset="0"/>
                <a:ea typeface="Poppins" pitchFamily="34" charset="-122"/>
                <a:cs typeface="Poppins" pitchFamily="34" charset="-120"/>
              </a:rPr>
              <a:t>Aperçu — parcours directeur</a:t>
            </a:r>
            <a:endParaRPr lang="en-US" sz="1000" dirty="0"/>
          </a:p>
        </p:txBody>
      </p:sp>
      <p:pic>
        <p:nvPicPr>
          <p:cNvPr id="28" name="Image 3" descr="/home/claude/assets_flow_directeur.png"/>
          <p:cNvPicPr>
            <a:picLocks noChangeAspect="1"/>
          </p:cNvPicPr>
          <p:nvPr/>
        </p:nvPicPr>
        <p:blipFill>
          <a:blip r:embed="rId6"/>
          <a:stretch>
            <a:fillRect/>
          </a:stretch>
        </p:blipFill>
        <p:spPr>
          <a:xfrm>
            <a:off x="6660191" y="1874520"/>
            <a:ext cx="2528914" cy="4032504"/>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02920" y="384048"/>
            <a:ext cx="566928" cy="566928"/>
          </a:xfrm>
          <a:prstGeom prst="roundRect">
            <a:avLst>
              <a:gd name="adj" fmla="val 19355"/>
            </a:avLst>
          </a:prstGeom>
          <a:solidFill>
            <a:srgbClr val="E9F0FE"/>
          </a:solidFill>
          <a:ln/>
        </p:spPr>
      </p:sp>
      <p:pic>
        <p:nvPicPr>
          <p:cNvPr id="3" name="Image 0" descr="/home/claude/icons/route.png"/>
          <p:cNvPicPr>
            <a:picLocks noChangeAspect="1"/>
          </p:cNvPicPr>
          <p:nvPr/>
        </p:nvPicPr>
        <p:blipFill>
          <a:blip r:embed="rId4"/>
          <a:stretch>
            <a:fillRect/>
          </a:stretch>
        </p:blipFill>
        <p:spPr>
          <a:xfrm>
            <a:off x="621792" y="502920"/>
            <a:ext cx="329184" cy="329184"/>
          </a:xfrm>
          <a:prstGeom prst="rect">
            <a:avLst/>
          </a:prstGeom>
        </p:spPr>
      </p:pic>
      <p:sp>
        <p:nvSpPr>
          <p:cNvPr id="4" name="Text 1"/>
          <p:cNvSpPr/>
          <p:nvPr/>
        </p:nvSpPr>
        <p:spPr>
          <a:xfrm>
            <a:off x="1252728" y="310896"/>
            <a:ext cx="10436047" cy="457200"/>
          </a:xfrm>
          <a:prstGeom prst="rect">
            <a:avLst/>
          </a:prstGeom>
          <a:noFill/>
          <a:ln/>
        </p:spPr>
        <p:txBody>
          <a:bodyPr wrap="square" lIns="0" tIns="0" rIns="0" bIns="0" rtlCol="0" anchor="b"/>
          <a:lstStyle/>
          <a:p>
            <a:pPr marL="0" indent="0" algn="l">
              <a:buNone/>
            </a:pPr>
            <a:r>
              <a:rPr lang="en-US" sz="2600" b="1" kern="0" spc="-30" dirty="0">
                <a:solidFill>
                  <a:srgbClr val="102033"/>
                </a:solidFill>
                <a:latin typeface="Poppins" pitchFamily="34" charset="0"/>
                <a:ea typeface="Poppins" pitchFamily="34" charset="-122"/>
                <a:cs typeface="Poppins" pitchFamily="34" charset="-120"/>
              </a:rPr>
              <a:t>Parcours utilisateur</a:t>
            </a:r>
            <a:endParaRPr lang="en-US" sz="2600" dirty="0"/>
          </a:p>
        </p:txBody>
      </p:sp>
      <p:sp>
        <p:nvSpPr>
          <p:cNvPr id="5" name="Text 2"/>
          <p:cNvSpPr/>
          <p:nvPr/>
        </p:nvSpPr>
        <p:spPr>
          <a:xfrm>
            <a:off x="1252728" y="749808"/>
            <a:ext cx="10436047" cy="292608"/>
          </a:xfrm>
          <a:prstGeom prst="rect">
            <a:avLst/>
          </a:prstGeom>
          <a:noFill/>
          <a:ln/>
        </p:spPr>
        <p:txBody>
          <a:bodyPr wrap="square" lIns="0" tIns="0" rIns="0" bIns="0" rtlCol="0" anchor="t"/>
          <a:lstStyle/>
          <a:p>
            <a:pPr marL="0" indent="0" algn="l">
              <a:buNone/>
            </a:pPr>
            <a:r>
              <a:rPr lang="en-US" sz="1300" dirty="0">
                <a:solidFill>
                  <a:srgbClr val="526579"/>
                </a:solidFill>
                <a:latin typeface="Poppins" pitchFamily="34" charset="0"/>
                <a:ea typeface="Poppins" pitchFamily="34" charset="-122"/>
                <a:cs typeface="Poppins" pitchFamily="34" charset="-120"/>
              </a:rPr>
              <a:t>Rôle : Secrétaire</a:t>
            </a:r>
            <a:endParaRPr lang="en-US" sz="1300" dirty="0"/>
          </a:p>
        </p:txBody>
      </p:sp>
      <p:sp>
        <p:nvSpPr>
          <p:cNvPr id="6" name="Shape 3"/>
          <p:cNvSpPr/>
          <p:nvPr/>
        </p:nvSpPr>
        <p:spPr>
          <a:xfrm>
            <a:off x="502920" y="1170432"/>
            <a:ext cx="11185855" cy="0"/>
          </a:xfrm>
          <a:prstGeom prst="line">
            <a:avLst/>
          </a:prstGeom>
          <a:noFill/>
          <a:ln w="15875">
            <a:solidFill>
              <a:srgbClr val="D8E2F3"/>
            </a:solidFill>
            <a:prstDash val="solid"/>
          </a:ln>
        </p:spPr>
      </p:sp>
      <p:pic>
        <p:nvPicPr>
          <p:cNvPr id="7" name="Image 1" descr="/home/claude/icons/school.png"/>
          <p:cNvPicPr>
            <a:picLocks noChangeAspect="1"/>
          </p:cNvPicPr>
          <p:nvPr/>
        </p:nvPicPr>
        <p:blipFill>
          <a:blip r:embed="rId5"/>
          <a:stretch>
            <a:fillRect/>
          </a:stretch>
        </p:blipFill>
        <p:spPr>
          <a:xfrm>
            <a:off x="502920" y="6528816"/>
            <a:ext cx="146304" cy="146304"/>
          </a:xfrm>
          <a:prstGeom prst="rect">
            <a:avLst/>
          </a:prstGeom>
        </p:spPr>
      </p:pic>
      <p:sp>
        <p:nvSpPr>
          <p:cNvPr id="8" name="Shape 4"/>
          <p:cNvSpPr/>
          <p:nvPr/>
        </p:nvSpPr>
        <p:spPr>
          <a:xfrm>
            <a:off x="475488" y="6501384"/>
            <a:ext cx="201168" cy="201168"/>
          </a:xfrm>
          <a:prstGeom prst="line">
            <a:avLst/>
          </a:prstGeom>
          <a:solidFill>
            <a:srgbClr val="0F5ED7"/>
          </a:solidFill>
          <a:ln/>
        </p:spPr>
      </p:sp>
      <p:pic>
        <p:nvPicPr>
          <p:cNvPr id="9" name="Image 2" descr="/home/claude/icons/school.png"/>
          <p:cNvPicPr>
            <a:picLocks noChangeAspect="1"/>
          </p:cNvPicPr>
          <p:nvPr/>
        </p:nvPicPr>
        <p:blipFill>
          <a:blip r:embed="rId5"/>
          <a:stretch>
            <a:fillRect/>
          </a:stretch>
        </p:blipFill>
        <p:spPr>
          <a:xfrm>
            <a:off x="516636" y="6533388"/>
            <a:ext cx="137160" cy="137160"/>
          </a:xfrm>
          <a:prstGeom prst="rect">
            <a:avLst/>
          </a:prstGeom>
        </p:spPr>
      </p:pic>
      <p:sp>
        <p:nvSpPr>
          <p:cNvPr id="10" name="Text 5"/>
          <p:cNvSpPr/>
          <p:nvPr/>
        </p:nvSpPr>
        <p:spPr>
          <a:xfrm>
            <a:off x="777240" y="6473952"/>
            <a:ext cx="5943600" cy="274320"/>
          </a:xfrm>
          <a:prstGeom prst="rect">
            <a:avLst/>
          </a:prstGeom>
          <a:noFill/>
          <a:ln/>
        </p:spPr>
        <p:txBody>
          <a:bodyPr wrap="square" lIns="0" tIns="0" rIns="0" bIns="0" rtlCol="0" anchor="ctr"/>
          <a:lstStyle/>
          <a:p>
            <a:pPr marL="0" indent="0">
              <a:buNone/>
            </a:pPr>
            <a:r>
              <a:rPr lang="en-US" sz="950" dirty="0">
                <a:solidFill>
                  <a:srgbClr val="526579"/>
                </a:solidFill>
                <a:latin typeface="Poppins" pitchFamily="34" charset="0"/>
                <a:ea typeface="Poppins" pitchFamily="34" charset="-122"/>
                <a:cs typeface="Poppins" pitchFamily="34" charset="-120"/>
              </a:rPr>
              <a:t>Groupe Y  •  Gestion d'un établissement scolaire</a:t>
            </a:r>
            <a:endParaRPr lang="en-US" sz="950" dirty="0"/>
          </a:p>
        </p:txBody>
      </p:sp>
      <p:sp>
        <p:nvSpPr>
          <p:cNvPr id="11" name="Text 6"/>
          <p:cNvSpPr/>
          <p:nvPr/>
        </p:nvSpPr>
        <p:spPr>
          <a:xfrm>
            <a:off x="10591495" y="6473952"/>
            <a:ext cx="1097280" cy="274320"/>
          </a:xfrm>
          <a:prstGeom prst="rect">
            <a:avLst/>
          </a:prstGeom>
          <a:noFill/>
          <a:ln/>
        </p:spPr>
        <p:txBody>
          <a:bodyPr wrap="square" lIns="0" tIns="0" rIns="0" bIns="0" rtlCol="0" anchor="ctr"/>
          <a:lstStyle/>
          <a:p>
            <a:pPr marL="0" indent="0" algn="r">
              <a:buNone/>
            </a:pPr>
            <a:r>
              <a:rPr lang="en-US" sz="950" dirty="0">
                <a:solidFill>
                  <a:srgbClr val="526579"/>
                </a:solidFill>
                <a:latin typeface="JetBrains Mono" pitchFamily="34" charset="0"/>
                <a:ea typeface="JetBrains Mono" pitchFamily="34" charset="-122"/>
                <a:cs typeface="JetBrains Mono" pitchFamily="34" charset="-120"/>
              </a:rPr>
              <a:t>10</a:t>
            </a:r>
            <a:endParaRPr lang="en-US" sz="950" dirty="0"/>
          </a:p>
        </p:txBody>
      </p:sp>
      <p:sp>
        <p:nvSpPr>
          <p:cNvPr id="12" name="Shape 7"/>
          <p:cNvSpPr/>
          <p:nvPr/>
        </p:nvSpPr>
        <p:spPr>
          <a:xfrm>
            <a:off x="502920" y="1417320"/>
            <a:ext cx="3383280" cy="4617720"/>
          </a:xfrm>
          <a:prstGeom prst="roundRect">
            <a:avLst>
              <a:gd name="adj" fmla="val 3243"/>
            </a:avLst>
          </a:prstGeom>
          <a:solidFill>
            <a:srgbClr val="0F5ED7"/>
          </a:solidFill>
          <a:ln w="12700">
            <a:solidFill>
              <a:srgbClr val="0F5ED7"/>
            </a:solidFill>
            <a:prstDash val="solid"/>
          </a:ln>
          <a:effectLst>
            <a:outerShdw blurRad="127000" dist="38100" dir="5400000" algn="bl" rotWithShape="0">
              <a:srgbClr val="0F5ED7">
                <a:alpha val="12000"/>
              </a:srgbClr>
            </a:outerShdw>
          </a:effectLst>
        </p:spPr>
      </p:sp>
      <p:sp>
        <p:nvSpPr>
          <p:cNvPr id="13" name="Text 8"/>
          <p:cNvSpPr/>
          <p:nvPr/>
        </p:nvSpPr>
        <p:spPr>
          <a:xfrm>
            <a:off x="777240" y="1691640"/>
            <a:ext cx="2834640" cy="457200"/>
          </a:xfrm>
          <a:prstGeom prst="rect">
            <a:avLst/>
          </a:prstGeom>
          <a:noFill/>
          <a:ln/>
        </p:spPr>
        <p:txBody>
          <a:bodyPr wrap="square" lIns="0" tIns="0" rIns="0" bIns="0" rtlCol="0" anchor="ctr"/>
          <a:lstStyle/>
          <a:p>
            <a:pPr marL="0" indent="0">
              <a:buNone/>
            </a:pPr>
            <a:r>
              <a:rPr lang="en-US" sz="2200" b="1" dirty="0">
                <a:solidFill>
                  <a:srgbClr val="AFCBFA"/>
                </a:solidFill>
                <a:latin typeface="JetBrains Mono" pitchFamily="34" charset="0"/>
                <a:ea typeface="JetBrains Mono" pitchFamily="34" charset="-122"/>
                <a:cs typeface="JetBrains Mono" pitchFamily="34" charset="-120"/>
              </a:rPr>
              <a:t>2 / 4</a:t>
            </a:r>
            <a:endParaRPr lang="en-US" sz="2200" dirty="0"/>
          </a:p>
        </p:txBody>
      </p:sp>
      <p:sp>
        <p:nvSpPr>
          <p:cNvPr id="14" name="Text 9"/>
          <p:cNvSpPr/>
          <p:nvPr/>
        </p:nvSpPr>
        <p:spPr>
          <a:xfrm>
            <a:off x="777240" y="2194560"/>
            <a:ext cx="2834640" cy="640080"/>
          </a:xfrm>
          <a:prstGeom prst="rect">
            <a:avLst/>
          </a:prstGeom>
          <a:noFill/>
          <a:ln/>
        </p:spPr>
        <p:txBody>
          <a:bodyPr wrap="square" lIns="0" tIns="0" rIns="0" bIns="0" rtlCol="0" anchor="ctr"/>
          <a:lstStyle/>
          <a:p>
            <a:pPr marL="0" indent="0">
              <a:buNone/>
            </a:pPr>
            <a:r>
              <a:rPr lang="en-US" sz="2800" b="1" dirty="0">
                <a:solidFill>
                  <a:srgbClr val="FFFFFF"/>
                </a:solidFill>
                <a:latin typeface="Poppins" pitchFamily="34" charset="0"/>
                <a:ea typeface="Poppins" pitchFamily="34" charset="-122"/>
                <a:cs typeface="Poppins" pitchFamily="34" charset="-120"/>
              </a:rPr>
              <a:t>Secrétaire</a:t>
            </a:r>
            <a:endParaRPr lang="en-US" sz="2800" dirty="0"/>
          </a:p>
        </p:txBody>
      </p:sp>
      <p:sp>
        <p:nvSpPr>
          <p:cNvPr id="15" name="Shape 10"/>
          <p:cNvSpPr/>
          <p:nvPr/>
        </p:nvSpPr>
        <p:spPr>
          <a:xfrm>
            <a:off x="777240" y="2971800"/>
            <a:ext cx="548640" cy="0"/>
          </a:xfrm>
          <a:prstGeom prst="line">
            <a:avLst/>
          </a:prstGeom>
          <a:noFill/>
          <a:ln w="25400">
            <a:solidFill>
              <a:srgbClr val="5C93E8"/>
            </a:solidFill>
            <a:prstDash val="solid"/>
          </a:ln>
        </p:spPr>
      </p:sp>
      <p:sp>
        <p:nvSpPr>
          <p:cNvPr id="16" name="Text 11"/>
          <p:cNvSpPr/>
          <p:nvPr/>
        </p:nvSpPr>
        <p:spPr>
          <a:xfrm>
            <a:off x="777240" y="3200400"/>
            <a:ext cx="2834640" cy="2560320"/>
          </a:xfrm>
          <a:prstGeom prst="rect">
            <a:avLst/>
          </a:prstGeom>
          <a:noFill/>
          <a:ln/>
        </p:spPr>
        <p:txBody>
          <a:bodyPr wrap="square" lIns="0" tIns="0" rIns="0" bIns="0" rtlCol="0" anchor="ctr"/>
          <a:lstStyle/>
          <a:p>
            <a:pPr marL="0" indent="0">
              <a:lnSpc>
                <a:spcPct val="150000"/>
              </a:lnSpc>
              <a:buNone/>
            </a:pPr>
            <a:r>
              <a:rPr lang="en-US" sz="1300" dirty="0">
                <a:solidFill>
                  <a:srgbClr val="E2EBFB"/>
                </a:solidFill>
                <a:latin typeface="Poppins" pitchFamily="34" charset="0"/>
                <a:ea typeface="Poppins" pitchFamily="34" charset="-122"/>
                <a:cs typeface="Poppins" pitchFamily="34" charset="-120"/>
              </a:rPr>
              <a:t>Inscription et réinscription des élèves, saisie des paiements, génération de factures et suivi de la liste des paiements.</a:t>
            </a:r>
            <a:endParaRPr lang="en-US" sz="1300" dirty="0"/>
          </a:p>
        </p:txBody>
      </p:sp>
      <p:sp>
        <p:nvSpPr>
          <p:cNvPr id="17" name="Shape 12"/>
          <p:cNvSpPr/>
          <p:nvPr/>
        </p:nvSpPr>
        <p:spPr>
          <a:xfrm>
            <a:off x="777240" y="5669280"/>
            <a:ext cx="146304" cy="146304"/>
          </a:xfrm>
          <a:prstGeom prst="line">
            <a:avLst/>
          </a:prstGeom>
          <a:solidFill>
            <a:srgbClr val="3E76D6"/>
          </a:solidFill>
          <a:ln/>
        </p:spPr>
      </p:sp>
      <p:sp>
        <p:nvSpPr>
          <p:cNvPr id="18" name="Shape 13"/>
          <p:cNvSpPr/>
          <p:nvPr/>
        </p:nvSpPr>
        <p:spPr>
          <a:xfrm>
            <a:off x="1088136" y="5669280"/>
            <a:ext cx="146304" cy="146304"/>
          </a:xfrm>
          <a:prstGeom prst="line">
            <a:avLst/>
          </a:prstGeom>
          <a:solidFill>
            <a:srgbClr val="FFFFFF"/>
          </a:solidFill>
          <a:ln/>
        </p:spPr>
      </p:sp>
      <p:sp>
        <p:nvSpPr>
          <p:cNvPr id="19" name="Shape 14"/>
          <p:cNvSpPr/>
          <p:nvPr/>
        </p:nvSpPr>
        <p:spPr>
          <a:xfrm>
            <a:off x="1399032" y="5669280"/>
            <a:ext cx="146304" cy="146304"/>
          </a:xfrm>
          <a:prstGeom prst="line">
            <a:avLst/>
          </a:prstGeom>
          <a:solidFill>
            <a:srgbClr val="3E76D6"/>
          </a:solidFill>
          <a:ln/>
        </p:spPr>
      </p:sp>
      <p:sp>
        <p:nvSpPr>
          <p:cNvPr id="20" name="Shape 15"/>
          <p:cNvSpPr/>
          <p:nvPr/>
        </p:nvSpPr>
        <p:spPr>
          <a:xfrm>
            <a:off x="1709928" y="5669280"/>
            <a:ext cx="146304" cy="146304"/>
          </a:xfrm>
          <a:prstGeom prst="line">
            <a:avLst/>
          </a:prstGeom>
          <a:solidFill>
            <a:srgbClr val="3E76D6"/>
          </a:solidFill>
          <a:ln/>
        </p:spPr>
      </p:sp>
      <p:sp>
        <p:nvSpPr>
          <p:cNvPr id="21" name="Shape 16"/>
          <p:cNvSpPr/>
          <p:nvPr/>
        </p:nvSpPr>
        <p:spPr>
          <a:xfrm>
            <a:off x="4160520" y="1417320"/>
            <a:ext cx="7528255" cy="4617720"/>
          </a:xfrm>
          <a:prstGeom prst="roundRect">
            <a:avLst>
              <a:gd name="adj" fmla="val 2376"/>
            </a:avLst>
          </a:prstGeom>
          <a:solidFill>
            <a:srgbClr val="FFFFFF"/>
          </a:solidFill>
          <a:ln w="12700">
            <a:solidFill>
              <a:srgbClr val="D8E2F3"/>
            </a:solidFill>
            <a:prstDash val="solid"/>
          </a:ln>
          <a:effectLst>
            <a:outerShdw blurRad="127000" dist="38100" dir="5400000" algn="bl" rotWithShape="0">
              <a:srgbClr val="0F5ED7">
                <a:alpha val="12000"/>
              </a:srgbClr>
            </a:outerShdw>
          </a:effectLst>
        </p:spPr>
      </p:sp>
      <p:sp>
        <p:nvSpPr>
          <p:cNvPr id="22" name="Shape 17"/>
          <p:cNvSpPr/>
          <p:nvPr/>
        </p:nvSpPr>
        <p:spPr>
          <a:xfrm>
            <a:off x="4160520" y="1417320"/>
            <a:ext cx="7528255" cy="329184"/>
          </a:xfrm>
          <a:prstGeom prst="roundRect">
            <a:avLst>
              <a:gd name="adj" fmla="val 33333"/>
            </a:avLst>
          </a:prstGeom>
          <a:solidFill>
            <a:srgbClr val="EEF3FD"/>
          </a:solidFill>
          <a:ln/>
        </p:spPr>
      </p:sp>
      <p:sp>
        <p:nvSpPr>
          <p:cNvPr id="23" name="Shape 18"/>
          <p:cNvSpPr/>
          <p:nvPr/>
        </p:nvSpPr>
        <p:spPr>
          <a:xfrm>
            <a:off x="4160520" y="1581912"/>
            <a:ext cx="7528255" cy="164592"/>
          </a:xfrm>
          <a:prstGeom prst="rect">
            <a:avLst/>
          </a:prstGeom>
          <a:solidFill>
            <a:srgbClr val="EEF3FD"/>
          </a:solidFill>
          <a:ln/>
        </p:spPr>
      </p:sp>
      <p:sp>
        <p:nvSpPr>
          <p:cNvPr id="24" name="Shape 19"/>
          <p:cNvSpPr/>
          <p:nvPr/>
        </p:nvSpPr>
        <p:spPr>
          <a:xfrm>
            <a:off x="4306824" y="1536192"/>
            <a:ext cx="91440" cy="91440"/>
          </a:xfrm>
          <a:prstGeom prst="line">
            <a:avLst/>
          </a:prstGeom>
          <a:solidFill>
            <a:srgbClr val="D8E2F3"/>
          </a:solidFill>
          <a:ln/>
        </p:spPr>
      </p:sp>
      <p:sp>
        <p:nvSpPr>
          <p:cNvPr id="25" name="Shape 20"/>
          <p:cNvSpPr/>
          <p:nvPr/>
        </p:nvSpPr>
        <p:spPr>
          <a:xfrm>
            <a:off x="4471416" y="1536192"/>
            <a:ext cx="91440" cy="91440"/>
          </a:xfrm>
          <a:prstGeom prst="line">
            <a:avLst/>
          </a:prstGeom>
          <a:solidFill>
            <a:srgbClr val="D8E2F3"/>
          </a:solidFill>
          <a:ln/>
        </p:spPr>
      </p:sp>
      <p:sp>
        <p:nvSpPr>
          <p:cNvPr id="26" name="Shape 21"/>
          <p:cNvSpPr/>
          <p:nvPr/>
        </p:nvSpPr>
        <p:spPr>
          <a:xfrm>
            <a:off x="4636008" y="1536192"/>
            <a:ext cx="91440" cy="91440"/>
          </a:xfrm>
          <a:prstGeom prst="line">
            <a:avLst/>
          </a:prstGeom>
          <a:solidFill>
            <a:srgbClr val="D8E2F3"/>
          </a:solidFill>
          <a:ln/>
        </p:spPr>
      </p:sp>
      <p:sp>
        <p:nvSpPr>
          <p:cNvPr id="27" name="Text 22"/>
          <p:cNvSpPr/>
          <p:nvPr/>
        </p:nvSpPr>
        <p:spPr>
          <a:xfrm>
            <a:off x="4160520" y="1417320"/>
            <a:ext cx="7528255" cy="329184"/>
          </a:xfrm>
          <a:prstGeom prst="rect">
            <a:avLst/>
          </a:prstGeom>
          <a:noFill/>
          <a:ln/>
        </p:spPr>
        <p:txBody>
          <a:bodyPr wrap="square" lIns="0" tIns="0" rIns="0" bIns="0" rtlCol="0" anchor="ctr"/>
          <a:lstStyle/>
          <a:p>
            <a:pPr marL="0" indent="0" algn="ctr">
              <a:buNone/>
            </a:pPr>
            <a:r>
              <a:rPr lang="en-US" sz="1000" dirty="0">
                <a:solidFill>
                  <a:srgbClr val="526579"/>
                </a:solidFill>
                <a:latin typeface="Poppins" pitchFamily="34" charset="0"/>
                <a:ea typeface="Poppins" pitchFamily="34" charset="-122"/>
                <a:cs typeface="Poppins" pitchFamily="34" charset="-120"/>
              </a:rPr>
              <a:t>Aperçu — parcours secrétaire</a:t>
            </a:r>
            <a:endParaRPr lang="en-US" sz="1000" dirty="0"/>
          </a:p>
        </p:txBody>
      </p:sp>
      <p:pic>
        <p:nvPicPr>
          <p:cNvPr id="28" name="Image 3" descr="/home/claude/assets_flow_secretaire.png"/>
          <p:cNvPicPr>
            <a:picLocks noChangeAspect="1"/>
          </p:cNvPicPr>
          <p:nvPr/>
        </p:nvPicPr>
        <p:blipFill>
          <a:blip r:embed="rId6"/>
          <a:stretch>
            <a:fillRect/>
          </a:stretch>
        </p:blipFill>
        <p:spPr>
          <a:xfrm>
            <a:off x="6543506" y="1874520"/>
            <a:ext cx="2762283" cy="4032504"/>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02920" y="384048"/>
            <a:ext cx="566928" cy="566928"/>
          </a:xfrm>
          <a:prstGeom prst="roundRect">
            <a:avLst>
              <a:gd name="adj" fmla="val 19355"/>
            </a:avLst>
          </a:prstGeom>
          <a:solidFill>
            <a:srgbClr val="E9F0FE"/>
          </a:solidFill>
          <a:ln/>
        </p:spPr>
      </p:sp>
      <p:pic>
        <p:nvPicPr>
          <p:cNvPr id="3" name="Image 0" descr="/home/claude/icons/route.png"/>
          <p:cNvPicPr>
            <a:picLocks noChangeAspect="1"/>
          </p:cNvPicPr>
          <p:nvPr/>
        </p:nvPicPr>
        <p:blipFill>
          <a:blip r:embed="rId4"/>
          <a:stretch>
            <a:fillRect/>
          </a:stretch>
        </p:blipFill>
        <p:spPr>
          <a:xfrm>
            <a:off x="621792" y="502920"/>
            <a:ext cx="329184" cy="329184"/>
          </a:xfrm>
          <a:prstGeom prst="rect">
            <a:avLst/>
          </a:prstGeom>
        </p:spPr>
      </p:pic>
      <p:sp>
        <p:nvSpPr>
          <p:cNvPr id="4" name="Text 1"/>
          <p:cNvSpPr/>
          <p:nvPr/>
        </p:nvSpPr>
        <p:spPr>
          <a:xfrm>
            <a:off x="1252728" y="310896"/>
            <a:ext cx="10436047" cy="457200"/>
          </a:xfrm>
          <a:prstGeom prst="rect">
            <a:avLst/>
          </a:prstGeom>
          <a:noFill/>
          <a:ln/>
        </p:spPr>
        <p:txBody>
          <a:bodyPr wrap="square" lIns="0" tIns="0" rIns="0" bIns="0" rtlCol="0" anchor="b"/>
          <a:lstStyle/>
          <a:p>
            <a:pPr marL="0" indent="0" algn="l">
              <a:buNone/>
            </a:pPr>
            <a:r>
              <a:rPr lang="en-US" sz="2600" b="1" kern="0" spc="-30" dirty="0">
                <a:solidFill>
                  <a:srgbClr val="102033"/>
                </a:solidFill>
                <a:latin typeface="Poppins" pitchFamily="34" charset="0"/>
                <a:ea typeface="Poppins" pitchFamily="34" charset="-122"/>
                <a:cs typeface="Poppins" pitchFamily="34" charset="-120"/>
              </a:rPr>
              <a:t>Parcours utilisateur</a:t>
            </a:r>
            <a:endParaRPr lang="en-US" sz="2600" dirty="0"/>
          </a:p>
        </p:txBody>
      </p:sp>
      <p:sp>
        <p:nvSpPr>
          <p:cNvPr id="5" name="Text 2"/>
          <p:cNvSpPr/>
          <p:nvPr/>
        </p:nvSpPr>
        <p:spPr>
          <a:xfrm>
            <a:off x="1252728" y="749808"/>
            <a:ext cx="10436047" cy="292608"/>
          </a:xfrm>
          <a:prstGeom prst="rect">
            <a:avLst/>
          </a:prstGeom>
          <a:noFill/>
          <a:ln/>
        </p:spPr>
        <p:txBody>
          <a:bodyPr wrap="square" lIns="0" tIns="0" rIns="0" bIns="0" rtlCol="0" anchor="t"/>
          <a:lstStyle/>
          <a:p>
            <a:pPr marL="0" indent="0" algn="l">
              <a:buNone/>
            </a:pPr>
            <a:r>
              <a:rPr lang="en-US" sz="1300" dirty="0">
                <a:solidFill>
                  <a:srgbClr val="526579"/>
                </a:solidFill>
                <a:latin typeface="Poppins" pitchFamily="34" charset="0"/>
                <a:ea typeface="Poppins" pitchFamily="34" charset="-122"/>
                <a:cs typeface="Poppins" pitchFamily="34" charset="-120"/>
              </a:rPr>
              <a:t>Rôle : Professeur</a:t>
            </a:r>
            <a:endParaRPr lang="en-US" sz="1300" dirty="0"/>
          </a:p>
        </p:txBody>
      </p:sp>
      <p:sp>
        <p:nvSpPr>
          <p:cNvPr id="6" name="Shape 3"/>
          <p:cNvSpPr/>
          <p:nvPr/>
        </p:nvSpPr>
        <p:spPr>
          <a:xfrm>
            <a:off x="502920" y="1170432"/>
            <a:ext cx="11185855" cy="0"/>
          </a:xfrm>
          <a:prstGeom prst="line">
            <a:avLst/>
          </a:prstGeom>
          <a:noFill/>
          <a:ln w="15875">
            <a:solidFill>
              <a:srgbClr val="D8E2F3"/>
            </a:solidFill>
            <a:prstDash val="solid"/>
          </a:ln>
        </p:spPr>
      </p:sp>
      <p:pic>
        <p:nvPicPr>
          <p:cNvPr id="7" name="Image 1" descr="/home/claude/icons/school.png"/>
          <p:cNvPicPr>
            <a:picLocks noChangeAspect="1"/>
          </p:cNvPicPr>
          <p:nvPr/>
        </p:nvPicPr>
        <p:blipFill>
          <a:blip r:embed="rId5"/>
          <a:stretch>
            <a:fillRect/>
          </a:stretch>
        </p:blipFill>
        <p:spPr>
          <a:xfrm>
            <a:off x="502920" y="6528816"/>
            <a:ext cx="146304" cy="146304"/>
          </a:xfrm>
          <a:prstGeom prst="rect">
            <a:avLst/>
          </a:prstGeom>
        </p:spPr>
      </p:pic>
      <p:sp>
        <p:nvSpPr>
          <p:cNvPr id="8" name="Shape 4"/>
          <p:cNvSpPr/>
          <p:nvPr/>
        </p:nvSpPr>
        <p:spPr>
          <a:xfrm>
            <a:off x="475488" y="6501384"/>
            <a:ext cx="201168" cy="201168"/>
          </a:xfrm>
          <a:prstGeom prst="line">
            <a:avLst/>
          </a:prstGeom>
          <a:solidFill>
            <a:srgbClr val="0F5ED7"/>
          </a:solidFill>
          <a:ln/>
        </p:spPr>
      </p:sp>
      <p:pic>
        <p:nvPicPr>
          <p:cNvPr id="9" name="Image 2" descr="/home/claude/icons/school.png"/>
          <p:cNvPicPr>
            <a:picLocks noChangeAspect="1"/>
          </p:cNvPicPr>
          <p:nvPr/>
        </p:nvPicPr>
        <p:blipFill>
          <a:blip r:embed="rId5"/>
          <a:stretch>
            <a:fillRect/>
          </a:stretch>
        </p:blipFill>
        <p:spPr>
          <a:xfrm>
            <a:off x="516636" y="6533388"/>
            <a:ext cx="137160" cy="137160"/>
          </a:xfrm>
          <a:prstGeom prst="rect">
            <a:avLst/>
          </a:prstGeom>
        </p:spPr>
      </p:pic>
      <p:sp>
        <p:nvSpPr>
          <p:cNvPr id="10" name="Text 5"/>
          <p:cNvSpPr/>
          <p:nvPr/>
        </p:nvSpPr>
        <p:spPr>
          <a:xfrm>
            <a:off x="777240" y="6473952"/>
            <a:ext cx="5943600" cy="274320"/>
          </a:xfrm>
          <a:prstGeom prst="rect">
            <a:avLst/>
          </a:prstGeom>
          <a:noFill/>
          <a:ln/>
        </p:spPr>
        <p:txBody>
          <a:bodyPr wrap="square" lIns="0" tIns="0" rIns="0" bIns="0" rtlCol="0" anchor="ctr"/>
          <a:lstStyle/>
          <a:p>
            <a:pPr marL="0" indent="0">
              <a:buNone/>
            </a:pPr>
            <a:r>
              <a:rPr lang="en-US" sz="950" dirty="0">
                <a:solidFill>
                  <a:srgbClr val="526579"/>
                </a:solidFill>
                <a:latin typeface="Poppins" pitchFamily="34" charset="0"/>
                <a:ea typeface="Poppins" pitchFamily="34" charset="-122"/>
                <a:cs typeface="Poppins" pitchFamily="34" charset="-120"/>
              </a:rPr>
              <a:t>Groupe Y  •  Gestion d'un établissement scolaire</a:t>
            </a:r>
            <a:endParaRPr lang="en-US" sz="950" dirty="0"/>
          </a:p>
        </p:txBody>
      </p:sp>
      <p:sp>
        <p:nvSpPr>
          <p:cNvPr id="11" name="Text 6"/>
          <p:cNvSpPr/>
          <p:nvPr/>
        </p:nvSpPr>
        <p:spPr>
          <a:xfrm>
            <a:off x="10591495" y="6473952"/>
            <a:ext cx="1097280" cy="274320"/>
          </a:xfrm>
          <a:prstGeom prst="rect">
            <a:avLst/>
          </a:prstGeom>
          <a:noFill/>
          <a:ln/>
        </p:spPr>
        <p:txBody>
          <a:bodyPr wrap="square" lIns="0" tIns="0" rIns="0" bIns="0" rtlCol="0" anchor="ctr"/>
          <a:lstStyle/>
          <a:p>
            <a:pPr marL="0" indent="0" algn="r">
              <a:buNone/>
            </a:pPr>
            <a:r>
              <a:rPr lang="en-US" sz="950" dirty="0">
                <a:solidFill>
                  <a:srgbClr val="526579"/>
                </a:solidFill>
                <a:latin typeface="JetBrains Mono" pitchFamily="34" charset="0"/>
                <a:ea typeface="JetBrains Mono" pitchFamily="34" charset="-122"/>
                <a:cs typeface="JetBrains Mono" pitchFamily="34" charset="-120"/>
              </a:rPr>
              <a:t>11</a:t>
            </a:r>
            <a:endParaRPr lang="en-US" sz="950" dirty="0"/>
          </a:p>
        </p:txBody>
      </p:sp>
      <p:sp>
        <p:nvSpPr>
          <p:cNvPr id="12" name="Shape 7"/>
          <p:cNvSpPr/>
          <p:nvPr/>
        </p:nvSpPr>
        <p:spPr>
          <a:xfrm>
            <a:off x="502920" y="1417320"/>
            <a:ext cx="3383280" cy="4617720"/>
          </a:xfrm>
          <a:prstGeom prst="roundRect">
            <a:avLst>
              <a:gd name="adj" fmla="val 3243"/>
            </a:avLst>
          </a:prstGeom>
          <a:solidFill>
            <a:srgbClr val="0F5ED7"/>
          </a:solidFill>
          <a:ln w="12700">
            <a:solidFill>
              <a:srgbClr val="0F5ED7"/>
            </a:solidFill>
            <a:prstDash val="solid"/>
          </a:ln>
          <a:effectLst>
            <a:outerShdw blurRad="127000" dist="38100" dir="5400000" algn="bl" rotWithShape="0">
              <a:srgbClr val="0F5ED7">
                <a:alpha val="12000"/>
              </a:srgbClr>
            </a:outerShdw>
          </a:effectLst>
        </p:spPr>
      </p:sp>
      <p:sp>
        <p:nvSpPr>
          <p:cNvPr id="13" name="Text 8"/>
          <p:cNvSpPr/>
          <p:nvPr/>
        </p:nvSpPr>
        <p:spPr>
          <a:xfrm>
            <a:off x="777240" y="1691640"/>
            <a:ext cx="2834640" cy="457200"/>
          </a:xfrm>
          <a:prstGeom prst="rect">
            <a:avLst/>
          </a:prstGeom>
          <a:noFill/>
          <a:ln/>
        </p:spPr>
        <p:txBody>
          <a:bodyPr wrap="square" lIns="0" tIns="0" rIns="0" bIns="0" rtlCol="0" anchor="ctr"/>
          <a:lstStyle/>
          <a:p>
            <a:pPr marL="0" indent="0">
              <a:buNone/>
            </a:pPr>
            <a:r>
              <a:rPr lang="en-US" sz="2200" b="1" dirty="0">
                <a:solidFill>
                  <a:srgbClr val="AFCBFA"/>
                </a:solidFill>
                <a:latin typeface="JetBrains Mono" pitchFamily="34" charset="0"/>
                <a:ea typeface="JetBrains Mono" pitchFamily="34" charset="-122"/>
                <a:cs typeface="JetBrains Mono" pitchFamily="34" charset="-120"/>
              </a:rPr>
              <a:t>3 / 4</a:t>
            </a:r>
            <a:endParaRPr lang="en-US" sz="2200" dirty="0"/>
          </a:p>
        </p:txBody>
      </p:sp>
      <p:sp>
        <p:nvSpPr>
          <p:cNvPr id="14" name="Text 9"/>
          <p:cNvSpPr/>
          <p:nvPr/>
        </p:nvSpPr>
        <p:spPr>
          <a:xfrm>
            <a:off x="777240" y="2194560"/>
            <a:ext cx="2834640" cy="640080"/>
          </a:xfrm>
          <a:prstGeom prst="rect">
            <a:avLst/>
          </a:prstGeom>
          <a:noFill/>
          <a:ln/>
        </p:spPr>
        <p:txBody>
          <a:bodyPr wrap="square" lIns="0" tIns="0" rIns="0" bIns="0" rtlCol="0" anchor="ctr"/>
          <a:lstStyle/>
          <a:p>
            <a:pPr marL="0" indent="0">
              <a:buNone/>
            </a:pPr>
            <a:r>
              <a:rPr lang="en-US" sz="2800" b="1" dirty="0">
                <a:solidFill>
                  <a:srgbClr val="FFFFFF"/>
                </a:solidFill>
                <a:latin typeface="Poppins" pitchFamily="34" charset="0"/>
                <a:ea typeface="Poppins" pitchFamily="34" charset="-122"/>
                <a:cs typeface="Poppins" pitchFamily="34" charset="-120"/>
              </a:rPr>
              <a:t>Professeur</a:t>
            </a:r>
            <a:endParaRPr lang="en-US" sz="2800" dirty="0"/>
          </a:p>
        </p:txBody>
      </p:sp>
      <p:sp>
        <p:nvSpPr>
          <p:cNvPr id="15" name="Shape 10"/>
          <p:cNvSpPr/>
          <p:nvPr/>
        </p:nvSpPr>
        <p:spPr>
          <a:xfrm>
            <a:off x="777240" y="2971800"/>
            <a:ext cx="548640" cy="0"/>
          </a:xfrm>
          <a:prstGeom prst="line">
            <a:avLst/>
          </a:prstGeom>
          <a:noFill/>
          <a:ln w="25400">
            <a:solidFill>
              <a:srgbClr val="5C93E8"/>
            </a:solidFill>
            <a:prstDash val="solid"/>
          </a:ln>
        </p:spPr>
      </p:sp>
      <p:sp>
        <p:nvSpPr>
          <p:cNvPr id="16" name="Text 11"/>
          <p:cNvSpPr/>
          <p:nvPr/>
        </p:nvSpPr>
        <p:spPr>
          <a:xfrm>
            <a:off x="777240" y="3200400"/>
            <a:ext cx="2834640" cy="2560320"/>
          </a:xfrm>
          <a:prstGeom prst="rect">
            <a:avLst/>
          </a:prstGeom>
          <a:noFill/>
          <a:ln/>
        </p:spPr>
        <p:txBody>
          <a:bodyPr wrap="square" lIns="0" tIns="0" rIns="0" bIns="0" rtlCol="0" anchor="ctr"/>
          <a:lstStyle/>
          <a:p>
            <a:pPr marL="0" indent="0">
              <a:lnSpc>
                <a:spcPct val="150000"/>
              </a:lnSpc>
              <a:buNone/>
            </a:pPr>
            <a:r>
              <a:rPr lang="en-US" sz="1300" dirty="0">
                <a:solidFill>
                  <a:srgbClr val="E2EBFB"/>
                </a:solidFill>
                <a:latin typeface="Poppins" pitchFamily="34" charset="0"/>
                <a:ea typeface="Poppins" pitchFamily="34" charset="-122"/>
                <a:cs typeface="Poppins" pitchFamily="34" charset="-120"/>
              </a:rPr>
              <a:t>Consultation des classes assignées, saisie des notes et des absences, consultation de l'emploi du temps et des bulletins.</a:t>
            </a:r>
            <a:endParaRPr lang="en-US" sz="1300" dirty="0"/>
          </a:p>
        </p:txBody>
      </p:sp>
      <p:sp>
        <p:nvSpPr>
          <p:cNvPr id="17" name="Shape 12"/>
          <p:cNvSpPr/>
          <p:nvPr/>
        </p:nvSpPr>
        <p:spPr>
          <a:xfrm>
            <a:off x="777240" y="5669280"/>
            <a:ext cx="146304" cy="146304"/>
          </a:xfrm>
          <a:prstGeom prst="line">
            <a:avLst/>
          </a:prstGeom>
          <a:solidFill>
            <a:srgbClr val="3E76D6"/>
          </a:solidFill>
          <a:ln/>
        </p:spPr>
      </p:sp>
      <p:sp>
        <p:nvSpPr>
          <p:cNvPr id="18" name="Shape 13"/>
          <p:cNvSpPr/>
          <p:nvPr/>
        </p:nvSpPr>
        <p:spPr>
          <a:xfrm>
            <a:off x="1088136" y="5669280"/>
            <a:ext cx="146304" cy="146304"/>
          </a:xfrm>
          <a:prstGeom prst="line">
            <a:avLst/>
          </a:prstGeom>
          <a:solidFill>
            <a:srgbClr val="3E76D6"/>
          </a:solidFill>
          <a:ln/>
        </p:spPr>
      </p:sp>
      <p:sp>
        <p:nvSpPr>
          <p:cNvPr id="19" name="Shape 14"/>
          <p:cNvSpPr/>
          <p:nvPr/>
        </p:nvSpPr>
        <p:spPr>
          <a:xfrm>
            <a:off x="1399032" y="5669280"/>
            <a:ext cx="146304" cy="146304"/>
          </a:xfrm>
          <a:prstGeom prst="line">
            <a:avLst/>
          </a:prstGeom>
          <a:solidFill>
            <a:srgbClr val="FFFFFF"/>
          </a:solidFill>
          <a:ln/>
        </p:spPr>
      </p:sp>
      <p:sp>
        <p:nvSpPr>
          <p:cNvPr id="20" name="Shape 15"/>
          <p:cNvSpPr/>
          <p:nvPr/>
        </p:nvSpPr>
        <p:spPr>
          <a:xfrm>
            <a:off x="1709928" y="5669280"/>
            <a:ext cx="146304" cy="146304"/>
          </a:xfrm>
          <a:prstGeom prst="line">
            <a:avLst/>
          </a:prstGeom>
          <a:solidFill>
            <a:srgbClr val="3E76D6"/>
          </a:solidFill>
          <a:ln/>
        </p:spPr>
      </p:sp>
      <p:sp>
        <p:nvSpPr>
          <p:cNvPr id="21" name="Shape 16"/>
          <p:cNvSpPr/>
          <p:nvPr/>
        </p:nvSpPr>
        <p:spPr>
          <a:xfrm>
            <a:off x="4160520" y="1417320"/>
            <a:ext cx="7528255" cy="4617720"/>
          </a:xfrm>
          <a:prstGeom prst="roundRect">
            <a:avLst>
              <a:gd name="adj" fmla="val 2376"/>
            </a:avLst>
          </a:prstGeom>
          <a:solidFill>
            <a:srgbClr val="FFFFFF"/>
          </a:solidFill>
          <a:ln w="12700">
            <a:solidFill>
              <a:srgbClr val="D8E2F3"/>
            </a:solidFill>
            <a:prstDash val="solid"/>
          </a:ln>
          <a:effectLst>
            <a:outerShdw blurRad="127000" dist="38100" dir="5400000" algn="bl" rotWithShape="0">
              <a:srgbClr val="0F5ED7">
                <a:alpha val="12000"/>
              </a:srgbClr>
            </a:outerShdw>
          </a:effectLst>
        </p:spPr>
      </p:sp>
      <p:sp>
        <p:nvSpPr>
          <p:cNvPr id="22" name="Shape 17"/>
          <p:cNvSpPr/>
          <p:nvPr/>
        </p:nvSpPr>
        <p:spPr>
          <a:xfrm>
            <a:off x="4160520" y="1417320"/>
            <a:ext cx="7528255" cy="329184"/>
          </a:xfrm>
          <a:prstGeom prst="roundRect">
            <a:avLst>
              <a:gd name="adj" fmla="val 33333"/>
            </a:avLst>
          </a:prstGeom>
          <a:solidFill>
            <a:srgbClr val="EEF3FD"/>
          </a:solidFill>
          <a:ln/>
        </p:spPr>
      </p:sp>
      <p:sp>
        <p:nvSpPr>
          <p:cNvPr id="23" name="Shape 18"/>
          <p:cNvSpPr/>
          <p:nvPr/>
        </p:nvSpPr>
        <p:spPr>
          <a:xfrm>
            <a:off x="4160520" y="1581912"/>
            <a:ext cx="7528255" cy="164592"/>
          </a:xfrm>
          <a:prstGeom prst="rect">
            <a:avLst/>
          </a:prstGeom>
          <a:solidFill>
            <a:srgbClr val="EEF3FD"/>
          </a:solidFill>
          <a:ln/>
        </p:spPr>
      </p:sp>
      <p:sp>
        <p:nvSpPr>
          <p:cNvPr id="24" name="Shape 19"/>
          <p:cNvSpPr/>
          <p:nvPr/>
        </p:nvSpPr>
        <p:spPr>
          <a:xfrm>
            <a:off x="4306824" y="1536192"/>
            <a:ext cx="91440" cy="91440"/>
          </a:xfrm>
          <a:prstGeom prst="line">
            <a:avLst/>
          </a:prstGeom>
          <a:solidFill>
            <a:srgbClr val="D8E2F3"/>
          </a:solidFill>
          <a:ln/>
        </p:spPr>
      </p:sp>
      <p:sp>
        <p:nvSpPr>
          <p:cNvPr id="25" name="Shape 20"/>
          <p:cNvSpPr/>
          <p:nvPr/>
        </p:nvSpPr>
        <p:spPr>
          <a:xfrm>
            <a:off x="4471416" y="1536192"/>
            <a:ext cx="91440" cy="91440"/>
          </a:xfrm>
          <a:prstGeom prst="line">
            <a:avLst/>
          </a:prstGeom>
          <a:solidFill>
            <a:srgbClr val="D8E2F3"/>
          </a:solidFill>
          <a:ln/>
        </p:spPr>
      </p:sp>
      <p:sp>
        <p:nvSpPr>
          <p:cNvPr id="26" name="Shape 21"/>
          <p:cNvSpPr/>
          <p:nvPr/>
        </p:nvSpPr>
        <p:spPr>
          <a:xfrm>
            <a:off x="4636008" y="1536192"/>
            <a:ext cx="91440" cy="91440"/>
          </a:xfrm>
          <a:prstGeom prst="line">
            <a:avLst/>
          </a:prstGeom>
          <a:solidFill>
            <a:srgbClr val="D8E2F3"/>
          </a:solidFill>
          <a:ln/>
        </p:spPr>
      </p:sp>
      <p:sp>
        <p:nvSpPr>
          <p:cNvPr id="27" name="Text 22"/>
          <p:cNvSpPr/>
          <p:nvPr/>
        </p:nvSpPr>
        <p:spPr>
          <a:xfrm>
            <a:off x="4160520" y="1417320"/>
            <a:ext cx="7528255" cy="329184"/>
          </a:xfrm>
          <a:prstGeom prst="rect">
            <a:avLst/>
          </a:prstGeom>
          <a:noFill/>
          <a:ln/>
        </p:spPr>
        <p:txBody>
          <a:bodyPr wrap="square" lIns="0" tIns="0" rIns="0" bIns="0" rtlCol="0" anchor="ctr"/>
          <a:lstStyle/>
          <a:p>
            <a:pPr marL="0" indent="0" algn="ctr">
              <a:buNone/>
            </a:pPr>
            <a:r>
              <a:rPr lang="en-US" sz="1000" dirty="0">
                <a:solidFill>
                  <a:srgbClr val="526579"/>
                </a:solidFill>
                <a:latin typeface="Poppins" pitchFamily="34" charset="0"/>
                <a:ea typeface="Poppins" pitchFamily="34" charset="-122"/>
                <a:cs typeface="Poppins" pitchFamily="34" charset="-120"/>
              </a:rPr>
              <a:t>Aperçu — parcours professeur</a:t>
            </a:r>
            <a:endParaRPr lang="en-US" sz="1000" dirty="0"/>
          </a:p>
        </p:txBody>
      </p:sp>
      <p:pic>
        <p:nvPicPr>
          <p:cNvPr id="28" name="Image 3" descr="/home/claude/assets_flow_professeur.png"/>
          <p:cNvPicPr>
            <a:picLocks noChangeAspect="1"/>
          </p:cNvPicPr>
          <p:nvPr/>
        </p:nvPicPr>
        <p:blipFill>
          <a:blip r:embed="rId6"/>
          <a:stretch>
            <a:fillRect/>
          </a:stretch>
        </p:blipFill>
        <p:spPr>
          <a:xfrm>
            <a:off x="6114007" y="1874520"/>
            <a:ext cx="3621281" cy="4032504"/>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02920" y="384048"/>
            <a:ext cx="566928" cy="566928"/>
          </a:xfrm>
          <a:prstGeom prst="roundRect">
            <a:avLst>
              <a:gd name="adj" fmla="val 19355"/>
            </a:avLst>
          </a:prstGeom>
          <a:solidFill>
            <a:srgbClr val="E9F0FE"/>
          </a:solidFill>
          <a:ln/>
        </p:spPr>
      </p:sp>
      <p:pic>
        <p:nvPicPr>
          <p:cNvPr id="3" name="Image 0" descr="/home/claude/icons/route.png"/>
          <p:cNvPicPr>
            <a:picLocks noChangeAspect="1"/>
          </p:cNvPicPr>
          <p:nvPr/>
        </p:nvPicPr>
        <p:blipFill>
          <a:blip r:embed="rId4"/>
          <a:stretch>
            <a:fillRect/>
          </a:stretch>
        </p:blipFill>
        <p:spPr>
          <a:xfrm>
            <a:off x="621792" y="502920"/>
            <a:ext cx="329184" cy="329184"/>
          </a:xfrm>
          <a:prstGeom prst="rect">
            <a:avLst/>
          </a:prstGeom>
        </p:spPr>
      </p:pic>
      <p:sp>
        <p:nvSpPr>
          <p:cNvPr id="4" name="Text 1"/>
          <p:cNvSpPr/>
          <p:nvPr/>
        </p:nvSpPr>
        <p:spPr>
          <a:xfrm>
            <a:off x="1252728" y="310896"/>
            <a:ext cx="10436047" cy="457200"/>
          </a:xfrm>
          <a:prstGeom prst="rect">
            <a:avLst/>
          </a:prstGeom>
          <a:noFill/>
          <a:ln/>
        </p:spPr>
        <p:txBody>
          <a:bodyPr wrap="square" lIns="0" tIns="0" rIns="0" bIns="0" rtlCol="0" anchor="b"/>
          <a:lstStyle/>
          <a:p>
            <a:pPr marL="0" indent="0" algn="l">
              <a:buNone/>
            </a:pPr>
            <a:r>
              <a:rPr lang="en-US" sz="2600" b="1" kern="0" spc="-30" dirty="0">
                <a:solidFill>
                  <a:srgbClr val="102033"/>
                </a:solidFill>
                <a:latin typeface="Poppins" pitchFamily="34" charset="0"/>
                <a:ea typeface="Poppins" pitchFamily="34" charset="-122"/>
                <a:cs typeface="Poppins" pitchFamily="34" charset="-120"/>
              </a:rPr>
              <a:t>Parcours utilisateur</a:t>
            </a:r>
            <a:endParaRPr lang="en-US" sz="2600" dirty="0"/>
          </a:p>
        </p:txBody>
      </p:sp>
      <p:sp>
        <p:nvSpPr>
          <p:cNvPr id="5" name="Text 2"/>
          <p:cNvSpPr/>
          <p:nvPr/>
        </p:nvSpPr>
        <p:spPr>
          <a:xfrm>
            <a:off x="1252728" y="749808"/>
            <a:ext cx="10436047" cy="292608"/>
          </a:xfrm>
          <a:prstGeom prst="rect">
            <a:avLst/>
          </a:prstGeom>
          <a:noFill/>
          <a:ln/>
        </p:spPr>
        <p:txBody>
          <a:bodyPr wrap="square" lIns="0" tIns="0" rIns="0" bIns="0" rtlCol="0" anchor="t"/>
          <a:lstStyle/>
          <a:p>
            <a:pPr marL="0" indent="0" algn="l">
              <a:buNone/>
            </a:pPr>
            <a:r>
              <a:rPr lang="en-US" sz="1300" dirty="0">
                <a:solidFill>
                  <a:srgbClr val="526579"/>
                </a:solidFill>
                <a:latin typeface="Poppins" pitchFamily="34" charset="0"/>
                <a:ea typeface="Poppins" pitchFamily="34" charset="-122"/>
                <a:cs typeface="Poppins" pitchFamily="34" charset="-120"/>
              </a:rPr>
              <a:t>Rôle : Étudiant</a:t>
            </a:r>
            <a:endParaRPr lang="en-US" sz="1300" dirty="0"/>
          </a:p>
        </p:txBody>
      </p:sp>
      <p:sp>
        <p:nvSpPr>
          <p:cNvPr id="6" name="Shape 3"/>
          <p:cNvSpPr/>
          <p:nvPr/>
        </p:nvSpPr>
        <p:spPr>
          <a:xfrm>
            <a:off x="502920" y="1170432"/>
            <a:ext cx="11185855" cy="0"/>
          </a:xfrm>
          <a:prstGeom prst="line">
            <a:avLst/>
          </a:prstGeom>
          <a:noFill/>
          <a:ln w="15875">
            <a:solidFill>
              <a:srgbClr val="D8E2F3"/>
            </a:solidFill>
            <a:prstDash val="solid"/>
          </a:ln>
        </p:spPr>
      </p:sp>
      <p:pic>
        <p:nvPicPr>
          <p:cNvPr id="7" name="Image 1" descr="/home/claude/icons/school.png"/>
          <p:cNvPicPr>
            <a:picLocks noChangeAspect="1"/>
          </p:cNvPicPr>
          <p:nvPr/>
        </p:nvPicPr>
        <p:blipFill>
          <a:blip r:embed="rId5"/>
          <a:stretch>
            <a:fillRect/>
          </a:stretch>
        </p:blipFill>
        <p:spPr>
          <a:xfrm>
            <a:off x="502920" y="6528816"/>
            <a:ext cx="146304" cy="146304"/>
          </a:xfrm>
          <a:prstGeom prst="rect">
            <a:avLst/>
          </a:prstGeom>
        </p:spPr>
      </p:pic>
      <p:sp>
        <p:nvSpPr>
          <p:cNvPr id="8" name="Shape 4"/>
          <p:cNvSpPr/>
          <p:nvPr/>
        </p:nvSpPr>
        <p:spPr>
          <a:xfrm>
            <a:off x="475488" y="6501384"/>
            <a:ext cx="201168" cy="201168"/>
          </a:xfrm>
          <a:prstGeom prst="line">
            <a:avLst/>
          </a:prstGeom>
          <a:solidFill>
            <a:srgbClr val="0F5ED7"/>
          </a:solidFill>
          <a:ln/>
        </p:spPr>
      </p:sp>
      <p:pic>
        <p:nvPicPr>
          <p:cNvPr id="9" name="Image 2" descr="/home/claude/icons/school.png"/>
          <p:cNvPicPr>
            <a:picLocks noChangeAspect="1"/>
          </p:cNvPicPr>
          <p:nvPr/>
        </p:nvPicPr>
        <p:blipFill>
          <a:blip r:embed="rId5"/>
          <a:stretch>
            <a:fillRect/>
          </a:stretch>
        </p:blipFill>
        <p:spPr>
          <a:xfrm>
            <a:off x="516636" y="6533388"/>
            <a:ext cx="137160" cy="137160"/>
          </a:xfrm>
          <a:prstGeom prst="rect">
            <a:avLst/>
          </a:prstGeom>
        </p:spPr>
      </p:pic>
      <p:sp>
        <p:nvSpPr>
          <p:cNvPr id="10" name="Text 5"/>
          <p:cNvSpPr/>
          <p:nvPr/>
        </p:nvSpPr>
        <p:spPr>
          <a:xfrm>
            <a:off x="777240" y="6473952"/>
            <a:ext cx="5943600" cy="274320"/>
          </a:xfrm>
          <a:prstGeom prst="rect">
            <a:avLst/>
          </a:prstGeom>
          <a:noFill/>
          <a:ln/>
        </p:spPr>
        <p:txBody>
          <a:bodyPr wrap="square" lIns="0" tIns="0" rIns="0" bIns="0" rtlCol="0" anchor="ctr"/>
          <a:lstStyle/>
          <a:p>
            <a:pPr marL="0" indent="0">
              <a:buNone/>
            </a:pPr>
            <a:r>
              <a:rPr lang="en-US" sz="950" dirty="0">
                <a:solidFill>
                  <a:srgbClr val="526579"/>
                </a:solidFill>
                <a:latin typeface="Poppins" pitchFamily="34" charset="0"/>
                <a:ea typeface="Poppins" pitchFamily="34" charset="-122"/>
                <a:cs typeface="Poppins" pitchFamily="34" charset="-120"/>
              </a:rPr>
              <a:t>Groupe Y  •  Gestion d'un établissement scolaire</a:t>
            </a:r>
            <a:endParaRPr lang="en-US" sz="950" dirty="0"/>
          </a:p>
        </p:txBody>
      </p:sp>
      <p:sp>
        <p:nvSpPr>
          <p:cNvPr id="11" name="Text 6"/>
          <p:cNvSpPr/>
          <p:nvPr/>
        </p:nvSpPr>
        <p:spPr>
          <a:xfrm>
            <a:off x="10591495" y="6473952"/>
            <a:ext cx="1097280" cy="274320"/>
          </a:xfrm>
          <a:prstGeom prst="rect">
            <a:avLst/>
          </a:prstGeom>
          <a:noFill/>
          <a:ln/>
        </p:spPr>
        <p:txBody>
          <a:bodyPr wrap="square" lIns="0" tIns="0" rIns="0" bIns="0" rtlCol="0" anchor="ctr"/>
          <a:lstStyle/>
          <a:p>
            <a:pPr marL="0" indent="0" algn="r">
              <a:buNone/>
            </a:pPr>
            <a:r>
              <a:rPr lang="en-US" sz="950" dirty="0">
                <a:solidFill>
                  <a:srgbClr val="526579"/>
                </a:solidFill>
                <a:latin typeface="JetBrains Mono" pitchFamily="34" charset="0"/>
                <a:ea typeface="JetBrains Mono" pitchFamily="34" charset="-122"/>
                <a:cs typeface="JetBrains Mono" pitchFamily="34" charset="-120"/>
              </a:rPr>
              <a:t>12</a:t>
            </a:r>
            <a:endParaRPr lang="en-US" sz="950" dirty="0"/>
          </a:p>
        </p:txBody>
      </p:sp>
      <p:sp>
        <p:nvSpPr>
          <p:cNvPr id="12" name="Shape 7"/>
          <p:cNvSpPr/>
          <p:nvPr/>
        </p:nvSpPr>
        <p:spPr>
          <a:xfrm>
            <a:off x="502920" y="1417320"/>
            <a:ext cx="3383280" cy="4617720"/>
          </a:xfrm>
          <a:prstGeom prst="roundRect">
            <a:avLst>
              <a:gd name="adj" fmla="val 3243"/>
            </a:avLst>
          </a:prstGeom>
          <a:solidFill>
            <a:srgbClr val="0F5ED7"/>
          </a:solidFill>
          <a:ln w="12700">
            <a:solidFill>
              <a:srgbClr val="0F5ED7"/>
            </a:solidFill>
            <a:prstDash val="solid"/>
          </a:ln>
          <a:effectLst>
            <a:outerShdw blurRad="127000" dist="38100" dir="5400000" algn="bl" rotWithShape="0">
              <a:srgbClr val="0F5ED7">
                <a:alpha val="12000"/>
              </a:srgbClr>
            </a:outerShdw>
          </a:effectLst>
        </p:spPr>
      </p:sp>
      <p:sp>
        <p:nvSpPr>
          <p:cNvPr id="13" name="Text 8"/>
          <p:cNvSpPr/>
          <p:nvPr/>
        </p:nvSpPr>
        <p:spPr>
          <a:xfrm>
            <a:off x="777240" y="1691640"/>
            <a:ext cx="2834640" cy="457200"/>
          </a:xfrm>
          <a:prstGeom prst="rect">
            <a:avLst/>
          </a:prstGeom>
          <a:noFill/>
          <a:ln/>
        </p:spPr>
        <p:txBody>
          <a:bodyPr wrap="square" lIns="0" tIns="0" rIns="0" bIns="0" rtlCol="0" anchor="ctr"/>
          <a:lstStyle/>
          <a:p>
            <a:pPr marL="0" indent="0">
              <a:buNone/>
            </a:pPr>
            <a:r>
              <a:rPr lang="en-US" sz="2200" b="1" dirty="0">
                <a:solidFill>
                  <a:srgbClr val="AFCBFA"/>
                </a:solidFill>
                <a:latin typeface="JetBrains Mono" pitchFamily="34" charset="0"/>
                <a:ea typeface="JetBrains Mono" pitchFamily="34" charset="-122"/>
                <a:cs typeface="JetBrains Mono" pitchFamily="34" charset="-120"/>
              </a:rPr>
              <a:t>4 / 4</a:t>
            </a:r>
            <a:endParaRPr lang="en-US" sz="2200" dirty="0"/>
          </a:p>
        </p:txBody>
      </p:sp>
      <p:sp>
        <p:nvSpPr>
          <p:cNvPr id="14" name="Text 9"/>
          <p:cNvSpPr/>
          <p:nvPr/>
        </p:nvSpPr>
        <p:spPr>
          <a:xfrm>
            <a:off x="777240" y="2194560"/>
            <a:ext cx="2834640" cy="640080"/>
          </a:xfrm>
          <a:prstGeom prst="rect">
            <a:avLst/>
          </a:prstGeom>
          <a:noFill/>
          <a:ln/>
        </p:spPr>
        <p:txBody>
          <a:bodyPr wrap="square" lIns="0" tIns="0" rIns="0" bIns="0" rtlCol="0" anchor="ctr"/>
          <a:lstStyle/>
          <a:p>
            <a:pPr marL="0" indent="0">
              <a:buNone/>
            </a:pPr>
            <a:r>
              <a:rPr lang="en-US" sz="2800" b="1" dirty="0">
                <a:solidFill>
                  <a:srgbClr val="FFFFFF"/>
                </a:solidFill>
                <a:latin typeface="Poppins" pitchFamily="34" charset="0"/>
                <a:ea typeface="Poppins" pitchFamily="34" charset="-122"/>
                <a:cs typeface="Poppins" pitchFamily="34" charset="-120"/>
              </a:rPr>
              <a:t>Étudiant</a:t>
            </a:r>
            <a:endParaRPr lang="en-US" sz="2800" dirty="0"/>
          </a:p>
        </p:txBody>
      </p:sp>
      <p:sp>
        <p:nvSpPr>
          <p:cNvPr id="15" name="Shape 10"/>
          <p:cNvSpPr/>
          <p:nvPr/>
        </p:nvSpPr>
        <p:spPr>
          <a:xfrm>
            <a:off x="777240" y="2971800"/>
            <a:ext cx="548640" cy="0"/>
          </a:xfrm>
          <a:prstGeom prst="line">
            <a:avLst/>
          </a:prstGeom>
          <a:noFill/>
          <a:ln w="25400">
            <a:solidFill>
              <a:srgbClr val="5C93E8"/>
            </a:solidFill>
            <a:prstDash val="solid"/>
          </a:ln>
        </p:spPr>
      </p:sp>
      <p:sp>
        <p:nvSpPr>
          <p:cNvPr id="16" name="Text 11"/>
          <p:cNvSpPr/>
          <p:nvPr/>
        </p:nvSpPr>
        <p:spPr>
          <a:xfrm>
            <a:off x="777240" y="3200400"/>
            <a:ext cx="2834640" cy="2560320"/>
          </a:xfrm>
          <a:prstGeom prst="rect">
            <a:avLst/>
          </a:prstGeom>
          <a:noFill/>
          <a:ln/>
        </p:spPr>
        <p:txBody>
          <a:bodyPr wrap="square" lIns="0" tIns="0" rIns="0" bIns="0" rtlCol="0" anchor="ctr"/>
          <a:lstStyle/>
          <a:p>
            <a:pPr marL="0" indent="0">
              <a:lnSpc>
                <a:spcPct val="150000"/>
              </a:lnSpc>
              <a:buNone/>
            </a:pPr>
            <a:r>
              <a:rPr lang="en-US" sz="1300" dirty="0">
                <a:solidFill>
                  <a:srgbClr val="E2EBFB"/>
                </a:solidFill>
                <a:latin typeface="Poppins" pitchFamily="34" charset="0"/>
                <a:ea typeface="Poppins" pitchFamily="34" charset="-122"/>
                <a:cs typeface="Poppins" pitchFamily="34" charset="-120"/>
              </a:rPr>
              <a:t>Consultation des notes, des bulletins, de l'emploi du temps, des absences et réception des notifications.</a:t>
            </a:r>
            <a:endParaRPr lang="en-US" sz="1300" dirty="0"/>
          </a:p>
        </p:txBody>
      </p:sp>
      <p:sp>
        <p:nvSpPr>
          <p:cNvPr id="17" name="Shape 12"/>
          <p:cNvSpPr/>
          <p:nvPr/>
        </p:nvSpPr>
        <p:spPr>
          <a:xfrm>
            <a:off x="777240" y="5669280"/>
            <a:ext cx="146304" cy="146304"/>
          </a:xfrm>
          <a:prstGeom prst="line">
            <a:avLst/>
          </a:prstGeom>
          <a:solidFill>
            <a:srgbClr val="3E76D6"/>
          </a:solidFill>
          <a:ln/>
        </p:spPr>
      </p:sp>
      <p:sp>
        <p:nvSpPr>
          <p:cNvPr id="18" name="Shape 13"/>
          <p:cNvSpPr/>
          <p:nvPr/>
        </p:nvSpPr>
        <p:spPr>
          <a:xfrm>
            <a:off x="1088136" y="5669280"/>
            <a:ext cx="146304" cy="146304"/>
          </a:xfrm>
          <a:prstGeom prst="line">
            <a:avLst/>
          </a:prstGeom>
          <a:solidFill>
            <a:srgbClr val="3E76D6"/>
          </a:solidFill>
          <a:ln/>
        </p:spPr>
      </p:sp>
      <p:sp>
        <p:nvSpPr>
          <p:cNvPr id="19" name="Shape 14"/>
          <p:cNvSpPr/>
          <p:nvPr/>
        </p:nvSpPr>
        <p:spPr>
          <a:xfrm>
            <a:off x="1399032" y="5669280"/>
            <a:ext cx="146304" cy="146304"/>
          </a:xfrm>
          <a:prstGeom prst="line">
            <a:avLst/>
          </a:prstGeom>
          <a:solidFill>
            <a:srgbClr val="3E76D6"/>
          </a:solidFill>
          <a:ln/>
        </p:spPr>
      </p:sp>
      <p:sp>
        <p:nvSpPr>
          <p:cNvPr id="20" name="Shape 15"/>
          <p:cNvSpPr/>
          <p:nvPr/>
        </p:nvSpPr>
        <p:spPr>
          <a:xfrm>
            <a:off x="1709928" y="5669280"/>
            <a:ext cx="146304" cy="146304"/>
          </a:xfrm>
          <a:prstGeom prst="line">
            <a:avLst/>
          </a:prstGeom>
          <a:solidFill>
            <a:srgbClr val="FFFFFF"/>
          </a:solidFill>
          <a:ln/>
        </p:spPr>
      </p:sp>
      <p:sp>
        <p:nvSpPr>
          <p:cNvPr id="21" name="Shape 16"/>
          <p:cNvSpPr/>
          <p:nvPr/>
        </p:nvSpPr>
        <p:spPr>
          <a:xfrm>
            <a:off x="4160520" y="1417320"/>
            <a:ext cx="7528255" cy="4617720"/>
          </a:xfrm>
          <a:prstGeom prst="roundRect">
            <a:avLst>
              <a:gd name="adj" fmla="val 2376"/>
            </a:avLst>
          </a:prstGeom>
          <a:solidFill>
            <a:srgbClr val="FFFFFF"/>
          </a:solidFill>
          <a:ln w="12700">
            <a:solidFill>
              <a:srgbClr val="D8E2F3"/>
            </a:solidFill>
            <a:prstDash val="solid"/>
          </a:ln>
          <a:effectLst>
            <a:outerShdw blurRad="127000" dist="38100" dir="5400000" algn="bl" rotWithShape="0">
              <a:srgbClr val="0F5ED7">
                <a:alpha val="12000"/>
              </a:srgbClr>
            </a:outerShdw>
          </a:effectLst>
        </p:spPr>
      </p:sp>
      <p:sp>
        <p:nvSpPr>
          <p:cNvPr id="22" name="Shape 17"/>
          <p:cNvSpPr/>
          <p:nvPr/>
        </p:nvSpPr>
        <p:spPr>
          <a:xfrm>
            <a:off x="4160520" y="1417320"/>
            <a:ext cx="7528255" cy="329184"/>
          </a:xfrm>
          <a:prstGeom prst="roundRect">
            <a:avLst>
              <a:gd name="adj" fmla="val 33333"/>
            </a:avLst>
          </a:prstGeom>
          <a:solidFill>
            <a:srgbClr val="EEF3FD"/>
          </a:solidFill>
          <a:ln/>
        </p:spPr>
      </p:sp>
      <p:sp>
        <p:nvSpPr>
          <p:cNvPr id="23" name="Shape 18"/>
          <p:cNvSpPr/>
          <p:nvPr/>
        </p:nvSpPr>
        <p:spPr>
          <a:xfrm>
            <a:off x="4160520" y="1581912"/>
            <a:ext cx="7528255" cy="164592"/>
          </a:xfrm>
          <a:prstGeom prst="rect">
            <a:avLst/>
          </a:prstGeom>
          <a:solidFill>
            <a:srgbClr val="EEF3FD"/>
          </a:solidFill>
          <a:ln/>
        </p:spPr>
      </p:sp>
      <p:sp>
        <p:nvSpPr>
          <p:cNvPr id="24" name="Shape 19"/>
          <p:cNvSpPr/>
          <p:nvPr/>
        </p:nvSpPr>
        <p:spPr>
          <a:xfrm>
            <a:off x="4306824" y="1536192"/>
            <a:ext cx="91440" cy="91440"/>
          </a:xfrm>
          <a:prstGeom prst="line">
            <a:avLst/>
          </a:prstGeom>
          <a:solidFill>
            <a:srgbClr val="D8E2F3"/>
          </a:solidFill>
          <a:ln/>
        </p:spPr>
      </p:sp>
      <p:sp>
        <p:nvSpPr>
          <p:cNvPr id="25" name="Shape 20"/>
          <p:cNvSpPr/>
          <p:nvPr/>
        </p:nvSpPr>
        <p:spPr>
          <a:xfrm>
            <a:off x="4471416" y="1536192"/>
            <a:ext cx="91440" cy="91440"/>
          </a:xfrm>
          <a:prstGeom prst="line">
            <a:avLst/>
          </a:prstGeom>
          <a:solidFill>
            <a:srgbClr val="D8E2F3"/>
          </a:solidFill>
          <a:ln/>
        </p:spPr>
      </p:sp>
      <p:sp>
        <p:nvSpPr>
          <p:cNvPr id="26" name="Shape 21"/>
          <p:cNvSpPr/>
          <p:nvPr/>
        </p:nvSpPr>
        <p:spPr>
          <a:xfrm>
            <a:off x="4636008" y="1536192"/>
            <a:ext cx="91440" cy="91440"/>
          </a:xfrm>
          <a:prstGeom prst="line">
            <a:avLst/>
          </a:prstGeom>
          <a:solidFill>
            <a:srgbClr val="D8E2F3"/>
          </a:solidFill>
          <a:ln/>
        </p:spPr>
      </p:sp>
      <p:sp>
        <p:nvSpPr>
          <p:cNvPr id="27" name="Text 22"/>
          <p:cNvSpPr/>
          <p:nvPr/>
        </p:nvSpPr>
        <p:spPr>
          <a:xfrm>
            <a:off x="4160520" y="1417320"/>
            <a:ext cx="7528255" cy="329184"/>
          </a:xfrm>
          <a:prstGeom prst="rect">
            <a:avLst/>
          </a:prstGeom>
          <a:noFill/>
          <a:ln/>
        </p:spPr>
        <p:txBody>
          <a:bodyPr wrap="square" lIns="0" tIns="0" rIns="0" bIns="0" rtlCol="0" anchor="ctr"/>
          <a:lstStyle/>
          <a:p>
            <a:pPr marL="0" indent="0" algn="ctr">
              <a:buNone/>
            </a:pPr>
            <a:r>
              <a:rPr lang="en-US" sz="1000" dirty="0">
                <a:solidFill>
                  <a:srgbClr val="526579"/>
                </a:solidFill>
                <a:latin typeface="Poppins" pitchFamily="34" charset="0"/>
                <a:ea typeface="Poppins" pitchFamily="34" charset="-122"/>
                <a:cs typeface="Poppins" pitchFamily="34" charset="-120"/>
              </a:rPr>
              <a:t>Aperçu — parcours étudiant</a:t>
            </a:r>
            <a:endParaRPr lang="en-US" sz="1000" dirty="0"/>
          </a:p>
        </p:txBody>
      </p:sp>
      <p:pic>
        <p:nvPicPr>
          <p:cNvPr id="28" name="Image 3" descr="/home/claude/assets_flow_etudiant.png"/>
          <p:cNvPicPr>
            <a:picLocks noChangeAspect="1"/>
          </p:cNvPicPr>
          <p:nvPr/>
        </p:nvPicPr>
        <p:blipFill>
          <a:blip r:embed="rId6"/>
          <a:stretch>
            <a:fillRect/>
          </a:stretch>
        </p:blipFill>
        <p:spPr>
          <a:xfrm>
            <a:off x="5473434" y="1874520"/>
            <a:ext cx="4902428" cy="4032504"/>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02920" y="384048"/>
            <a:ext cx="566928" cy="566928"/>
          </a:xfrm>
          <a:prstGeom prst="roundRect">
            <a:avLst>
              <a:gd name="adj" fmla="val 19355"/>
            </a:avLst>
          </a:prstGeom>
          <a:solidFill>
            <a:srgbClr val="E9F0FE"/>
          </a:solidFill>
          <a:ln/>
        </p:spPr>
      </p:sp>
      <p:pic>
        <p:nvPicPr>
          <p:cNvPr id="3" name="Image 0" descr="/home/claude/icons/microchip.png"/>
          <p:cNvPicPr>
            <a:picLocks noChangeAspect="1"/>
          </p:cNvPicPr>
          <p:nvPr/>
        </p:nvPicPr>
        <p:blipFill>
          <a:blip r:embed="rId4"/>
          <a:stretch>
            <a:fillRect/>
          </a:stretch>
        </p:blipFill>
        <p:spPr>
          <a:xfrm>
            <a:off x="621792" y="502920"/>
            <a:ext cx="329184" cy="329184"/>
          </a:xfrm>
          <a:prstGeom prst="rect">
            <a:avLst/>
          </a:prstGeom>
        </p:spPr>
      </p:pic>
      <p:sp>
        <p:nvSpPr>
          <p:cNvPr id="4" name="Text 1"/>
          <p:cNvSpPr/>
          <p:nvPr/>
        </p:nvSpPr>
        <p:spPr>
          <a:xfrm>
            <a:off x="1252728" y="310896"/>
            <a:ext cx="10436047" cy="457200"/>
          </a:xfrm>
          <a:prstGeom prst="rect">
            <a:avLst/>
          </a:prstGeom>
          <a:noFill/>
          <a:ln/>
        </p:spPr>
        <p:txBody>
          <a:bodyPr wrap="square" lIns="0" tIns="0" rIns="0" bIns="0" rtlCol="0" anchor="b"/>
          <a:lstStyle/>
          <a:p>
            <a:pPr marL="0" indent="0" algn="l">
              <a:buNone/>
            </a:pPr>
            <a:r>
              <a:rPr lang="en-US" sz="2600" b="1" kern="0" spc="-30" dirty="0">
                <a:solidFill>
                  <a:srgbClr val="102033"/>
                </a:solidFill>
                <a:latin typeface="Poppins" pitchFamily="34" charset="0"/>
                <a:ea typeface="Poppins" pitchFamily="34" charset="-122"/>
                <a:cs typeface="Poppins" pitchFamily="34" charset="-120"/>
              </a:rPr>
              <a:t>Choix technologiques</a:t>
            </a:r>
            <a:endParaRPr lang="en-US" sz="2600" dirty="0"/>
          </a:p>
        </p:txBody>
      </p:sp>
      <p:sp>
        <p:nvSpPr>
          <p:cNvPr id="5" name="Text 2"/>
          <p:cNvSpPr/>
          <p:nvPr/>
        </p:nvSpPr>
        <p:spPr>
          <a:xfrm>
            <a:off x="1252728" y="749808"/>
            <a:ext cx="10436047" cy="292608"/>
          </a:xfrm>
          <a:prstGeom prst="rect">
            <a:avLst/>
          </a:prstGeom>
          <a:noFill/>
          <a:ln/>
        </p:spPr>
        <p:txBody>
          <a:bodyPr wrap="square" lIns="0" tIns="0" rIns="0" bIns="0" rtlCol="0" anchor="t"/>
          <a:lstStyle/>
          <a:p>
            <a:pPr marL="0" indent="0" algn="l">
              <a:buNone/>
            </a:pPr>
            <a:r>
              <a:rPr lang="en-US" sz="1300" dirty="0">
                <a:solidFill>
                  <a:srgbClr val="526579"/>
                </a:solidFill>
                <a:latin typeface="Poppins" pitchFamily="34" charset="0"/>
                <a:ea typeface="Poppins" pitchFamily="34" charset="-122"/>
                <a:cs typeface="Poppins" pitchFamily="34" charset="-120"/>
              </a:rPr>
              <a:t>Une architecture simple, cohérente et adaptée au contexte</a:t>
            </a:r>
            <a:endParaRPr lang="en-US" sz="1300" dirty="0"/>
          </a:p>
        </p:txBody>
      </p:sp>
      <p:sp>
        <p:nvSpPr>
          <p:cNvPr id="6" name="Shape 3"/>
          <p:cNvSpPr/>
          <p:nvPr/>
        </p:nvSpPr>
        <p:spPr>
          <a:xfrm>
            <a:off x="502920" y="1170432"/>
            <a:ext cx="11185855" cy="0"/>
          </a:xfrm>
          <a:prstGeom prst="line">
            <a:avLst/>
          </a:prstGeom>
          <a:noFill/>
          <a:ln w="15875">
            <a:solidFill>
              <a:srgbClr val="D8E2F3"/>
            </a:solidFill>
            <a:prstDash val="solid"/>
          </a:ln>
        </p:spPr>
      </p:sp>
      <p:pic>
        <p:nvPicPr>
          <p:cNvPr id="7" name="Image 1" descr="/home/claude/icons/school.png"/>
          <p:cNvPicPr>
            <a:picLocks noChangeAspect="1"/>
          </p:cNvPicPr>
          <p:nvPr/>
        </p:nvPicPr>
        <p:blipFill>
          <a:blip r:embed="rId5"/>
          <a:stretch>
            <a:fillRect/>
          </a:stretch>
        </p:blipFill>
        <p:spPr>
          <a:xfrm>
            <a:off x="502920" y="6528816"/>
            <a:ext cx="146304" cy="146304"/>
          </a:xfrm>
          <a:prstGeom prst="rect">
            <a:avLst/>
          </a:prstGeom>
        </p:spPr>
      </p:pic>
      <p:sp>
        <p:nvSpPr>
          <p:cNvPr id="8" name="Shape 4"/>
          <p:cNvSpPr/>
          <p:nvPr/>
        </p:nvSpPr>
        <p:spPr>
          <a:xfrm>
            <a:off x="475488" y="6501384"/>
            <a:ext cx="201168" cy="201168"/>
          </a:xfrm>
          <a:prstGeom prst="line">
            <a:avLst/>
          </a:prstGeom>
          <a:solidFill>
            <a:srgbClr val="0F5ED7"/>
          </a:solidFill>
          <a:ln/>
        </p:spPr>
      </p:sp>
      <p:pic>
        <p:nvPicPr>
          <p:cNvPr id="9" name="Image 2" descr="/home/claude/icons/school.png"/>
          <p:cNvPicPr>
            <a:picLocks noChangeAspect="1"/>
          </p:cNvPicPr>
          <p:nvPr/>
        </p:nvPicPr>
        <p:blipFill>
          <a:blip r:embed="rId5"/>
          <a:stretch>
            <a:fillRect/>
          </a:stretch>
        </p:blipFill>
        <p:spPr>
          <a:xfrm>
            <a:off x="516636" y="6533388"/>
            <a:ext cx="137160" cy="137160"/>
          </a:xfrm>
          <a:prstGeom prst="rect">
            <a:avLst/>
          </a:prstGeom>
        </p:spPr>
      </p:pic>
      <p:sp>
        <p:nvSpPr>
          <p:cNvPr id="10" name="Text 5"/>
          <p:cNvSpPr/>
          <p:nvPr/>
        </p:nvSpPr>
        <p:spPr>
          <a:xfrm>
            <a:off x="777240" y="6473952"/>
            <a:ext cx="5943600" cy="274320"/>
          </a:xfrm>
          <a:prstGeom prst="rect">
            <a:avLst/>
          </a:prstGeom>
          <a:noFill/>
          <a:ln/>
        </p:spPr>
        <p:txBody>
          <a:bodyPr wrap="square" lIns="0" tIns="0" rIns="0" bIns="0" rtlCol="0" anchor="ctr"/>
          <a:lstStyle/>
          <a:p>
            <a:pPr marL="0" indent="0">
              <a:buNone/>
            </a:pPr>
            <a:r>
              <a:rPr lang="en-US" sz="950" dirty="0">
                <a:solidFill>
                  <a:srgbClr val="526579"/>
                </a:solidFill>
                <a:latin typeface="Poppins" pitchFamily="34" charset="0"/>
                <a:ea typeface="Poppins" pitchFamily="34" charset="-122"/>
                <a:cs typeface="Poppins" pitchFamily="34" charset="-120"/>
              </a:rPr>
              <a:t>Groupe Y  •  Gestion d'un établissement scolaire</a:t>
            </a:r>
            <a:endParaRPr lang="en-US" sz="950" dirty="0"/>
          </a:p>
        </p:txBody>
      </p:sp>
      <p:sp>
        <p:nvSpPr>
          <p:cNvPr id="11" name="Text 6"/>
          <p:cNvSpPr/>
          <p:nvPr/>
        </p:nvSpPr>
        <p:spPr>
          <a:xfrm>
            <a:off x="10591495" y="6473952"/>
            <a:ext cx="1097280" cy="274320"/>
          </a:xfrm>
          <a:prstGeom prst="rect">
            <a:avLst/>
          </a:prstGeom>
          <a:noFill/>
          <a:ln/>
        </p:spPr>
        <p:txBody>
          <a:bodyPr wrap="square" lIns="0" tIns="0" rIns="0" bIns="0" rtlCol="0" anchor="ctr"/>
          <a:lstStyle/>
          <a:p>
            <a:pPr marL="0" indent="0" algn="r">
              <a:buNone/>
            </a:pPr>
            <a:r>
              <a:rPr lang="en-US" sz="950" dirty="0">
                <a:solidFill>
                  <a:srgbClr val="526579"/>
                </a:solidFill>
                <a:latin typeface="JetBrains Mono" pitchFamily="34" charset="0"/>
                <a:ea typeface="JetBrains Mono" pitchFamily="34" charset="-122"/>
                <a:cs typeface="JetBrains Mono" pitchFamily="34" charset="-120"/>
              </a:rPr>
              <a:t>13</a:t>
            </a:r>
            <a:endParaRPr lang="en-US" sz="950" dirty="0"/>
          </a:p>
        </p:txBody>
      </p:sp>
      <p:sp>
        <p:nvSpPr>
          <p:cNvPr id="12" name="Shape 7"/>
          <p:cNvSpPr/>
          <p:nvPr/>
        </p:nvSpPr>
        <p:spPr>
          <a:xfrm>
            <a:off x="502920" y="1417320"/>
            <a:ext cx="3545738" cy="4617720"/>
          </a:xfrm>
          <a:prstGeom prst="roundRect">
            <a:avLst>
              <a:gd name="adj" fmla="val 3095"/>
            </a:avLst>
          </a:prstGeom>
          <a:solidFill>
            <a:srgbClr val="FFFFFF"/>
          </a:solidFill>
          <a:ln w="12700">
            <a:solidFill>
              <a:srgbClr val="D8E2F3"/>
            </a:solidFill>
            <a:prstDash val="solid"/>
          </a:ln>
          <a:effectLst>
            <a:outerShdw blurRad="127000" dist="38100" dir="5400000" algn="bl" rotWithShape="0">
              <a:srgbClr val="0F5ED7">
                <a:alpha val="12000"/>
              </a:srgbClr>
            </a:outerShdw>
          </a:effectLst>
        </p:spPr>
      </p:sp>
      <p:sp>
        <p:nvSpPr>
          <p:cNvPr id="13" name="Shape 8"/>
          <p:cNvSpPr/>
          <p:nvPr/>
        </p:nvSpPr>
        <p:spPr>
          <a:xfrm>
            <a:off x="704088" y="1618488"/>
            <a:ext cx="3143402" cy="1051560"/>
          </a:xfrm>
          <a:prstGeom prst="roundRect">
            <a:avLst>
              <a:gd name="adj" fmla="val 10435"/>
            </a:avLst>
          </a:prstGeom>
          <a:solidFill>
            <a:srgbClr val="F8FAFF"/>
          </a:solidFill>
          <a:ln w="12700">
            <a:solidFill>
              <a:srgbClr val="D8E2F3"/>
            </a:solidFill>
            <a:prstDash val="solid"/>
          </a:ln>
        </p:spPr>
      </p:sp>
      <p:pic>
        <p:nvPicPr>
          <p:cNvPr id="14" name="Image 3" descr="/home/claude/assets_tech_frontend.png"/>
          <p:cNvPicPr>
            <a:picLocks noChangeAspect="1"/>
          </p:cNvPicPr>
          <p:nvPr/>
        </p:nvPicPr>
        <p:blipFill>
          <a:blip r:embed="rId6"/>
          <a:stretch>
            <a:fillRect/>
          </a:stretch>
        </p:blipFill>
        <p:spPr>
          <a:xfrm>
            <a:off x="1573937" y="1755648"/>
            <a:ext cx="1403704" cy="777240"/>
          </a:xfrm>
          <a:prstGeom prst="rect">
            <a:avLst/>
          </a:prstGeom>
        </p:spPr>
      </p:pic>
      <p:sp>
        <p:nvSpPr>
          <p:cNvPr id="15" name="Text 9"/>
          <p:cNvSpPr/>
          <p:nvPr/>
        </p:nvSpPr>
        <p:spPr>
          <a:xfrm>
            <a:off x="722376" y="2834640"/>
            <a:ext cx="3106826" cy="548640"/>
          </a:xfrm>
          <a:prstGeom prst="rect">
            <a:avLst/>
          </a:prstGeom>
          <a:noFill/>
          <a:ln/>
        </p:spPr>
        <p:txBody>
          <a:bodyPr wrap="square" lIns="0" tIns="0" rIns="0" bIns="0" rtlCol="0" anchor="ctr"/>
          <a:lstStyle/>
          <a:p>
            <a:pPr marL="0" indent="0">
              <a:lnSpc>
                <a:spcPct val="115000"/>
              </a:lnSpc>
              <a:buNone/>
            </a:pPr>
            <a:r>
              <a:rPr lang="en-US" sz="1400" b="1" dirty="0">
                <a:solidFill>
                  <a:srgbClr val="102033"/>
                </a:solidFill>
                <a:latin typeface="Poppins" pitchFamily="34" charset="0"/>
                <a:ea typeface="Poppins" pitchFamily="34" charset="-122"/>
                <a:cs typeface="Poppins" pitchFamily="34" charset="-120"/>
              </a:rPr>
              <a:t>Front-end — Thymeleaf</a:t>
            </a:r>
            <a:endParaRPr lang="en-US" sz="1400" dirty="0"/>
          </a:p>
        </p:txBody>
      </p:sp>
      <p:sp>
        <p:nvSpPr>
          <p:cNvPr id="16" name="Text 10"/>
          <p:cNvSpPr/>
          <p:nvPr/>
        </p:nvSpPr>
        <p:spPr>
          <a:xfrm>
            <a:off x="740664" y="3474720"/>
            <a:ext cx="3070250" cy="2377440"/>
          </a:xfrm>
          <a:prstGeom prst="rect">
            <a:avLst/>
          </a:prstGeom>
          <a:noFill/>
          <a:ln/>
        </p:spPr>
        <p:txBody>
          <a:bodyPr wrap="square" lIns="0" tIns="0" rIns="0" bIns="0" rtlCol="0" anchor="ctr"/>
          <a:lstStyle/>
          <a:p>
            <a:pPr marL="152400" indent="-152400">
              <a:lnSpc>
                <a:spcPct val="140000"/>
              </a:lnSpc>
              <a:spcAft>
                <a:spcPts val="1200"/>
              </a:spcAft>
              <a:buSzPct val="100000"/>
              <a:buChar char="•"/>
            </a:pPr>
            <a:r>
              <a:rPr lang="en-US" sz="1150" dirty="0">
                <a:solidFill>
                  <a:srgbClr val="526579"/>
                </a:solidFill>
                <a:latin typeface="Poppins" pitchFamily="34" charset="0"/>
                <a:ea typeface="Poppins" pitchFamily="34" charset="-122"/>
                <a:cs typeface="Poppins" pitchFamily="34" charset="-120"/>
              </a:rPr>
              <a:t>Rendu côté serveur : chargement rapide même en connexion limitée</a:t>
            </a:r>
            <a:endParaRPr lang="en-US" sz="1150" dirty="0"/>
          </a:p>
          <a:p>
            <a:pPr marL="152400" indent="-152400">
              <a:lnSpc>
                <a:spcPct val="140000"/>
              </a:lnSpc>
              <a:spcAft>
                <a:spcPts val="1200"/>
              </a:spcAft>
              <a:buSzPct val="100000"/>
              <a:buChar char="•"/>
            </a:pPr>
            <a:r>
              <a:rPr lang="en-US" sz="1150" dirty="0">
                <a:solidFill>
                  <a:srgbClr val="526579"/>
                </a:solidFill>
                <a:latin typeface="Poppins" pitchFamily="34" charset="0"/>
                <a:ea typeface="Poppins" pitchFamily="34" charset="-122"/>
                <a:cs typeface="Poppins" pitchFamily="34" charset="-120"/>
              </a:rPr>
              <a:t>Léger côté client, intégration native avec Spring Boot</a:t>
            </a:r>
            <a:endParaRPr lang="en-US" sz="1150" dirty="0"/>
          </a:p>
          <a:p>
            <a:pPr marL="152400" indent="-152400">
              <a:lnSpc>
                <a:spcPct val="140000"/>
              </a:lnSpc>
              <a:spcAft>
                <a:spcPts val="1200"/>
              </a:spcAft>
              <a:buSzPct val="100000"/>
              <a:buChar char="•"/>
            </a:pPr>
            <a:r>
              <a:rPr lang="en-US" sz="1150" dirty="0">
                <a:solidFill>
                  <a:srgbClr val="526579"/>
                </a:solidFill>
                <a:latin typeface="Poppins" pitchFamily="34" charset="0"/>
                <a:ea typeface="Poppins" pitchFamily="34" charset="-122"/>
                <a:cs typeface="Poppins" pitchFamily="34" charset="-120"/>
              </a:rPr>
              <a:t>Sécurité renforcée contre les attaques XSS</a:t>
            </a:r>
            <a:endParaRPr lang="en-US" sz="1150" dirty="0"/>
          </a:p>
        </p:txBody>
      </p:sp>
      <p:sp>
        <p:nvSpPr>
          <p:cNvPr id="17" name="Shape 11"/>
          <p:cNvSpPr/>
          <p:nvPr/>
        </p:nvSpPr>
        <p:spPr>
          <a:xfrm>
            <a:off x="4322978" y="1417320"/>
            <a:ext cx="3545738" cy="4617720"/>
          </a:xfrm>
          <a:prstGeom prst="roundRect">
            <a:avLst>
              <a:gd name="adj" fmla="val 3095"/>
            </a:avLst>
          </a:prstGeom>
          <a:solidFill>
            <a:srgbClr val="FFFFFF"/>
          </a:solidFill>
          <a:ln w="12700">
            <a:solidFill>
              <a:srgbClr val="D8E2F3"/>
            </a:solidFill>
            <a:prstDash val="solid"/>
          </a:ln>
          <a:effectLst>
            <a:outerShdw blurRad="127000" dist="38100" dir="5400000" algn="bl" rotWithShape="0">
              <a:srgbClr val="0F5ED7">
                <a:alpha val="12000"/>
              </a:srgbClr>
            </a:outerShdw>
          </a:effectLst>
        </p:spPr>
      </p:sp>
      <p:sp>
        <p:nvSpPr>
          <p:cNvPr id="18" name="Shape 12"/>
          <p:cNvSpPr/>
          <p:nvPr/>
        </p:nvSpPr>
        <p:spPr>
          <a:xfrm>
            <a:off x="4524146" y="1618488"/>
            <a:ext cx="3143402" cy="1051560"/>
          </a:xfrm>
          <a:prstGeom prst="roundRect">
            <a:avLst>
              <a:gd name="adj" fmla="val 10435"/>
            </a:avLst>
          </a:prstGeom>
          <a:solidFill>
            <a:srgbClr val="F8FAFF"/>
          </a:solidFill>
          <a:ln w="12700">
            <a:solidFill>
              <a:srgbClr val="D8E2F3"/>
            </a:solidFill>
            <a:prstDash val="solid"/>
          </a:ln>
        </p:spPr>
      </p:sp>
      <p:pic>
        <p:nvPicPr>
          <p:cNvPr id="19" name="Image 4" descr="/home/claude/assets_tech_backend.png"/>
          <p:cNvPicPr>
            <a:picLocks noChangeAspect="1"/>
          </p:cNvPicPr>
          <p:nvPr/>
        </p:nvPicPr>
        <p:blipFill>
          <a:blip r:embed="rId7"/>
          <a:stretch>
            <a:fillRect/>
          </a:stretch>
        </p:blipFill>
        <p:spPr>
          <a:xfrm>
            <a:off x="5407220" y="1755648"/>
            <a:ext cx="1377255" cy="777240"/>
          </a:xfrm>
          <a:prstGeom prst="rect">
            <a:avLst/>
          </a:prstGeom>
        </p:spPr>
      </p:pic>
      <p:sp>
        <p:nvSpPr>
          <p:cNvPr id="20" name="Text 13"/>
          <p:cNvSpPr/>
          <p:nvPr/>
        </p:nvSpPr>
        <p:spPr>
          <a:xfrm>
            <a:off x="4542434" y="2834640"/>
            <a:ext cx="3106826" cy="548640"/>
          </a:xfrm>
          <a:prstGeom prst="rect">
            <a:avLst/>
          </a:prstGeom>
          <a:noFill/>
          <a:ln/>
        </p:spPr>
        <p:txBody>
          <a:bodyPr wrap="square" lIns="0" tIns="0" rIns="0" bIns="0" rtlCol="0" anchor="ctr"/>
          <a:lstStyle/>
          <a:p>
            <a:pPr marL="0" indent="0">
              <a:lnSpc>
                <a:spcPct val="115000"/>
              </a:lnSpc>
              <a:buNone/>
            </a:pPr>
            <a:r>
              <a:rPr lang="en-US" sz="1400" b="1" dirty="0">
                <a:solidFill>
                  <a:srgbClr val="102033"/>
                </a:solidFill>
                <a:latin typeface="Poppins" pitchFamily="34" charset="0"/>
                <a:ea typeface="Poppins" pitchFamily="34" charset="-122"/>
                <a:cs typeface="Poppins" pitchFamily="34" charset="-120"/>
              </a:rPr>
              <a:t>Back-end — Java / Spring Boot</a:t>
            </a:r>
            <a:endParaRPr lang="en-US" sz="1400" dirty="0"/>
          </a:p>
        </p:txBody>
      </p:sp>
      <p:sp>
        <p:nvSpPr>
          <p:cNvPr id="21" name="Text 14"/>
          <p:cNvSpPr/>
          <p:nvPr/>
        </p:nvSpPr>
        <p:spPr>
          <a:xfrm>
            <a:off x="4560722" y="3474720"/>
            <a:ext cx="3070250" cy="2377440"/>
          </a:xfrm>
          <a:prstGeom prst="rect">
            <a:avLst/>
          </a:prstGeom>
          <a:noFill/>
          <a:ln/>
        </p:spPr>
        <p:txBody>
          <a:bodyPr wrap="square" lIns="0" tIns="0" rIns="0" bIns="0" rtlCol="0" anchor="ctr"/>
          <a:lstStyle/>
          <a:p>
            <a:pPr marL="152400" indent="-152400">
              <a:lnSpc>
                <a:spcPct val="140000"/>
              </a:lnSpc>
              <a:spcAft>
                <a:spcPts val="1200"/>
              </a:spcAft>
              <a:buSzPct val="100000"/>
              <a:buChar char="•"/>
            </a:pPr>
            <a:r>
              <a:rPr lang="en-US" sz="1150" dirty="0">
                <a:solidFill>
                  <a:srgbClr val="526579"/>
                </a:solidFill>
                <a:latin typeface="Poppins" pitchFamily="34" charset="0"/>
                <a:ea typeface="Poppins" pitchFamily="34" charset="-122"/>
                <a:cs typeface="Poppins" pitchFamily="34" charset="-120"/>
              </a:rPr>
              <a:t>Langage robuste, typé, portable (JVM)</a:t>
            </a:r>
            <a:endParaRPr lang="en-US" sz="1150" dirty="0"/>
          </a:p>
          <a:p>
            <a:pPr marL="152400" indent="-152400">
              <a:lnSpc>
                <a:spcPct val="140000"/>
              </a:lnSpc>
              <a:spcAft>
                <a:spcPts val="1200"/>
              </a:spcAft>
              <a:buSzPct val="100000"/>
              <a:buChar char="•"/>
            </a:pPr>
            <a:r>
              <a:rPr lang="en-US" sz="1150" dirty="0">
                <a:solidFill>
                  <a:srgbClr val="526579"/>
                </a:solidFill>
                <a:latin typeface="Poppins" pitchFamily="34" charset="0"/>
                <a:ea typeface="Poppins" pitchFamily="34" charset="-122"/>
                <a:cs typeface="Poppins" pitchFamily="34" charset="-120"/>
              </a:rPr>
              <a:t>Auto-configuration, serveur intégré, Spring Security</a:t>
            </a:r>
            <a:endParaRPr lang="en-US" sz="1150" dirty="0"/>
          </a:p>
          <a:p>
            <a:pPr marL="152400" indent="-152400">
              <a:lnSpc>
                <a:spcPct val="140000"/>
              </a:lnSpc>
              <a:spcAft>
                <a:spcPts val="1200"/>
              </a:spcAft>
              <a:buSzPct val="100000"/>
              <a:buChar char="•"/>
            </a:pPr>
            <a:r>
              <a:rPr lang="en-US" sz="1150" dirty="0">
                <a:solidFill>
                  <a:srgbClr val="526579"/>
                </a:solidFill>
                <a:latin typeface="Poppins" pitchFamily="34" charset="0"/>
                <a:ea typeface="Poppins" pitchFamily="34" charset="-122"/>
                <a:cs typeface="Poppins" pitchFamily="34" charset="-120"/>
              </a:rPr>
              <a:t>Architecture modulaire MVC, adaptée au travail en équipe</a:t>
            </a:r>
            <a:endParaRPr lang="en-US" sz="1150" dirty="0"/>
          </a:p>
        </p:txBody>
      </p:sp>
      <p:sp>
        <p:nvSpPr>
          <p:cNvPr id="22" name="Shape 15"/>
          <p:cNvSpPr/>
          <p:nvPr/>
        </p:nvSpPr>
        <p:spPr>
          <a:xfrm>
            <a:off x="8143037" y="1417320"/>
            <a:ext cx="3545738" cy="4617720"/>
          </a:xfrm>
          <a:prstGeom prst="roundRect">
            <a:avLst>
              <a:gd name="adj" fmla="val 3095"/>
            </a:avLst>
          </a:prstGeom>
          <a:solidFill>
            <a:srgbClr val="FFFFFF"/>
          </a:solidFill>
          <a:ln w="12700">
            <a:solidFill>
              <a:srgbClr val="D8E2F3"/>
            </a:solidFill>
            <a:prstDash val="solid"/>
          </a:ln>
          <a:effectLst>
            <a:outerShdw blurRad="127000" dist="38100" dir="5400000" algn="bl" rotWithShape="0">
              <a:srgbClr val="0F5ED7">
                <a:alpha val="12000"/>
              </a:srgbClr>
            </a:outerShdw>
          </a:effectLst>
        </p:spPr>
      </p:sp>
      <p:sp>
        <p:nvSpPr>
          <p:cNvPr id="23" name="Shape 16"/>
          <p:cNvSpPr/>
          <p:nvPr/>
        </p:nvSpPr>
        <p:spPr>
          <a:xfrm>
            <a:off x="8344205" y="1618488"/>
            <a:ext cx="3143402" cy="1051560"/>
          </a:xfrm>
          <a:prstGeom prst="roundRect">
            <a:avLst>
              <a:gd name="adj" fmla="val 10435"/>
            </a:avLst>
          </a:prstGeom>
          <a:solidFill>
            <a:srgbClr val="F8FAFF"/>
          </a:solidFill>
          <a:ln w="12700">
            <a:solidFill>
              <a:srgbClr val="D8E2F3"/>
            </a:solidFill>
            <a:prstDash val="solid"/>
          </a:ln>
        </p:spPr>
      </p:sp>
      <p:pic>
        <p:nvPicPr>
          <p:cNvPr id="24" name="Image 5" descr="/home/claude/assets_tech_db.png"/>
          <p:cNvPicPr>
            <a:picLocks noChangeAspect="1"/>
          </p:cNvPicPr>
          <p:nvPr/>
        </p:nvPicPr>
        <p:blipFill>
          <a:blip r:embed="rId8"/>
          <a:stretch>
            <a:fillRect/>
          </a:stretch>
        </p:blipFill>
        <p:spPr>
          <a:xfrm>
            <a:off x="8784875" y="1755648"/>
            <a:ext cx="2262062" cy="777240"/>
          </a:xfrm>
          <a:prstGeom prst="rect">
            <a:avLst/>
          </a:prstGeom>
        </p:spPr>
      </p:pic>
      <p:sp>
        <p:nvSpPr>
          <p:cNvPr id="25" name="Text 17"/>
          <p:cNvSpPr/>
          <p:nvPr/>
        </p:nvSpPr>
        <p:spPr>
          <a:xfrm>
            <a:off x="8362493" y="2834640"/>
            <a:ext cx="3106826" cy="548640"/>
          </a:xfrm>
          <a:prstGeom prst="rect">
            <a:avLst/>
          </a:prstGeom>
          <a:noFill/>
          <a:ln/>
        </p:spPr>
        <p:txBody>
          <a:bodyPr wrap="square" lIns="0" tIns="0" rIns="0" bIns="0" rtlCol="0" anchor="ctr"/>
          <a:lstStyle/>
          <a:p>
            <a:pPr marL="0" indent="0">
              <a:lnSpc>
                <a:spcPct val="115000"/>
              </a:lnSpc>
              <a:buNone/>
            </a:pPr>
            <a:r>
              <a:rPr lang="en-US" sz="1400" b="1" dirty="0">
                <a:solidFill>
                  <a:srgbClr val="102033"/>
                </a:solidFill>
                <a:latin typeface="Poppins" pitchFamily="34" charset="0"/>
                <a:ea typeface="Poppins" pitchFamily="34" charset="-122"/>
                <a:cs typeface="Poppins" pitchFamily="34" charset="-120"/>
              </a:rPr>
              <a:t>Base de données — PostgreSQL</a:t>
            </a:r>
            <a:endParaRPr lang="en-US" sz="1400" dirty="0"/>
          </a:p>
        </p:txBody>
      </p:sp>
      <p:sp>
        <p:nvSpPr>
          <p:cNvPr id="26" name="Text 18"/>
          <p:cNvSpPr/>
          <p:nvPr/>
        </p:nvSpPr>
        <p:spPr>
          <a:xfrm>
            <a:off x="8380781" y="3474720"/>
            <a:ext cx="3070250" cy="2377440"/>
          </a:xfrm>
          <a:prstGeom prst="rect">
            <a:avLst/>
          </a:prstGeom>
          <a:noFill/>
          <a:ln/>
        </p:spPr>
        <p:txBody>
          <a:bodyPr wrap="square" lIns="0" tIns="0" rIns="0" bIns="0" rtlCol="0" anchor="ctr"/>
          <a:lstStyle/>
          <a:p>
            <a:pPr marL="152400" indent="-152400">
              <a:lnSpc>
                <a:spcPct val="140000"/>
              </a:lnSpc>
              <a:spcAft>
                <a:spcPts val="1200"/>
              </a:spcAft>
              <a:buSzPct val="100000"/>
              <a:buChar char="•"/>
            </a:pPr>
            <a:r>
              <a:rPr lang="en-US" sz="1150" dirty="0">
                <a:solidFill>
                  <a:srgbClr val="526579"/>
                </a:solidFill>
                <a:latin typeface="Poppins" pitchFamily="34" charset="0"/>
                <a:ea typeface="Poppins" pitchFamily="34" charset="-122"/>
                <a:cs typeface="Poppins" pitchFamily="34" charset="-120"/>
              </a:rPr>
              <a:t>Système fiable, éprouvé en environnement professionnel</a:t>
            </a:r>
            <a:endParaRPr lang="en-US" sz="1150" dirty="0"/>
          </a:p>
          <a:p>
            <a:pPr marL="152400" indent="-152400">
              <a:lnSpc>
                <a:spcPct val="140000"/>
              </a:lnSpc>
              <a:spcAft>
                <a:spcPts val="1200"/>
              </a:spcAft>
              <a:buSzPct val="100000"/>
              <a:buChar char="•"/>
            </a:pPr>
            <a:r>
              <a:rPr lang="en-US" sz="1150" dirty="0">
                <a:solidFill>
                  <a:srgbClr val="526579"/>
                </a:solidFill>
                <a:latin typeface="Poppins" pitchFamily="34" charset="0"/>
                <a:ea typeface="Poppins" pitchFamily="34" charset="-122"/>
                <a:cs typeface="Poppins" pitchFamily="34" charset="-120"/>
              </a:rPr>
              <a:t>Bonne conformité aux standards SQL</a:t>
            </a:r>
            <a:endParaRPr lang="en-US" sz="1150" dirty="0"/>
          </a:p>
          <a:p>
            <a:pPr marL="152400" indent="-152400">
              <a:lnSpc>
                <a:spcPct val="140000"/>
              </a:lnSpc>
              <a:spcAft>
                <a:spcPts val="1200"/>
              </a:spcAft>
              <a:buSzPct val="100000"/>
              <a:buChar char="•"/>
            </a:pPr>
            <a:r>
              <a:rPr lang="en-US" sz="1150" dirty="0">
                <a:solidFill>
                  <a:srgbClr val="526579"/>
                </a:solidFill>
                <a:latin typeface="Poppins" pitchFamily="34" charset="0"/>
                <a:ea typeface="Poppins" pitchFamily="34" charset="-122"/>
                <a:cs typeface="Poppins" pitchFamily="34" charset="-120"/>
              </a:rPr>
              <a:t>Performances solides sur requêtes complexes</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02920" y="384048"/>
            <a:ext cx="566928" cy="566928"/>
          </a:xfrm>
          <a:prstGeom prst="roundRect">
            <a:avLst>
              <a:gd name="adj" fmla="val 19355"/>
            </a:avLst>
          </a:prstGeom>
          <a:solidFill>
            <a:srgbClr val="E9F0FE"/>
          </a:solidFill>
          <a:ln/>
        </p:spPr>
      </p:sp>
      <p:pic>
        <p:nvPicPr>
          <p:cNvPr id="3" name="Image 0" descr="/home/claude/icons/database.png"/>
          <p:cNvPicPr>
            <a:picLocks noChangeAspect="1"/>
          </p:cNvPicPr>
          <p:nvPr/>
        </p:nvPicPr>
        <p:blipFill>
          <a:blip r:embed="rId4"/>
          <a:stretch>
            <a:fillRect/>
          </a:stretch>
        </p:blipFill>
        <p:spPr>
          <a:xfrm>
            <a:off x="621792" y="502920"/>
            <a:ext cx="329184" cy="329184"/>
          </a:xfrm>
          <a:prstGeom prst="rect">
            <a:avLst/>
          </a:prstGeom>
        </p:spPr>
      </p:pic>
      <p:sp>
        <p:nvSpPr>
          <p:cNvPr id="4" name="Text 1"/>
          <p:cNvSpPr/>
          <p:nvPr/>
        </p:nvSpPr>
        <p:spPr>
          <a:xfrm>
            <a:off x="1252728" y="310896"/>
            <a:ext cx="10436047" cy="457200"/>
          </a:xfrm>
          <a:prstGeom prst="rect">
            <a:avLst/>
          </a:prstGeom>
          <a:noFill/>
          <a:ln/>
        </p:spPr>
        <p:txBody>
          <a:bodyPr wrap="square" lIns="0" tIns="0" rIns="0" bIns="0" rtlCol="0" anchor="b"/>
          <a:lstStyle/>
          <a:p>
            <a:pPr marL="0" indent="0" algn="l">
              <a:buNone/>
            </a:pPr>
            <a:r>
              <a:rPr lang="en-US" sz="2600" b="1" kern="0" spc="-30" dirty="0">
                <a:solidFill>
                  <a:srgbClr val="102033"/>
                </a:solidFill>
                <a:latin typeface="Poppins" pitchFamily="34" charset="0"/>
                <a:ea typeface="Poppins" pitchFamily="34" charset="-122"/>
                <a:cs typeface="Poppins" pitchFamily="34" charset="-120"/>
              </a:rPr>
              <a:t>Structure de la base de données</a:t>
            </a:r>
            <a:endParaRPr lang="en-US" sz="2600" dirty="0"/>
          </a:p>
        </p:txBody>
      </p:sp>
      <p:sp>
        <p:nvSpPr>
          <p:cNvPr id="5" name="Text 2"/>
          <p:cNvSpPr/>
          <p:nvPr/>
        </p:nvSpPr>
        <p:spPr>
          <a:xfrm>
            <a:off x="1252728" y="749808"/>
            <a:ext cx="10436047" cy="292608"/>
          </a:xfrm>
          <a:prstGeom prst="rect">
            <a:avLst/>
          </a:prstGeom>
          <a:noFill/>
          <a:ln/>
        </p:spPr>
        <p:txBody>
          <a:bodyPr wrap="square" lIns="0" tIns="0" rIns="0" bIns="0" rtlCol="0" anchor="t"/>
          <a:lstStyle/>
          <a:p>
            <a:pPr marL="0" indent="0" algn="l">
              <a:buNone/>
            </a:pPr>
            <a:r>
              <a:rPr lang="en-US" sz="1300" dirty="0">
                <a:solidFill>
                  <a:srgbClr val="526579"/>
                </a:solidFill>
                <a:latin typeface="Poppins" pitchFamily="34" charset="0"/>
                <a:ea typeface="Poppins" pitchFamily="34" charset="-122"/>
                <a:cs typeface="Poppins" pitchFamily="34" charset="-120"/>
              </a:rPr>
              <a:t>Un modèle relationnel pensé pour couvrir tout le système</a:t>
            </a:r>
            <a:endParaRPr lang="en-US" sz="1300" dirty="0"/>
          </a:p>
        </p:txBody>
      </p:sp>
      <p:sp>
        <p:nvSpPr>
          <p:cNvPr id="6" name="Shape 3"/>
          <p:cNvSpPr/>
          <p:nvPr/>
        </p:nvSpPr>
        <p:spPr>
          <a:xfrm>
            <a:off x="502920" y="1170432"/>
            <a:ext cx="11185855" cy="0"/>
          </a:xfrm>
          <a:prstGeom prst="line">
            <a:avLst/>
          </a:prstGeom>
          <a:noFill/>
          <a:ln w="15875">
            <a:solidFill>
              <a:srgbClr val="D8E2F3"/>
            </a:solidFill>
            <a:prstDash val="solid"/>
          </a:ln>
        </p:spPr>
      </p:sp>
      <p:pic>
        <p:nvPicPr>
          <p:cNvPr id="7" name="Image 1" descr="/home/claude/icons/school.png"/>
          <p:cNvPicPr>
            <a:picLocks noChangeAspect="1"/>
          </p:cNvPicPr>
          <p:nvPr/>
        </p:nvPicPr>
        <p:blipFill>
          <a:blip r:embed="rId5"/>
          <a:stretch>
            <a:fillRect/>
          </a:stretch>
        </p:blipFill>
        <p:spPr>
          <a:xfrm>
            <a:off x="502920" y="6528816"/>
            <a:ext cx="146304" cy="146304"/>
          </a:xfrm>
          <a:prstGeom prst="rect">
            <a:avLst/>
          </a:prstGeom>
        </p:spPr>
      </p:pic>
      <p:sp>
        <p:nvSpPr>
          <p:cNvPr id="8" name="Shape 4"/>
          <p:cNvSpPr/>
          <p:nvPr/>
        </p:nvSpPr>
        <p:spPr>
          <a:xfrm>
            <a:off x="475488" y="6501384"/>
            <a:ext cx="201168" cy="201168"/>
          </a:xfrm>
          <a:prstGeom prst="line">
            <a:avLst/>
          </a:prstGeom>
          <a:solidFill>
            <a:srgbClr val="0F5ED7"/>
          </a:solidFill>
          <a:ln/>
        </p:spPr>
      </p:sp>
      <p:pic>
        <p:nvPicPr>
          <p:cNvPr id="9" name="Image 2" descr="/home/claude/icons/school.png"/>
          <p:cNvPicPr>
            <a:picLocks noChangeAspect="1"/>
          </p:cNvPicPr>
          <p:nvPr/>
        </p:nvPicPr>
        <p:blipFill>
          <a:blip r:embed="rId5"/>
          <a:stretch>
            <a:fillRect/>
          </a:stretch>
        </p:blipFill>
        <p:spPr>
          <a:xfrm>
            <a:off x="516636" y="6533388"/>
            <a:ext cx="137160" cy="137160"/>
          </a:xfrm>
          <a:prstGeom prst="rect">
            <a:avLst/>
          </a:prstGeom>
        </p:spPr>
      </p:pic>
      <p:sp>
        <p:nvSpPr>
          <p:cNvPr id="10" name="Text 5"/>
          <p:cNvSpPr/>
          <p:nvPr/>
        </p:nvSpPr>
        <p:spPr>
          <a:xfrm>
            <a:off x="777240" y="6473952"/>
            <a:ext cx="5943600" cy="274320"/>
          </a:xfrm>
          <a:prstGeom prst="rect">
            <a:avLst/>
          </a:prstGeom>
          <a:noFill/>
          <a:ln/>
        </p:spPr>
        <p:txBody>
          <a:bodyPr wrap="square" lIns="0" tIns="0" rIns="0" bIns="0" rtlCol="0" anchor="ctr"/>
          <a:lstStyle/>
          <a:p>
            <a:pPr marL="0" indent="0">
              <a:buNone/>
            </a:pPr>
            <a:r>
              <a:rPr lang="en-US" sz="950" dirty="0">
                <a:solidFill>
                  <a:srgbClr val="526579"/>
                </a:solidFill>
                <a:latin typeface="Poppins" pitchFamily="34" charset="0"/>
                <a:ea typeface="Poppins" pitchFamily="34" charset="-122"/>
                <a:cs typeface="Poppins" pitchFamily="34" charset="-120"/>
              </a:rPr>
              <a:t>Groupe Y  •  Gestion d'un établissement scolaire</a:t>
            </a:r>
            <a:endParaRPr lang="en-US" sz="950" dirty="0"/>
          </a:p>
        </p:txBody>
      </p:sp>
      <p:sp>
        <p:nvSpPr>
          <p:cNvPr id="11" name="Text 6"/>
          <p:cNvSpPr/>
          <p:nvPr/>
        </p:nvSpPr>
        <p:spPr>
          <a:xfrm>
            <a:off x="10591495" y="6473952"/>
            <a:ext cx="1097280" cy="274320"/>
          </a:xfrm>
          <a:prstGeom prst="rect">
            <a:avLst/>
          </a:prstGeom>
          <a:noFill/>
          <a:ln/>
        </p:spPr>
        <p:txBody>
          <a:bodyPr wrap="square" lIns="0" tIns="0" rIns="0" bIns="0" rtlCol="0" anchor="ctr"/>
          <a:lstStyle/>
          <a:p>
            <a:pPr marL="0" indent="0" algn="r">
              <a:buNone/>
            </a:pPr>
            <a:r>
              <a:rPr lang="en-US" sz="950" dirty="0">
                <a:solidFill>
                  <a:srgbClr val="526579"/>
                </a:solidFill>
                <a:latin typeface="JetBrains Mono" pitchFamily="34" charset="0"/>
                <a:ea typeface="JetBrains Mono" pitchFamily="34" charset="-122"/>
                <a:cs typeface="JetBrains Mono" pitchFamily="34" charset="-120"/>
              </a:rPr>
              <a:t>14</a:t>
            </a:r>
            <a:endParaRPr lang="en-US" sz="950" dirty="0"/>
          </a:p>
        </p:txBody>
      </p:sp>
      <p:sp>
        <p:nvSpPr>
          <p:cNvPr id="12" name="Shape 7"/>
          <p:cNvSpPr/>
          <p:nvPr/>
        </p:nvSpPr>
        <p:spPr>
          <a:xfrm>
            <a:off x="502920" y="1417320"/>
            <a:ext cx="3383280" cy="4617720"/>
          </a:xfrm>
          <a:prstGeom prst="roundRect">
            <a:avLst>
              <a:gd name="adj" fmla="val 3243"/>
            </a:avLst>
          </a:prstGeom>
          <a:solidFill>
            <a:srgbClr val="FFFFFF"/>
          </a:solidFill>
          <a:ln w="12700">
            <a:solidFill>
              <a:srgbClr val="D8E2F3"/>
            </a:solidFill>
            <a:prstDash val="solid"/>
          </a:ln>
          <a:effectLst>
            <a:outerShdw blurRad="127000" dist="38100" dir="5400000" algn="bl" rotWithShape="0">
              <a:srgbClr val="0F5ED7">
                <a:alpha val="12000"/>
              </a:srgbClr>
            </a:outerShdw>
          </a:effectLst>
        </p:spPr>
      </p:sp>
      <p:sp>
        <p:nvSpPr>
          <p:cNvPr id="13" name="Text 8"/>
          <p:cNvSpPr/>
          <p:nvPr/>
        </p:nvSpPr>
        <p:spPr>
          <a:xfrm>
            <a:off x="758952" y="1645920"/>
            <a:ext cx="2871216" cy="274320"/>
          </a:xfrm>
          <a:prstGeom prst="rect">
            <a:avLst/>
          </a:prstGeom>
          <a:noFill/>
          <a:ln/>
        </p:spPr>
        <p:txBody>
          <a:bodyPr wrap="square" lIns="0" tIns="0" rIns="0" bIns="0" rtlCol="0" anchor="ctr"/>
          <a:lstStyle/>
          <a:p>
            <a:pPr marL="0" indent="0">
              <a:buNone/>
            </a:pPr>
            <a:r>
              <a:rPr lang="en-US" sz="1200" b="1" kern="0" spc="100" dirty="0">
                <a:solidFill>
                  <a:srgbClr val="0F5ED7"/>
                </a:solidFill>
                <a:latin typeface="Poppins" pitchFamily="34" charset="0"/>
                <a:ea typeface="Poppins" pitchFamily="34" charset="-122"/>
                <a:cs typeface="Poppins" pitchFamily="34" charset="-120"/>
              </a:rPr>
              <a:t>POINTS CLÉS</a:t>
            </a:r>
            <a:endParaRPr lang="en-US" sz="1200" dirty="0"/>
          </a:p>
        </p:txBody>
      </p:sp>
      <p:sp>
        <p:nvSpPr>
          <p:cNvPr id="14" name="Text 9"/>
          <p:cNvSpPr/>
          <p:nvPr/>
        </p:nvSpPr>
        <p:spPr>
          <a:xfrm>
            <a:off x="777240" y="2057400"/>
            <a:ext cx="2834640" cy="3840480"/>
          </a:xfrm>
          <a:prstGeom prst="rect">
            <a:avLst/>
          </a:prstGeom>
          <a:noFill/>
          <a:ln/>
        </p:spPr>
        <p:txBody>
          <a:bodyPr wrap="square" lIns="0" tIns="0" rIns="0" bIns="0" rtlCol="0" anchor="ctr"/>
          <a:lstStyle/>
          <a:p>
            <a:pPr marL="152400" indent="-152400">
              <a:lnSpc>
                <a:spcPct val="145000"/>
              </a:lnSpc>
              <a:spcAft>
                <a:spcPts val="1600"/>
              </a:spcAft>
              <a:buSzPct val="100000"/>
              <a:buChar char="•"/>
            </a:pPr>
            <a:r>
              <a:rPr lang="en-US" sz="1250" dirty="0">
                <a:solidFill>
                  <a:srgbClr val="102033"/>
                </a:solidFill>
                <a:latin typeface="Poppins" pitchFamily="34" charset="0"/>
                <a:ea typeface="Poppins" pitchFamily="34" charset="-122"/>
                <a:cs typeface="Poppins" pitchFamily="34" charset="-120"/>
              </a:rPr>
              <a:t>Entités principales : élèves, enseignants, classes, matières, notes, paiements</a:t>
            </a:r>
            <a:endParaRPr lang="en-US" sz="1250" dirty="0"/>
          </a:p>
          <a:p>
            <a:pPr marL="152400" indent="-152400">
              <a:lnSpc>
                <a:spcPct val="145000"/>
              </a:lnSpc>
              <a:spcAft>
                <a:spcPts val="1600"/>
              </a:spcAft>
              <a:buSzPct val="100000"/>
              <a:buChar char="•"/>
            </a:pPr>
            <a:r>
              <a:rPr lang="en-US" sz="1250" dirty="0">
                <a:solidFill>
                  <a:srgbClr val="102033"/>
                </a:solidFill>
                <a:latin typeface="Poppins" pitchFamily="34" charset="0"/>
                <a:ea typeface="Poppins" pitchFamily="34" charset="-122"/>
                <a:cs typeface="Poppins" pitchFamily="34" charset="-120"/>
              </a:rPr>
              <a:t>Relations conformes aux règles de gestion définies</a:t>
            </a:r>
            <a:endParaRPr lang="en-US" sz="1250" dirty="0"/>
          </a:p>
          <a:p>
            <a:pPr marL="152400" indent="-152400">
              <a:lnSpc>
                <a:spcPct val="145000"/>
              </a:lnSpc>
              <a:spcAft>
                <a:spcPts val="1600"/>
              </a:spcAft>
              <a:buSzPct val="100000"/>
              <a:buChar char="•"/>
            </a:pPr>
            <a:r>
              <a:rPr lang="en-US" sz="1250" dirty="0">
                <a:solidFill>
                  <a:srgbClr val="102033"/>
                </a:solidFill>
                <a:latin typeface="Poppins" pitchFamily="34" charset="0"/>
                <a:ea typeface="Poppins" pitchFamily="34" charset="-122"/>
                <a:cs typeface="Poppins" pitchFamily="34" charset="-120"/>
              </a:rPr>
              <a:t>Base PostgreSQL, compatible nativement avec Hibernate / Spring Data JPA</a:t>
            </a:r>
            <a:endParaRPr lang="en-US" sz="1250" dirty="0"/>
          </a:p>
        </p:txBody>
      </p:sp>
      <p:sp>
        <p:nvSpPr>
          <p:cNvPr id="15" name="Shape 10"/>
          <p:cNvSpPr/>
          <p:nvPr/>
        </p:nvSpPr>
        <p:spPr>
          <a:xfrm>
            <a:off x="4160520" y="1417320"/>
            <a:ext cx="7528255" cy="4617720"/>
          </a:xfrm>
          <a:prstGeom prst="roundRect">
            <a:avLst>
              <a:gd name="adj" fmla="val 2376"/>
            </a:avLst>
          </a:prstGeom>
          <a:solidFill>
            <a:srgbClr val="FFFFFF"/>
          </a:solidFill>
          <a:ln w="12700">
            <a:solidFill>
              <a:srgbClr val="D8E2F3"/>
            </a:solidFill>
            <a:prstDash val="solid"/>
          </a:ln>
          <a:effectLst>
            <a:outerShdw blurRad="127000" dist="38100" dir="5400000" algn="bl" rotWithShape="0">
              <a:srgbClr val="0F5ED7">
                <a:alpha val="12000"/>
              </a:srgbClr>
            </a:outerShdw>
          </a:effectLst>
        </p:spPr>
      </p:sp>
      <p:sp>
        <p:nvSpPr>
          <p:cNvPr id="16" name="Shape 11"/>
          <p:cNvSpPr/>
          <p:nvPr/>
        </p:nvSpPr>
        <p:spPr>
          <a:xfrm>
            <a:off x="4160520" y="1417320"/>
            <a:ext cx="7528255" cy="329184"/>
          </a:xfrm>
          <a:prstGeom prst="roundRect">
            <a:avLst>
              <a:gd name="adj" fmla="val 33333"/>
            </a:avLst>
          </a:prstGeom>
          <a:solidFill>
            <a:srgbClr val="EEF3FD"/>
          </a:solidFill>
          <a:ln/>
        </p:spPr>
      </p:sp>
      <p:sp>
        <p:nvSpPr>
          <p:cNvPr id="17" name="Shape 12"/>
          <p:cNvSpPr/>
          <p:nvPr/>
        </p:nvSpPr>
        <p:spPr>
          <a:xfrm>
            <a:off x="4160520" y="1581912"/>
            <a:ext cx="7528255" cy="164592"/>
          </a:xfrm>
          <a:prstGeom prst="rect">
            <a:avLst/>
          </a:prstGeom>
          <a:solidFill>
            <a:srgbClr val="EEF3FD"/>
          </a:solidFill>
          <a:ln/>
        </p:spPr>
      </p:sp>
      <p:sp>
        <p:nvSpPr>
          <p:cNvPr id="18" name="Shape 13"/>
          <p:cNvSpPr/>
          <p:nvPr/>
        </p:nvSpPr>
        <p:spPr>
          <a:xfrm>
            <a:off x="4306824" y="1536192"/>
            <a:ext cx="91440" cy="91440"/>
          </a:xfrm>
          <a:prstGeom prst="line">
            <a:avLst/>
          </a:prstGeom>
          <a:solidFill>
            <a:srgbClr val="D8E2F3"/>
          </a:solidFill>
          <a:ln/>
        </p:spPr>
      </p:sp>
      <p:sp>
        <p:nvSpPr>
          <p:cNvPr id="19" name="Shape 14"/>
          <p:cNvSpPr/>
          <p:nvPr/>
        </p:nvSpPr>
        <p:spPr>
          <a:xfrm>
            <a:off x="4471416" y="1536192"/>
            <a:ext cx="91440" cy="91440"/>
          </a:xfrm>
          <a:prstGeom prst="line">
            <a:avLst/>
          </a:prstGeom>
          <a:solidFill>
            <a:srgbClr val="D8E2F3"/>
          </a:solidFill>
          <a:ln/>
        </p:spPr>
      </p:sp>
      <p:sp>
        <p:nvSpPr>
          <p:cNvPr id="20" name="Shape 15"/>
          <p:cNvSpPr/>
          <p:nvPr/>
        </p:nvSpPr>
        <p:spPr>
          <a:xfrm>
            <a:off x="4636008" y="1536192"/>
            <a:ext cx="91440" cy="91440"/>
          </a:xfrm>
          <a:prstGeom prst="line">
            <a:avLst/>
          </a:prstGeom>
          <a:solidFill>
            <a:srgbClr val="D8E2F3"/>
          </a:solidFill>
          <a:ln/>
        </p:spPr>
      </p:sp>
      <p:sp>
        <p:nvSpPr>
          <p:cNvPr id="21" name="Text 16"/>
          <p:cNvSpPr/>
          <p:nvPr/>
        </p:nvSpPr>
        <p:spPr>
          <a:xfrm>
            <a:off x="4160520" y="1417320"/>
            <a:ext cx="7528255" cy="329184"/>
          </a:xfrm>
          <a:prstGeom prst="rect">
            <a:avLst/>
          </a:prstGeom>
          <a:noFill/>
          <a:ln/>
        </p:spPr>
        <p:txBody>
          <a:bodyPr wrap="square" lIns="0" tIns="0" rIns="0" bIns="0" rtlCol="0" anchor="ctr"/>
          <a:lstStyle/>
          <a:p>
            <a:pPr marL="0" indent="0" algn="ctr">
              <a:buNone/>
            </a:pPr>
            <a:r>
              <a:rPr lang="en-US" sz="1000" dirty="0">
                <a:solidFill>
                  <a:srgbClr val="526579"/>
                </a:solidFill>
                <a:latin typeface="Poppins" pitchFamily="34" charset="0"/>
                <a:ea typeface="Poppins" pitchFamily="34" charset="-122"/>
                <a:cs typeface="Poppins" pitchFamily="34" charset="-120"/>
              </a:rPr>
              <a:t>Modèle relationnel — extrait</a:t>
            </a:r>
            <a:endParaRPr lang="en-US" sz="1000" dirty="0"/>
          </a:p>
        </p:txBody>
      </p:sp>
      <p:pic>
        <p:nvPicPr>
          <p:cNvPr id="24" name="Picture 23">
            <a:extLst>
              <a:ext uri="{FF2B5EF4-FFF2-40B4-BE49-F238E27FC236}">
                <a16:creationId xmlns:a16="http://schemas.microsoft.com/office/drawing/2014/main" id="{C5698C36-3087-D3DD-CEB0-88507E909772}"/>
              </a:ext>
            </a:extLst>
          </p:cNvPr>
          <p:cNvPicPr>
            <a:picLocks noChangeAspect="1"/>
          </p:cNvPicPr>
          <p:nvPr/>
        </p:nvPicPr>
        <p:blipFill>
          <a:blip r:embed="rId6"/>
          <a:stretch>
            <a:fillRect/>
          </a:stretch>
        </p:blipFill>
        <p:spPr>
          <a:xfrm>
            <a:off x="5389731" y="1827984"/>
            <a:ext cx="5069831" cy="4035071"/>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02920" y="384048"/>
            <a:ext cx="566928" cy="566928"/>
          </a:xfrm>
          <a:prstGeom prst="roundRect">
            <a:avLst>
              <a:gd name="adj" fmla="val 19355"/>
            </a:avLst>
          </a:prstGeom>
          <a:solidFill>
            <a:srgbClr val="E9F0FE"/>
          </a:solidFill>
          <a:ln/>
        </p:spPr>
      </p:sp>
      <p:pic>
        <p:nvPicPr>
          <p:cNvPr id="3" name="Image 0" descr="/home/claude/icons/calendarDays.png"/>
          <p:cNvPicPr>
            <a:picLocks noChangeAspect="1"/>
          </p:cNvPicPr>
          <p:nvPr/>
        </p:nvPicPr>
        <p:blipFill>
          <a:blip r:embed="rId4"/>
          <a:stretch>
            <a:fillRect/>
          </a:stretch>
        </p:blipFill>
        <p:spPr>
          <a:xfrm>
            <a:off x="621792" y="502920"/>
            <a:ext cx="329184" cy="329184"/>
          </a:xfrm>
          <a:prstGeom prst="rect">
            <a:avLst/>
          </a:prstGeom>
        </p:spPr>
      </p:pic>
      <p:sp>
        <p:nvSpPr>
          <p:cNvPr id="4" name="Text 1"/>
          <p:cNvSpPr/>
          <p:nvPr/>
        </p:nvSpPr>
        <p:spPr>
          <a:xfrm>
            <a:off x="1252728" y="310896"/>
            <a:ext cx="10436047" cy="457200"/>
          </a:xfrm>
          <a:prstGeom prst="rect">
            <a:avLst/>
          </a:prstGeom>
          <a:noFill/>
          <a:ln/>
        </p:spPr>
        <p:txBody>
          <a:bodyPr wrap="square" lIns="0" tIns="0" rIns="0" bIns="0" rtlCol="0" anchor="b"/>
          <a:lstStyle/>
          <a:p>
            <a:pPr marL="0" indent="0" algn="l">
              <a:buNone/>
            </a:pPr>
            <a:r>
              <a:rPr lang="en-US" sz="2600" b="1" kern="0" spc="-30" dirty="0">
                <a:solidFill>
                  <a:srgbClr val="102033"/>
                </a:solidFill>
                <a:latin typeface="Poppins" pitchFamily="34" charset="0"/>
                <a:ea typeface="Poppins" pitchFamily="34" charset="-122"/>
                <a:cs typeface="Poppins" pitchFamily="34" charset="-120"/>
              </a:rPr>
              <a:t>Planning &amp; budget</a:t>
            </a:r>
            <a:endParaRPr lang="en-US" sz="2600" dirty="0"/>
          </a:p>
        </p:txBody>
      </p:sp>
      <p:sp>
        <p:nvSpPr>
          <p:cNvPr id="5" name="Text 2"/>
          <p:cNvSpPr/>
          <p:nvPr/>
        </p:nvSpPr>
        <p:spPr>
          <a:xfrm>
            <a:off x="1252728" y="749808"/>
            <a:ext cx="10436047" cy="292608"/>
          </a:xfrm>
          <a:prstGeom prst="rect">
            <a:avLst/>
          </a:prstGeom>
          <a:noFill/>
          <a:ln/>
        </p:spPr>
        <p:txBody>
          <a:bodyPr wrap="square" lIns="0" tIns="0" rIns="0" bIns="0" rtlCol="0" anchor="t"/>
          <a:lstStyle/>
          <a:p>
            <a:pPr marL="0" indent="0" algn="l">
              <a:buNone/>
            </a:pPr>
            <a:r>
              <a:rPr lang="en-US" sz="1300" dirty="0">
                <a:solidFill>
                  <a:srgbClr val="526579"/>
                </a:solidFill>
                <a:latin typeface="Poppins" pitchFamily="34" charset="0"/>
                <a:ea typeface="Poppins" pitchFamily="34" charset="-122"/>
                <a:cs typeface="Poppins" pitchFamily="34" charset="-120"/>
              </a:rPr>
              <a:t>De la conception au lancement</a:t>
            </a:r>
            <a:endParaRPr lang="en-US" sz="1300" dirty="0"/>
          </a:p>
        </p:txBody>
      </p:sp>
      <p:sp>
        <p:nvSpPr>
          <p:cNvPr id="6" name="Shape 3"/>
          <p:cNvSpPr/>
          <p:nvPr/>
        </p:nvSpPr>
        <p:spPr>
          <a:xfrm>
            <a:off x="502920" y="1170432"/>
            <a:ext cx="11185855" cy="0"/>
          </a:xfrm>
          <a:prstGeom prst="line">
            <a:avLst/>
          </a:prstGeom>
          <a:noFill/>
          <a:ln w="15875">
            <a:solidFill>
              <a:srgbClr val="D8E2F3"/>
            </a:solidFill>
            <a:prstDash val="solid"/>
          </a:ln>
        </p:spPr>
      </p:sp>
      <p:pic>
        <p:nvPicPr>
          <p:cNvPr id="7" name="Image 1" descr="/home/claude/icons/school.png"/>
          <p:cNvPicPr>
            <a:picLocks noChangeAspect="1"/>
          </p:cNvPicPr>
          <p:nvPr/>
        </p:nvPicPr>
        <p:blipFill>
          <a:blip r:embed="rId5"/>
          <a:stretch>
            <a:fillRect/>
          </a:stretch>
        </p:blipFill>
        <p:spPr>
          <a:xfrm>
            <a:off x="502920" y="6528816"/>
            <a:ext cx="146304" cy="146304"/>
          </a:xfrm>
          <a:prstGeom prst="rect">
            <a:avLst/>
          </a:prstGeom>
        </p:spPr>
      </p:pic>
      <p:sp>
        <p:nvSpPr>
          <p:cNvPr id="8" name="Shape 4"/>
          <p:cNvSpPr/>
          <p:nvPr/>
        </p:nvSpPr>
        <p:spPr>
          <a:xfrm>
            <a:off x="475488" y="6501384"/>
            <a:ext cx="201168" cy="201168"/>
          </a:xfrm>
          <a:prstGeom prst="line">
            <a:avLst/>
          </a:prstGeom>
          <a:solidFill>
            <a:srgbClr val="0F5ED7"/>
          </a:solidFill>
          <a:ln/>
        </p:spPr>
      </p:sp>
      <p:pic>
        <p:nvPicPr>
          <p:cNvPr id="9" name="Image 2" descr="/home/claude/icons/school.png"/>
          <p:cNvPicPr>
            <a:picLocks noChangeAspect="1"/>
          </p:cNvPicPr>
          <p:nvPr/>
        </p:nvPicPr>
        <p:blipFill>
          <a:blip r:embed="rId5"/>
          <a:stretch>
            <a:fillRect/>
          </a:stretch>
        </p:blipFill>
        <p:spPr>
          <a:xfrm>
            <a:off x="516636" y="6533388"/>
            <a:ext cx="137160" cy="137160"/>
          </a:xfrm>
          <a:prstGeom prst="rect">
            <a:avLst/>
          </a:prstGeom>
        </p:spPr>
      </p:pic>
      <p:sp>
        <p:nvSpPr>
          <p:cNvPr id="10" name="Text 5"/>
          <p:cNvSpPr/>
          <p:nvPr/>
        </p:nvSpPr>
        <p:spPr>
          <a:xfrm>
            <a:off x="777240" y="6473952"/>
            <a:ext cx="5943600" cy="274320"/>
          </a:xfrm>
          <a:prstGeom prst="rect">
            <a:avLst/>
          </a:prstGeom>
          <a:noFill/>
          <a:ln/>
        </p:spPr>
        <p:txBody>
          <a:bodyPr wrap="square" lIns="0" tIns="0" rIns="0" bIns="0" rtlCol="0" anchor="ctr"/>
          <a:lstStyle/>
          <a:p>
            <a:pPr marL="0" indent="0">
              <a:buNone/>
            </a:pPr>
            <a:r>
              <a:rPr lang="en-US" sz="950" dirty="0">
                <a:solidFill>
                  <a:srgbClr val="526579"/>
                </a:solidFill>
                <a:latin typeface="Poppins" pitchFamily="34" charset="0"/>
                <a:ea typeface="Poppins" pitchFamily="34" charset="-122"/>
                <a:cs typeface="Poppins" pitchFamily="34" charset="-120"/>
              </a:rPr>
              <a:t>Groupe Y  •  Gestion d'un établissement scolaire</a:t>
            </a:r>
            <a:endParaRPr lang="en-US" sz="950" dirty="0"/>
          </a:p>
        </p:txBody>
      </p:sp>
      <p:sp>
        <p:nvSpPr>
          <p:cNvPr id="11" name="Text 6"/>
          <p:cNvSpPr/>
          <p:nvPr/>
        </p:nvSpPr>
        <p:spPr>
          <a:xfrm>
            <a:off x="10591495" y="6473952"/>
            <a:ext cx="1097280" cy="274320"/>
          </a:xfrm>
          <a:prstGeom prst="rect">
            <a:avLst/>
          </a:prstGeom>
          <a:noFill/>
          <a:ln/>
        </p:spPr>
        <p:txBody>
          <a:bodyPr wrap="square" lIns="0" tIns="0" rIns="0" bIns="0" rtlCol="0" anchor="ctr"/>
          <a:lstStyle/>
          <a:p>
            <a:pPr marL="0" indent="0" algn="r">
              <a:buNone/>
            </a:pPr>
            <a:r>
              <a:rPr lang="en-US" sz="950" dirty="0">
                <a:solidFill>
                  <a:srgbClr val="526579"/>
                </a:solidFill>
                <a:latin typeface="JetBrains Mono" pitchFamily="34" charset="0"/>
                <a:ea typeface="JetBrains Mono" pitchFamily="34" charset="-122"/>
                <a:cs typeface="JetBrains Mono" pitchFamily="34" charset="-120"/>
              </a:rPr>
              <a:t>15</a:t>
            </a:r>
            <a:endParaRPr lang="en-US" sz="950" dirty="0"/>
          </a:p>
        </p:txBody>
      </p:sp>
      <p:sp>
        <p:nvSpPr>
          <p:cNvPr id="12" name="Shape 7"/>
          <p:cNvSpPr/>
          <p:nvPr/>
        </p:nvSpPr>
        <p:spPr>
          <a:xfrm>
            <a:off x="502920" y="1417320"/>
            <a:ext cx="6949440" cy="4617720"/>
          </a:xfrm>
          <a:prstGeom prst="roundRect">
            <a:avLst>
              <a:gd name="adj" fmla="val 2376"/>
            </a:avLst>
          </a:prstGeom>
          <a:solidFill>
            <a:srgbClr val="FFFFFF"/>
          </a:solidFill>
          <a:ln w="12700">
            <a:solidFill>
              <a:srgbClr val="D8E2F3"/>
            </a:solidFill>
            <a:prstDash val="solid"/>
          </a:ln>
          <a:effectLst>
            <a:outerShdw blurRad="127000" dist="38100" dir="5400000" algn="bl" rotWithShape="0">
              <a:srgbClr val="0F5ED7">
                <a:alpha val="12000"/>
              </a:srgbClr>
            </a:outerShdw>
          </a:effectLst>
        </p:spPr>
      </p:sp>
      <p:sp>
        <p:nvSpPr>
          <p:cNvPr id="13" name="Shape 8"/>
          <p:cNvSpPr/>
          <p:nvPr/>
        </p:nvSpPr>
        <p:spPr>
          <a:xfrm>
            <a:off x="502920" y="1417320"/>
            <a:ext cx="6949440" cy="329184"/>
          </a:xfrm>
          <a:prstGeom prst="roundRect">
            <a:avLst>
              <a:gd name="adj" fmla="val 33333"/>
            </a:avLst>
          </a:prstGeom>
          <a:solidFill>
            <a:srgbClr val="EEF3FD"/>
          </a:solidFill>
          <a:ln/>
        </p:spPr>
      </p:sp>
      <p:sp>
        <p:nvSpPr>
          <p:cNvPr id="14" name="Shape 9"/>
          <p:cNvSpPr/>
          <p:nvPr/>
        </p:nvSpPr>
        <p:spPr>
          <a:xfrm>
            <a:off x="502920" y="1581912"/>
            <a:ext cx="6949440" cy="164592"/>
          </a:xfrm>
          <a:prstGeom prst="rect">
            <a:avLst/>
          </a:prstGeom>
          <a:solidFill>
            <a:srgbClr val="EEF3FD"/>
          </a:solidFill>
          <a:ln/>
        </p:spPr>
      </p:sp>
      <p:sp>
        <p:nvSpPr>
          <p:cNvPr id="15" name="Shape 10"/>
          <p:cNvSpPr/>
          <p:nvPr/>
        </p:nvSpPr>
        <p:spPr>
          <a:xfrm>
            <a:off x="649224" y="1536192"/>
            <a:ext cx="91440" cy="91440"/>
          </a:xfrm>
          <a:prstGeom prst="line">
            <a:avLst/>
          </a:prstGeom>
          <a:solidFill>
            <a:srgbClr val="D8E2F3"/>
          </a:solidFill>
          <a:ln/>
        </p:spPr>
      </p:sp>
      <p:sp>
        <p:nvSpPr>
          <p:cNvPr id="16" name="Shape 11"/>
          <p:cNvSpPr/>
          <p:nvPr/>
        </p:nvSpPr>
        <p:spPr>
          <a:xfrm>
            <a:off x="813816" y="1536192"/>
            <a:ext cx="91440" cy="91440"/>
          </a:xfrm>
          <a:prstGeom prst="line">
            <a:avLst/>
          </a:prstGeom>
          <a:solidFill>
            <a:srgbClr val="D8E2F3"/>
          </a:solidFill>
          <a:ln/>
        </p:spPr>
      </p:sp>
      <p:sp>
        <p:nvSpPr>
          <p:cNvPr id="17" name="Shape 12"/>
          <p:cNvSpPr/>
          <p:nvPr/>
        </p:nvSpPr>
        <p:spPr>
          <a:xfrm>
            <a:off x="978408" y="1536192"/>
            <a:ext cx="91440" cy="91440"/>
          </a:xfrm>
          <a:prstGeom prst="line">
            <a:avLst/>
          </a:prstGeom>
          <a:solidFill>
            <a:srgbClr val="D8E2F3"/>
          </a:solidFill>
          <a:ln/>
        </p:spPr>
      </p:sp>
      <p:sp>
        <p:nvSpPr>
          <p:cNvPr id="18" name="Text 13"/>
          <p:cNvSpPr/>
          <p:nvPr/>
        </p:nvSpPr>
        <p:spPr>
          <a:xfrm>
            <a:off x="502920" y="1417320"/>
            <a:ext cx="6949440" cy="329184"/>
          </a:xfrm>
          <a:prstGeom prst="rect">
            <a:avLst/>
          </a:prstGeom>
          <a:noFill/>
          <a:ln/>
        </p:spPr>
        <p:txBody>
          <a:bodyPr wrap="square" lIns="0" tIns="0" rIns="0" bIns="0" rtlCol="0" anchor="ctr"/>
          <a:lstStyle/>
          <a:p>
            <a:pPr marL="0" indent="0" algn="ctr">
              <a:buNone/>
            </a:pPr>
            <a:r>
              <a:rPr lang="en-US" sz="1000" dirty="0">
                <a:solidFill>
                  <a:srgbClr val="526579"/>
                </a:solidFill>
                <a:latin typeface="Poppins" pitchFamily="34" charset="0"/>
                <a:ea typeface="Poppins" pitchFamily="34" charset="-122"/>
                <a:cs typeface="Poppins" pitchFamily="34" charset="-120"/>
              </a:rPr>
              <a:t>Planification globale — diagramme de Gantt</a:t>
            </a:r>
            <a:endParaRPr lang="en-US" sz="1000" dirty="0"/>
          </a:p>
        </p:txBody>
      </p:sp>
      <p:pic>
        <p:nvPicPr>
          <p:cNvPr id="19" name="Image 3" descr="/home/claude/assets_gantt.png"/>
          <p:cNvPicPr>
            <a:picLocks noChangeAspect="1"/>
          </p:cNvPicPr>
          <p:nvPr/>
        </p:nvPicPr>
        <p:blipFill>
          <a:blip r:embed="rId6"/>
          <a:stretch>
            <a:fillRect/>
          </a:stretch>
        </p:blipFill>
        <p:spPr>
          <a:xfrm>
            <a:off x="630936" y="2116526"/>
            <a:ext cx="6693408" cy="3548493"/>
          </a:xfrm>
          <a:prstGeom prst="rect">
            <a:avLst/>
          </a:prstGeom>
        </p:spPr>
      </p:pic>
      <p:sp>
        <p:nvSpPr>
          <p:cNvPr id="20" name="Shape 14"/>
          <p:cNvSpPr/>
          <p:nvPr/>
        </p:nvSpPr>
        <p:spPr>
          <a:xfrm>
            <a:off x="7726680" y="1417320"/>
            <a:ext cx="3962095" cy="4617720"/>
          </a:xfrm>
          <a:prstGeom prst="roundRect">
            <a:avLst>
              <a:gd name="adj" fmla="val 2769"/>
            </a:avLst>
          </a:prstGeom>
          <a:solidFill>
            <a:srgbClr val="FFFFFF"/>
          </a:solidFill>
          <a:ln w="12700">
            <a:solidFill>
              <a:srgbClr val="D8E2F3"/>
            </a:solidFill>
            <a:prstDash val="solid"/>
          </a:ln>
          <a:effectLst>
            <a:outerShdw blurRad="127000" dist="38100" dir="5400000" algn="bl" rotWithShape="0">
              <a:srgbClr val="0F5ED7">
                <a:alpha val="12000"/>
              </a:srgbClr>
            </a:outerShdw>
          </a:effectLst>
        </p:spPr>
      </p:sp>
      <p:sp>
        <p:nvSpPr>
          <p:cNvPr id="21" name="Text 15"/>
          <p:cNvSpPr/>
          <p:nvPr/>
        </p:nvSpPr>
        <p:spPr>
          <a:xfrm>
            <a:off x="7946136" y="1600200"/>
            <a:ext cx="3523183" cy="411480"/>
          </a:xfrm>
          <a:prstGeom prst="rect">
            <a:avLst/>
          </a:prstGeom>
          <a:noFill/>
          <a:ln/>
        </p:spPr>
        <p:txBody>
          <a:bodyPr wrap="square" lIns="0" tIns="0" rIns="0" bIns="0" rtlCol="0" anchor="ctr"/>
          <a:lstStyle/>
          <a:p>
            <a:pPr marL="0" indent="0">
              <a:buNone/>
            </a:pPr>
            <a:r>
              <a:rPr lang="en-US" sz="1050" b="1" kern="0" spc="50" dirty="0">
                <a:solidFill>
                  <a:srgbClr val="0F5ED7"/>
                </a:solidFill>
                <a:latin typeface="Poppins" pitchFamily="34" charset="0"/>
                <a:ea typeface="Poppins" pitchFamily="34" charset="-122"/>
                <a:cs typeface="Poppins" pitchFamily="34" charset="-120"/>
              </a:rPr>
              <a:t>BUDGET — INVESTISSEMENT INITIAL</a:t>
            </a:r>
            <a:endParaRPr lang="en-US" sz="1050" dirty="0"/>
          </a:p>
        </p:txBody>
      </p:sp>
      <p:sp>
        <p:nvSpPr>
          <p:cNvPr id="22" name="Text 16"/>
          <p:cNvSpPr/>
          <p:nvPr/>
        </p:nvSpPr>
        <p:spPr>
          <a:xfrm>
            <a:off x="7946136" y="2103120"/>
            <a:ext cx="2005279" cy="475488"/>
          </a:xfrm>
          <a:prstGeom prst="rect">
            <a:avLst/>
          </a:prstGeom>
          <a:noFill/>
          <a:ln/>
        </p:spPr>
        <p:txBody>
          <a:bodyPr wrap="square" lIns="0" tIns="0" rIns="0" bIns="0" rtlCol="0" anchor="ctr"/>
          <a:lstStyle/>
          <a:p>
            <a:pPr marL="0" indent="0">
              <a:lnSpc>
                <a:spcPct val="110000"/>
              </a:lnSpc>
              <a:buNone/>
            </a:pPr>
            <a:r>
              <a:rPr lang="en-US" sz="1050" dirty="0">
                <a:solidFill>
                  <a:srgbClr val="102033"/>
                </a:solidFill>
                <a:latin typeface="Poppins" pitchFamily="34" charset="0"/>
                <a:ea typeface="Poppins" pitchFamily="34" charset="-122"/>
                <a:cs typeface="Poppins" pitchFamily="34" charset="-120"/>
              </a:rPr>
              <a:t>Chef de projet</a:t>
            </a:r>
            <a:endParaRPr lang="en-US" sz="1050" dirty="0"/>
          </a:p>
        </p:txBody>
      </p:sp>
      <p:sp>
        <p:nvSpPr>
          <p:cNvPr id="23" name="Text 17"/>
          <p:cNvSpPr/>
          <p:nvPr/>
        </p:nvSpPr>
        <p:spPr>
          <a:xfrm>
            <a:off x="9951415" y="2103120"/>
            <a:ext cx="1517904" cy="475488"/>
          </a:xfrm>
          <a:prstGeom prst="rect">
            <a:avLst/>
          </a:prstGeom>
          <a:noFill/>
          <a:ln/>
        </p:spPr>
        <p:txBody>
          <a:bodyPr wrap="square" lIns="0" tIns="0" rIns="0" bIns="0" rtlCol="0" anchor="ctr"/>
          <a:lstStyle/>
          <a:p>
            <a:pPr marL="0" indent="0" algn="r">
              <a:buNone/>
            </a:pPr>
            <a:r>
              <a:rPr lang="en-US" sz="1050" b="1" dirty="0">
                <a:solidFill>
                  <a:srgbClr val="102033"/>
                </a:solidFill>
                <a:latin typeface="JetBrains Mono" pitchFamily="34" charset="0"/>
                <a:ea typeface="JetBrains Mono" pitchFamily="34" charset="-122"/>
                <a:cs typeface="JetBrains Mono" pitchFamily="34" charset="-120"/>
              </a:rPr>
              <a:t>4 000 000 Ar</a:t>
            </a:r>
            <a:endParaRPr lang="en-US" sz="1050" dirty="0"/>
          </a:p>
        </p:txBody>
      </p:sp>
      <p:sp>
        <p:nvSpPr>
          <p:cNvPr id="24" name="Shape 18"/>
          <p:cNvSpPr/>
          <p:nvPr/>
        </p:nvSpPr>
        <p:spPr>
          <a:xfrm>
            <a:off x="7946136" y="2578608"/>
            <a:ext cx="3523183" cy="0"/>
          </a:xfrm>
          <a:prstGeom prst="line">
            <a:avLst/>
          </a:prstGeom>
          <a:noFill/>
          <a:ln w="9525">
            <a:solidFill>
              <a:srgbClr val="D8E2F3"/>
            </a:solidFill>
            <a:prstDash val="solid"/>
          </a:ln>
        </p:spPr>
      </p:sp>
      <p:sp>
        <p:nvSpPr>
          <p:cNvPr id="25" name="Text 19"/>
          <p:cNvSpPr/>
          <p:nvPr/>
        </p:nvSpPr>
        <p:spPr>
          <a:xfrm>
            <a:off x="7946136" y="2578608"/>
            <a:ext cx="2005279" cy="475488"/>
          </a:xfrm>
          <a:prstGeom prst="rect">
            <a:avLst/>
          </a:prstGeom>
          <a:noFill/>
          <a:ln/>
        </p:spPr>
        <p:txBody>
          <a:bodyPr wrap="square" lIns="0" tIns="0" rIns="0" bIns="0" rtlCol="0" anchor="ctr"/>
          <a:lstStyle/>
          <a:p>
            <a:pPr marL="0" indent="0">
              <a:lnSpc>
                <a:spcPct val="110000"/>
              </a:lnSpc>
              <a:buNone/>
            </a:pPr>
            <a:r>
              <a:rPr lang="en-US" sz="1050" dirty="0">
                <a:solidFill>
                  <a:srgbClr val="102033"/>
                </a:solidFill>
                <a:latin typeface="Poppins" pitchFamily="34" charset="0"/>
                <a:ea typeface="Poppins" pitchFamily="34" charset="-122"/>
                <a:cs typeface="Poppins" pitchFamily="34" charset="-120"/>
              </a:rPr>
              <a:t>10 développeurs</a:t>
            </a:r>
            <a:endParaRPr lang="en-US" sz="1050" dirty="0"/>
          </a:p>
        </p:txBody>
      </p:sp>
      <p:sp>
        <p:nvSpPr>
          <p:cNvPr id="26" name="Text 20"/>
          <p:cNvSpPr/>
          <p:nvPr/>
        </p:nvSpPr>
        <p:spPr>
          <a:xfrm>
            <a:off x="9951415" y="2578608"/>
            <a:ext cx="1517904" cy="475488"/>
          </a:xfrm>
          <a:prstGeom prst="rect">
            <a:avLst/>
          </a:prstGeom>
          <a:noFill/>
          <a:ln/>
        </p:spPr>
        <p:txBody>
          <a:bodyPr wrap="square" lIns="0" tIns="0" rIns="0" bIns="0" rtlCol="0" anchor="ctr"/>
          <a:lstStyle/>
          <a:p>
            <a:pPr marL="0" indent="0" algn="r">
              <a:buNone/>
            </a:pPr>
            <a:r>
              <a:rPr lang="en-US" sz="1050" b="1" dirty="0">
                <a:solidFill>
                  <a:srgbClr val="102033"/>
                </a:solidFill>
                <a:latin typeface="JetBrains Mono" pitchFamily="34" charset="0"/>
                <a:ea typeface="JetBrains Mono" pitchFamily="34" charset="-122"/>
                <a:cs typeface="JetBrains Mono" pitchFamily="34" charset="-120"/>
              </a:rPr>
              <a:t>12 000 000 Ar</a:t>
            </a:r>
            <a:endParaRPr lang="en-US" sz="1050" dirty="0"/>
          </a:p>
        </p:txBody>
      </p:sp>
      <p:sp>
        <p:nvSpPr>
          <p:cNvPr id="27" name="Shape 21"/>
          <p:cNvSpPr/>
          <p:nvPr/>
        </p:nvSpPr>
        <p:spPr>
          <a:xfrm>
            <a:off x="7946136" y="3054096"/>
            <a:ext cx="3523183" cy="0"/>
          </a:xfrm>
          <a:prstGeom prst="line">
            <a:avLst/>
          </a:prstGeom>
          <a:noFill/>
          <a:ln w="9525">
            <a:solidFill>
              <a:srgbClr val="D8E2F3"/>
            </a:solidFill>
            <a:prstDash val="solid"/>
          </a:ln>
        </p:spPr>
      </p:sp>
      <p:sp>
        <p:nvSpPr>
          <p:cNvPr id="28" name="Text 22"/>
          <p:cNvSpPr/>
          <p:nvPr/>
        </p:nvSpPr>
        <p:spPr>
          <a:xfrm>
            <a:off x="7946136" y="3054096"/>
            <a:ext cx="2005279" cy="475488"/>
          </a:xfrm>
          <a:prstGeom prst="rect">
            <a:avLst/>
          </a:prstGeom>
          <a:noFill/>
          <a:ln/>
        </p:spPr>
        <p:txBody>
          <a:bodyPr wrap="square" lIns="0" tIns="0" rIns="0" bIns="0" rtlCol="0" anchor="ctr"/>
          <a:lstStyle/>
          <a:p>
            <a:pPr marL="0" indent="0">
              <a:lnSpc>
                <a:spcPct val="110000"/>
              </a:lnSpc>
              <a:buNone/>
            </a:pPr>
            <a:r>
              <a:rPr lang="en-US" sz="1050" dirty="0">
                <a:solidFill>
                  <a:srgbClr val="102033"/>
                </a:solidFill>
                <a:latin typeface="Poppins" pitchFamily="34" charset="0"/>
                <a:ea typeface="Poppins" pitchFamily="34" charset="-122"/>
                <a:cs typeface="Poppins" pitchFamily="34" charset="-120"/>
              </a:rPr>
              <a:t>2 testeurs / QA</a:t>
            </a:r>
            <a:endParaRPr lang="en-US" sz="1050" dirty="0"/>
          </a:p>
        </p:txBody>
      </p:sp>
      <p:sp>
        <p:nvSpPr>
          <p:cNvPr id="29" name="Text 23"/>
          <p:cNvSpPr/>
          <p:nvPr/>
        </p:nvSpPr>
        <p:spPr>
          <a:xfrm>
            <a:off x="9951415" y="3054096"/>
            <a:ext cx="1517904" cy="475488"/>
          </a:xfrm>
          <a:prstGeom prst="rect">
            <a:avLst/>
          </a:prstGeom>
          <a:noFill/>
          <a:ln/>
        </p:spPr>
        <p:txBody>
          <a:bodyPr wrap="square" lIns="0" tIns="0" rIns="0" bIns="0" rtlCol="0" anchor="ctr"/>
          <a:lstStyle/>
          <a:p>
            <a:pPr marL="0" indent="0" algn="r">
              <a:buNone/>
            </a:pPr>
            <a:r>
              <a:rPr lang="en-US" sz="1050" b="1" dirty="0">
                <a:solidFill>
                  <a:srgbClr val="102033"/>
                </a:solidFill>
                <a:latin typeface="JetBrains Mono" pitchFamily="34" charset="0"/>
                <a:ea typeface="JetBrains Mono" pitchFamily="34" charset="-122"/>
                <a:cs typeface="JetBrains Mono" pitchFamily="34" charset="-120"/>
              </a:rPr>
              <a:t>1 000 000 Ar</a:t>
            </a:r>
            <a:endParaRPr lang="en-US" sz="1050" dirty="0"/>
          </a:p>
        </p:txBody>
      </p:sp>
      <p:sp>
        <p:nvSpPr>
          <p:cNvPr id="30" name="Shape 24"/>
          <p:cNvSpPr/>
          <p:nvPr/>
        </p:nvSpPr>
        <p:spPr>
          <a:xfrm>
            <a:off x="7946136" y="3529584"/>
            <a:ext cx="3523183" cy="0"/>
          </a:xfrm>
          <a:prstGeom prst="line">
            <a:avLst/>
          </a:prstGeom>
          <a:noFill/>
          <a:ln w="9525">
            <a:solidFill>
              <a:srgbClr val="D8E2F3"/>
            </a:solidFill>
            <a:prstDash val="solid"/>
          </a:ln>
        </p:spPr>
      </p:sp>
      <p:sp>
        <p:nvSpPr>
          <p:cNvPr id="31" name="Text 25"/>
          <p:cNvSpPr/>
          <p:nvPr/>
        </p:nvSpPr>
        <p:spPr>
          <a:xfrm>
            <a:off x="7946136" y="3529584"/>
            <a:ext cx="2005279" cy="475488"/>
          </a:xfrm>
          <a:prstGeom prst="rect">
            <a:avLst/>
          </a:prstGeom>
          <a:noFill/>
          <a:ln/>
        </p:spPr>
        <p:txBody>
          <a:bodyPr wrap="square" lIns="0" tIns="0" rIns="0" bIns="0" rtlCol="0" anchor="ctr"/>
          <a:lstStyle/>
          <a:p>
            <a:pPr marL="0" indent="0">
              <a:lnSpc>
                <a:spcPct val="110000"/>
              </a:lnSpc>
              <a:buNone/>
            </a:pPr>
            <a:r>
              <a:rPr lang="en-US" sz="1050" dirty="0">
                <a:solidFill>
                  <a:srgbClr val="102033"/>
                </a:solidFill>
                <a:latin typeface="Poppins" pitchFamily="34" charset="0"/>
                <a:ea typeface="Poppins" pitchFamily="34" charset="-122"/>
                <a:cs typeface="Poppins" pitchFamily="34" charset="-120"/>
              </a:rPr>
              <a:t>Serveur (install.)</a:t>
            </a:r>
            <a:endParaRPr lang="en-US" sz="1050" dirty="0"/>
          </a:p>
        </p:txBody>
      </p:sp>
      <p:sp>
        <p:nvSpPr>
          <p:cNvPr id="32" name="Text 26"/>
          <p:cNvSpPr/>
          <p:nvPr/>
        </p:nvSpPr>
        <p:spPr>
          <a:xfrm>
            <a:off x="9951415" y="3529584"/>
            <a:ext cx="1517904" cy="475488"/>
          </a:xfrm>
          <a:prstGeom prst="rect">
            <a:avLst/>
          </a:prstGeom>
          <a:noFill/>
          <a:ln/>
        </p:spPr>
        <p:txBody>
          <a:bodyPr wrap="square" lIns="0" tIns="0" rIns="0" bIns="0" rtlCol="0" anchor="ctr"/>
          <a:lstStyle/>
          <a:p>
            <a:pPr marL="0" indent="0" algn="r">
              <a:buNone/>
            </a:pPr>
            <a:r>
              <a:rPr lang="en-US" sz="1050" b="1" dirty="0">
                <a:solidFill>
                  <a:srgbClr val="102033"/>
                </a:solidFill>
                <a:latin typeface="JetBrains Mono" pitchFamily="34" charset="0"/>
                <a:ea typeface="JetBrains Mono" pitchFamily="34" charset="-122"/>
                <a:cs typeface="JetBrains Mono" pitchFamily="34" charset="-120"/>
              </a:rPr>
              <a:t>3 000 000 Ar</a:t>
            </a:r>
            <a:endParaRPr lang="en-US" sz="1050" dirty="0"/>
          </a:p>
        </p:txBody>
      </p:sp>
      <p:sp>
        <p:nvSpPr>
          <p:cNvPr id="33" name="Shape 27"/>
          <p:cNvSpPr/>
          <p:nvPr/>
        </p:nvSpPr>
        <p:spPr>
          <a:xfrm>
            <a:off x="7946136" y="4005072"/>
            <a:ext cx="3523183" cy="0"/>
          </a:xfrm>
          <a:prstGeom prst="line">
            <a:avLst/>
          </a:prstGeom>
          <a:noFill/>
          <a:ln w="9525">
            <a:solidFill>
              <a:srgbClr val="D8E2F3"/>
            </a:solidFill>
            <a:prstDash val="solid"/>
          </a:ln>
        </p:spPr>
      </p:sp>
      <p:sp>
        <p:nvSpPr>
          <p:cNvPr id="34" name="Text 28"/>
          <p:cNvSpPr/>
          <p:nvPr/>
        </p:nvSpPr>
        <p:spPr>
          <a:xfrm>
            <a:off x="7946136" y="4005072"/>
            <a:ext cx="2005279" cy="475488"/>
          </a:xfrm>
          <a:prstGeom prst="rect">
            <a:avLst/>
          </a:prstGeom>
          <a:noFill/>
          <a:ln/>
        </p:spPr>
        <p:txBody>
          <a:bodyPr wrap="square" lIns="0" tIns="0" rIns="0" bIns="0" rtlCol="0" anchor="ctr"/>
          <a:lstStyle/>
          <a:p>
            <a:pPr marL="0" indent="0">
              <a:lnSpc>
                <a:spcPct val="110000"/>
              </a:lnSpc>
              <a:buNone/>
            </a:pPr>
            <a:r>
              <a:rPr lang="en-US" sz="1050" dirty="0">
                <a:solidFill>
                  <a:srgbClr val="102033"/>
                </a:solidFill>
                <a:latin typeface="Poppins" pitchFamily="34" charset="0"/>
                <a:ea typeface="Poppins" pitchFamily="34" charset="-122"/>
                <a:cs typeface="Poppins" pitchFamily="34" charset="-120"/>
              </a:rPr>
              <a:t>Autres dépenses de lancement</a:t>
            </a:r>
            <a:endParaRPr lang="en-US" sz="1050" dirty="0"/>
          </a:p>
        </p:txBody>
      </p:sp>
      <p:sp>
        <p:nvSpPr>
          <p:cNvPr id="35" name="Text 29"/>
          <p:cNvSpPr/>
          <p:nvPr/>
        </p:nvSpPr>
        <p:spPr>
          <a:xfrm>
            <a:off x="9951415" y="4005072"/>
            <a:ext cx="1517904" cy="475488"/>
          </a:xfrm>
          <a:prstGeom prst="rect">
            <a:avLst/>
          </a:prstGeom>
          <a:noFill/>
          <a:ln/>
        </p:spPr>
        <p:txBody>
          <a:bodyPr wrap="square" lIns="0" tIns="0" rIns="0" bIns="0" rtlCol="0" anchor="ctr"/>
          <a:lstStyle/>
          <a:p>
            <a:pPr marL="0" indent="0" algn="r">
              <a:buNone/>
            </a:pPr>
            <a:r>
              <a:rPr lang="en-US" sz="1050" b="1" dirty="0">
                <a:solidFill>
                  <a:srgbClr val="102033"/>
                </a:solidFill>
                <a:latin typeface="JetBrains Mono" pitchFamily="34" charset="0"/>
                <a:ea typeface="JetBrains Mono" pitchFamily="34" charset="-122"/>
                <a:cs typeface="JetBrains Mono" pitchFamily="34" charset="-120"/>
              </a:rPr>
              <a:t>11 400 000 Ar</a:t>
            </a:r>
            <a:endParaRPr lang="en-US" sz="1050" dirty="0"/>
          </a:p>
        </p:txBody>
      </p:sp>
      <p:sp>
        <p:nvSpPr>
          <p:cNvPr id="36" name="Shape 30"/>
          <p:cNvSpPr/>
          <p:nvPr/>
        </p:nvSpPr>
        <p:spPr>
          <a:xfrm>
            <a:off x="7946136" y="4480560"/>
            <a:ext cx="3523183" cy="0"/>
          </a:xfrm>
          <a:prstGeom prst="line">
            <a:avLst/>
          </a:prstGeom>
          <a:noFill/>
          <a:ln w="9525">
            <a:solidFill>
              <a:srgbClr val="D8E2F3"/>
            </a:solidFill>
            <a:prstDash val="solid"/>
          </a:ln>
        </p:spPr>
      </p:sp>
      <p:sp>
        <p:nvSpPr>
          <p:cNvPr id="37" name="Shape 31"/>
          <p:cNvSpPr/>
          <p:nvPr/>
        </p:nvSpPr>
        <p:spPr>
          <a:xfrm>
            <a:off x="7946136" y="4626864"/>
            <a:ext cx="3523183" cy="713232"/>
          </a:xfrm>
          <a:prstGeom prst="roundRect">
            <a:avLst>
              <a:gd name="adj" fmla="val 15385"/>
            </a:avLst>
          </a:prstGeom>
          <a:solidFill>
            <a:srgbClr val="0F5ED7"/>
          </a:solidFill>
          <a:ln w="12700">
            <a:solidFill>
              <a:srgbClr val="0F5ED7"/>
            </a:solidFill>
            <a:prstDash val="solid"/>
          </a:ln>
        </p:spPr>
      </p:sp>
      <p:sp>
        <p:nvSpPr>
          <p:cNvPr id="38" name="Text 32"/>
          <p:cNvSpPr/>
          <p:nvPr/>
        </p:nvSpPr>
        <p:spPr>
          <a:xfrm>
            <a:off x="8129016" y="4626864"/>
            <a:ext cx="1463040" cy="713232"/>
          </a:xfrm>
          <a:prstGeom prst="rect">
            <a:avLst/>
          </a:prstGeom>
          <a:noFill/>
          <a:ln/>
        </p:spPr>
        <p:txBody>
          <a:bodyPr wrap="square" lIns="0" tIns="0" rIns="0" bIns="0" rtlCol="0" anchor="ctr"/>
          <a:lstStyle/>
          <a:p>
            <a:pPr marL="0" indent="0">
              <a:buNone/>
            </a:pPr>
            <a:r>
              <a:rPr lang="en-US" sz="1200" b="1" dirty="0">
                <a:solidFill>
                  <a:srgbClr val="CFE0FA"/>
                </a:solidFill>
                <a:latin typeface="Poppins" pitchFamily="34" charset="0"/>
                <a:ea typeface="Poppins" pitchFamily="34" charset="-122"/>
                <a:cs typeface="Poppins" pitchFamily="34" charset="-120"/>
              </a:rPr>
              <a:t>TOTAL</a:t>
            </a:r>
            <a:endParaRPr lang="en-US" sz="1200" dirty="0"/>
          </a:p>
        </p:txBody>
      </p:sp>
      <p:sp>
        <p:nvSpPr>
          <p:cNvPr id="39" name="Text 33"/>
          <p:cNvSpPr/>
          <p:nvPr/>
        </p:nvSpPr>
        <p:spPr>
          <a:xfrm>
            <a:off x="9539935" y="4626864"/>
            <a:ext cx="1947672" cy="713232"/>
          </a:xfrm>
          <a:prstGeom prst="rect">
            <a:avLst/>
          </a:prstGeom>
          <a:noFill/>
          <a:ln/>
        </p:spPr>
        <p:txBody>
          <a:bodyPr wrap="square" lIns="0" tIns="0" rIns="0" bIns="0" rtlCol="0" anchor="ctr"/>
          <a:lstStyle/>
          <a:p>
            <a:pPr marL="0" indent="0" algn="r">
              <a:buNone/>
            </a:pPr>
            <a:r>
              <a:rPr lang="en-US" sz="1500" b="1" dirty="0">
                <a:solidFill>
                  <a:srgbClr val="FFFFFF"/>
                </a:solidFill>
                <a:latin typeface="JetBrains Mono" pitchFamily="34" charset="0"/>
                <a:ea typeface="JetBrains Mono" pitchFamily="34" charset="-122"/>
                <a:cs typeface="JetBrains Mono" pitchFamily="34" charset="-120"/>
              </a:rPr>
              <a:t>31 400 000 Ar</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02920" y="384048"/>
            <a:ext cx="566928" cy="566928"/>
          </a:xfrm>
          <a:prstGeom prst="roundRect">
            <a:avLst>
              <a:gd name="adj" fmla="val 19355"/>
            </a:avLst>
          </a:prstGeom>
          <a:solidFill>
            <a:srgbClr val="E9F0FE"/>
          </a:solidFill>
          <a:ln/>
        </p:spPr>
      </p:sp>
      <p:pic>
        <p:nvPicPr>
          <p:cNvPr id="3" name="Image 0" descr="/home/claude/icons/vial.png"/>
          <p:cNvPicPr>
            <a:picLocks noChangeAspect="1"/>
          </p:cNvPicPr>
          <p:nvPr/>
        </p:nvPicPr>
        <p:blipFill>
          <a:blip r:embed="rId4"/>
          <a:stretch>
            <a:fillRect/>
          </a:stretch>
        </p:blipFill>
        <p:spPr>
          <a:xfrm>
            <a:off x="621792" y="502920"/>
            <a:ext cx="329184" cy="329184"/>
          </a:xfrm>
          <a:prstGeom prst="rect">
            <a:avLst/>
          </a:prstGeom>
        </p:spPr>
      </p:pic>
      <p:sp>
        <p:nvSpPr>
          <p:cNvPr id="4" name="Text 1"/>
          <p:cNvSpPr/>
          <p:nvPr/>
        </p:nvSpPr>
        <p:spPr>
          <a:xfrm>
            <a:off x="1252728" y="310896"/>
            <a:ext cx="10436047" cy="457200"/>
          </a:xfrm>
          <a:prstGeom prst="rect">
            <a:avLst/>
          </a:prstGeom>
          <a:noFill/>
          <a:ln/>
        </p:spPr>
        <p:txBody>
          <a:bodyPr wrap="square" lIns="0" tIns="0" rIns="0" bIns="0" rtlCol="0" anchor="b"/>
          <a:lstStyle/>
          <a:p>
            <a:pPr marL="0" indent="0" algn="l">
              <a:buNone/>
            </a:pPr>
            <a:r>
              <a:rPr lang="en-US" sz="2600" b="1" kern="0" spc="-30" dirty="0">
                <a:solidFill>
                  <a:srgbClr val="102033"/>
                </a:solidFill>
                <a:latin typeface="Poppins" pitchFamily="34" charset="0"/>
                <a:ea typeface="Poppins" pitchFamily="34" charset="-122"/>
                <a:cs typeface="Poppins" pitchFamily="34" charset="-120"/>
              </a:rPr>
              <a:t>Tests &amp; retours d'expérience</a:t>
            </a:r>
            <a:endParaRPr lang="en-US" sz="2600" dirty="0"/>
          </a:p>
        </p:txBody>
      </p:sp>
      <p:sp>
        <p:nvSpPr>
          <p:cNvPr id="5" name="Text 2"/>
          <p:cNvSpPr/>
          <p:nvPr/>
        </p:nvSpPr>
        <p:spPr>
          <a:xfrm>
            <a:off x="1252728" y="749808"/>
            <a:ext cx="10436047" cy="292608"/>
          </a:xfrm>
          <a:prstGeom prst="rect">
            <a:avLst/>
          </a:prstGeom>
          <a:noFill/>
          <a:ln/>
        </p:spPr>
        <p:txBody>
          <a:bodyPr wrap="square" lIns="0" tIns="0" rIns="0" bIns="0" rtlCol="0" anchor="t"/>
          <a:lstStyle/>
          <a:p>
            <a:pPr marL="0" indent="0" algn="l">
              <a:buNone/>
            </a:pPr>
            <a:r>
              <a:rPr lang="en-US" sz="1300" dirty="0">
                <a:solidFill>
                  <a:srgbClr val="526579"/>
                </a:solidFill>
                <a:latin typeface="Poppins" pitchFamily="34" charset="0"/>
                <a:ea typeface="Poppins" pitchFamily="34" charset="-122"/>
                <a:cs typeface="Poppins" pitchFamily="34" charset="-120"/>
              </a:rPr>
              <a:t>Une phase de recette module par module</a:t>
            </a:r>
            <a:endParaRPr lang="en-US" sz="1300" dirty="0"/>
          </a:p>
        </p:txBody>
      </p:sp>
      <p:sp>
        <p:nvSpPr>
          <p:cNvPr id="6" name="Shape 3"/>
          <p:cNvSpPr/>
          <p:nvPr/>
        </p:nvSpPr>
        <p:spPr>
          <a:xfrm>
            <a:off x="502920" y="1170432"/>
            <a:ext cx="11185855" cy="0"/>
          </a:xfrm>
          <a:prstGeom prst="line">
            <a:avLst/>
          </a:prstGeom>
          <a:noFill/>
          <a:ln w="15875">
            <a:solidFill>
              <a:srgbClr val="D8E2F3"/>
            </a:solidFill>
            <a:prstDash val="solid"/>
          </a:ln>
        </p:spPr>
      </p:sp>
      <p:pic>
        <p:nvPicPr>
          <p:cNvPr id="7" name="Image 1" descr="/home/claude/icons/school.png"/>
          <p:cNvPicPr>
            <a:picLocks noChangeAspect="1"/>
          </p:cNvPicPr>
          <p:nvPr/>
        </p:nvPicPr>
        <p:blipFill>
          <a:blip r:embed="rId5"/>
          <a:stretch>
            <a:fillRect/>
          </a:stretch>
        </p:blipFill>
        <p:spPr>
          <a:xfrm>
            <a:off x="502920" y="6528816"/>
            <a:ext cx="146304" cy="146304"/>
          </a:xfrm>
          <a:prstGeom prst="rect">
            <a:avLst/>
          </a:prstGeom>
        </p:spPr>
      </p:pic>
      <p:sp>
        <p:nvSpPr>
          <p:cNvPr id="8" name="Shape 4"/>
          <p:cNvSpPr/>
          <p:nvPr/>
        </p:nvSpPr>
        <p:spPr>
          <a:xfrm>
            <a:off x="475488" y="6501384"/>
            <a:ext cx="201168" cy="201168"/>
          </a:xfrm>
          <a:prstGeom prst="line">
            <a:avLst/>
          </a:prstGeom>
          <a:solidFill>
            <a:srgbClr val="0F5ED7"/>
          </a:solidFill>
          <a:ln/>
        </p:spPr>
      </p:sp>
      <p:pic>
        <p:nvPicPr>
          <p:cNvPr id="9" name="Image 2" descr="/home/claude/icons/school.png"/>
          <p:cNvPicPr>
            <a:picLocks noChangeAspect="1"/>
          </p:cNvPicPr>
          <p:nvPr/>
        </p:nvPicPr>
        <p:blipFill>
          <a:blip r:embed="rId5"/>
          <a:stretch>
            <a:fillRect/>
          </a:stretch>
        </p:blipFill>
        <p:spPr>
          <a:xfrm>
            <a:off x="516636" y="6533388"/>
            <a:ext cx="137160" cy="137160"/>
          </a:xfrm>
          <a:prstGeom prst="rect">
            <a:avLst/>
          </a:prstGeom>
        </p:spPr>
      </p:pic>
      <p:sp>
        <p:nvSpPr>
          <p:cNvPr id="10" name="Text 5"/>
          <p:cNvSpPr/>
          <p:nvPr/>
        </p:nvSpPr>
        <p:spPr>
          <a:xfrm>
            <a:off x="777240" y="6473952"/>
            <a:ext cx="5943600" cy="274320"/>
          </a:xfrm>
          <a:prstGeom prst="rect">
            <a:avLst/>
          </a:prstGeom>
          <a:noFill/>
          <a:ln/>
        </p:spPr>
        <p:txBody>
          <a:bodyPr wrap="square" lIns="0" tIns="0" rIns="0" bIns="0" rtlCol="0" anchor="ctr"/>
          <a:lstStyle/>
          <a:p>
            <a:pPr marL="0" indent="0">
              <a:buNone/>
            </a:pPr>
            <a:r>
              <a:rPr lang="en-US" sz="950" dirty="0">
                <a:solidFill>
                  <a:srgbClr val="526579"/>
                </a:solidFill>
                <a:latin typeface="Poppins" pitchFamily="34" charset="0"/>
                <a:ea typeface="Poppins" pitchFamily="34" charset="-122"/>
                <a:cs typeface="Poppins" pitchFamily="34" charset="-120"/>
              </a:rPr>
              <a:t>Groupe Y  •  Gestion d'un établissement scolaire</a:t>
            </a:r>
            <a:endParaRPr lang="en-US" sz="950" dirty="0"/>
          </a:p>
        </p:txBody>
      </p:sp>
      <p:sp>
        <p:nvSpPr>
          <p:cNvPr id="11" name="Text 6"/>
          <p:cNvSpPr/>
          <p:nvPr/>
        </p:nvSpPr>
        <p:spPr>
          <a:xfrm>
            <a:off x="10591495" y="6473952"/>
            <a:ext cx="1097280" cy="274320"/>
          </a:xfrm>
          <a:prstGeom prst="rect">
            <a:avLst/>
          </a:prstGeom>
          <a:noFill/>
          <a:ln/>
        </p:spPr>
        <p:txBody>
          <a:bodyPr wrap="square" lIns="0" tIns="0" rIns="0" bIns="0" rtlCol="0" anchor="ctr"/>
          <a:lstStyle/>
          <a:p>
            <a:pPr marL="0" indent="0" algn="r">
              <a:buNone/>
            </a:pPr>
            <a:r>
              <a:rPr lang="en-US" sz="950" dirty="0">
                <a:solidFill>
                  <a:srgbClr val="526579"/>
                </a:solidFill>
                <a:latin typeface="JetBrains Mono" pitchFamily="34" charset="0"/>
                <a:ea typeface="JetBrains Mono" pitchFamily="34" charset="-122"/>
                <a:cs typeface="JetBrains Mono" pitchFamily="34" charset="-120"/>
              </a:rPr>
              <a:t>16</a:t>
            </a:r>
            <a:endParaRPr lang="en-US" sz="950" dirty="0"/>
          </a:p>
        </p:txBody>
      </p:sp>
      <p:sp>
        <p:nvSpPr>
          <p:cNvPr id="12" name="Shape 7"/>
          <p:cNvSpPr/>
          <p:nvPr/>
        </p:nvSpPr>
        <p:spPr>
          <a:xfrm>
            <a:off x="502920" y="1417320"/>
            <a:ext cx="5455768" cy="4617720"/>
          </a:xfrm>
          <a:prstGeom prst="roundRect">
            <a:avLst>
              <a:gd name="adj" fmla="val 2376"/>
            </a:avLst>
          </a:prstGeom>
          <a:solidFill>
            <a:srgbClr val="E7F7EF"/>
          </a:solidFill>
          <a:ln w="12700">
            <a:solidFill>
              <a:srgbClr val="C7ECD9"/>
            </a:solidFill>
            <a:prstDash val="solid"/>
          </a:ln>
        </p:spPr>
      </p:sp>
      <p:sp>
        <p:nvSpPr>
          <p:cNvPr id="13" name="Text 8"/>
          <p:cNvSpPr/>
          <p:nvPr/>
        </p:nvSpPr>
        <p:spPr>
          <a:xfrm>
            <a:off x="777240" y="1673352"/>
            <a:ext cx="4907128" cy="274320"/>
          </a:xfrm>
          <a:prstGeom prst="rect">
            <a:avLst/>
          </a:prstGeom>
          <a:noFill/>
          <a:ln/>
        </p:spPr>
        <p:txBody>
          <a:bodyPr wrap="square" lIns="0" tIns="0" rIns="0" bIns="0" rtlCol="0" anchor="ctr"/>
          <a:lstStyle/>
          <a:p>
            <a:pPr marL="0" indent="0">
              <a:buNone/>
            </a:pPr>
            <a:r>
              <a:rPr lang="en-US" sz="1200" b="1" kern="0" spc="50" dirty="0">
                <a:solidFill>
                  <a:srgbClr val="0EA972"/>
                </a:solidFill>
                <a:latin typeface="Poppins" pitchFamily="34" charset="0"/>
                <a:ea typeface="Poppins" pitchFamily="34" charset="-122"/>
                <a:cs typeface="Poppins" pitchFamily="34" charset="-120"/>
              </a:rPr>
              <a:t>FONCTIONNALITÉS VALIDÉES</a:t>
            </a:r>
            <a:endParaRPr lang="en-US" sz="1200" dirty="0"/>
          </a:p>
        </p:txBody>
      </p:sp>
      <p:pic>
        <p:nvPicPr>
          <p:cNvPr id="14" name="Image 3" descr="/home/claude/icons/circleCheck.png"/>
          <p:cNvPicPr>
            <a:picLocks noChangeAspect="1"/>
          </p:cNvPicPr>
          <p:nvPr/>
        </p:nvPicPr>
        <p:blipFill>
          <a:blip r:embed="rId6"/>
          <a:stretch>
            <a:fillRect/>
          </a:stretch>
        </p:blipFill>
        <p:spPr>
          <a:xfrm>
            <a:off x="777240" y="2130552"/>
            <a:ext cx="201168" cy="201168"/>
          </a:xfrm>
          <a:prstGeom prst="rect">
            <a:avLst/>
          </a:prstGeom>
        </p:spPr>
      </p:pic>
      <p:sp>
        <p:nvSpPr>
          <p:cNvPr id="15" name="Text 9"/>
          <p:cNvSpPr/>
          <p:nvPr/>
        </p:nvSpPr>
        <p:spPr>
          <a:xfrm>
            <a:off x="1097280" y="2103120"/>
            <a:ext cx="4541368" cy="640080"/>
          </a:xfrm>
          <a:prstGeom prst="rect">
            <a:avLst/>
          </a:prstGeom>
          <a:noFill/>
          <a:ln/>
        </p:spPr>
        <p:txBody>
          <a:bodyPr wrap="square" lIns="0" tIns="0" rIns="0" bIns="0" rtlCol="0" anchor="ctr"/>
          <a:lstStyle/>
          <a:p>
            <a:pPr marL="0" indent="0">
              <a:lnSpc>
                <a:spcPct val="120000"/>
              </a:lnSpc>
              <a:buNone/>
            </a:pPr>
            <a:r>
              <a:rPr lang="en-US" sz="1150" dirty="0">
                <a:solidFill>
                  <a:srgbClr val="102033"/>
                </a:solidFill>
                <a:latin typeface="Poppins" pitchFamily="34" charset="0"/>
                <a:ea typeface="Poppins" pitchFamily="34" charset="-122"/>
                <a:cs typeface="Poppins" pitchFamily="34" charset="-120"/>
              </a:rPr>
              <a:t>Inscription, réinscription et gestion de l'écolage</a:t>
            </a:r>
            <a:endParaRPr lang="en-US" sz="1150" dirty="0"/>
          </a:p>
        </p:txBody>
      </p:sp>
      <p:pic>
        <p:nvPicPr>
          <p:cNvPr id="16" name="Image 4" descr="/home/claude/icons/circleCheck.png"/>
          <p:cNvPicPr>
            <a:picLocks noChangeAspect="1"/>
          </p:cNvPicPr>
          <p:nvPr/>
        </p:nvPicPr>
        <p:blipFill>
          <a:blip r:embed="rId6"/>
          <a:stretch>
            <a:fillRect/>
          </a:stretch>
        </p:blipFill>
        <p:spPr>
          <a:xfrm>
            <a:off x="777240" y="2770632"/>
            <a:ext cx="201168" cy="201168"/>
          </a:xfrm>
          <a:prstGeom prst="rect">
            <a:avLst/>
          </a:prstGeom>
        </p:spPr>
      </p:pic>
      <p:sp>
        <p:nvSpPr>
          <p:cNvPr id="17" name="Text 10"/>
          <p:cNvSpPr/>
          <p:nvPr/>
        </p:nvSpPr>
        <p:spPr>
          <a:xfrm>
            <a:off x="1097280" y="2743200"/>
            <a:ext cx="4541368" cy="640080"/>
          </a:xfrm>
          <a:prstGeom prst="rect">
            <a:avLst/>
          </a:prstGeom>
          <a:noFill/>
          <a:ln/>
        </p:spPr>
        <p:txBody>
          <a:bodyPr wrap="square" lIns="0" tIns="0" rIns="0" bIns="0" rtlCol="0" anchor="ctr"/>
          <a:lstStyle/>
          <a:p>
            <a:pPr marL="0" indent="0">
              <a:lnSpc>
                <a:spcPct val="120000"/>
              </a:lnSpc>
              <a:buNone/>
            </a:pPr>
            <a:r>
              <a:rPr lang="en-US" sz="1150" dirty="0">
                <a:solidFill>
                  <a:srgbClr val="102033"/>
                </a:solidFill>
                <a:latin typeface="Poppins" pitchFamily="34" charset="0"/>
                <a:ea typeface="Poppins" pitchFamily="34" charset="-122"/>
                <a:cs typeface="Poppins" pitchFamily="34" charset="-120"/>
              </a:rPr>
              <a:t>Saisie des paiements et génération de factures / reçus PDF</a:t>
            </a:r>
            <a:endParaRPr lang="en-US" sz="1150" dirty="0"/>
          </a:p>
        </p:txBody>
      </p:sp>
      <p:pic>
        <p:nvPicPr>
          <p:cNvPr id="18" name="Image 5" descr="/home/claude/icons/circleCheck.png"/>
          <p:cNvPicPr>
            <a:picLocks noChangeAspect="1"/>
          </p:cNvPicPr>
          <p:nvPr/>
        </p:nvPicPr>
        <p:blipFill>
          <a:blip r:embed="rId6"/>
          <a:stretch>
            <a:fillRect/>
          </a:stretch>
        </p:blipFill>
        <p:spPr>
          <a:xfrm>
            <a:off x="777240" y="3410712"/>
            <a:ext cx="201168" cy="201168"/>
          </a:xfrm>
          <a:prstGeom prst="rect">
            <a:avLst/>
          </a:prstGeom>
        </p:spPr>
      </p:pic>
      <p:sp>
        <p:nvSpPr>
          <p:cNvPr id="19" name="Text 11"/>
          <p:cNvSpPr/>
          <p:nvPr/>
        </p:nvSpPr>
        <p:spPr>
          <a:xfrm>
            <a:off x="1097280" y="3383280"/>
            <a:ext cx="4541368" cy="640080"/>
          </a:xfrm>
          <a:prstGeom prst="rect">
            <a:avLst/>
          </a:prstGeom>
          <a:noFill/>
          <a:ln/>
        </p:spPr>
        <p:txBody>
          <a:bodyPr wrap="square" lIns="0" tIns="0" rIns="0" bIns="0" rtlCol="0" anchor="ctr"/>
          <a:lstStyle/>
          <a:p>
            <a:pPr marL="0" indent="0">
              <a:lnSpc>
                <a:spcPct val="120000"/>
              </a:lnSpc>
              <a:buNone/>
            </a:pPr>
            <a:r>
              <a:rPr lang="en-US" sz="1150" dirty="0">
                <a:solidFill>
                  <a:srgbClr val="102033"/>
                </a:solidFill>
                <a:latin typeface="Poppins" pitchFamily="34" charset="0"/>
                <a:ea typeface="Poppins" pitchFamily="34" charset="-122"/>
                <a:cs typeface="Poppins" pitchFamily="34" charset="-120"/>
              </a:rPr>
              <a:t>Bilan financier avec graphiques (Chart.js) et export Excel</a:t>
            </a:r>
            <a:endParaRPr lang="en-US" sz="1150" dirty="0"/>
          </a:p>
        </p:txBody>
      </p:sp>
      <p:pic>
        <p:nvPicPr>
          <p:cNvPr id="20" name="Image 6" descr="/home/claude/icons/circleCheck.png"/>
          <p:cNvPicPr>
            <a:picLocks noChangeAspect="1"/>
          </p:cNvPicPr>
          <p:nvPr/>
        </p:nvPicPr>
        <p:blipFill>
          <a:blip r:embed="rId6"/>
          <a:stretch>
            <a:fillRect/>
          </a:stretch>
        </p:blipFill>
        <p:spPr>
          <a:xfrm>
            <a:off x="777240" y="4050792"/>
            <a:ext cx="201168" cy="201168"/>
          </a:xfrm>
          <a:prstGeom prst="rect">
            <a:avLst/>
          </a:prstGeom>
        </p:spPr>
      </p:pic>
      <p:sp>
        <p:nvSpPr>
          <p:cNvPr id="21" name="Text 12"/>
          <p:cNvSpPr/>
          <p:nvPr/>
        </p:nvSpPr>
        <p:spPr>
          <a:xfrm>
            <a:off x="1097280" y="4023360"/>
            <a:ext cx="4541368" cy="640080"/>
          </a:xfrm>
          <a:prstGeom prst="rect">
            <a:avLst/>
          </a:prstGeom>
          <a:noFill/>
          <a:ln/>
        </p:spPr>
        <p:txBody>
          <a:bodyPr wrap="square" lIns="0" tIns="0" rIns="0" bIns="0" rtlCol="0" anchor="ctr"/>
          <a:lstStyle/>
          <a:p>
            <a:pPr marL="0" indent="0">
              <a:lnSpc>
                <a:spcPct val="120000"/>
              </a:lnSpc>
              <a:buNone/>
            </a:pPr>
            <a:r>
              <a:rPr lang="en-US" sz="1150" dirty="0">
                <a:solidFill>
                  <a:srgbClr val="102033"/>
                </a:solidFill>
                <a:latin typeface="Poppins" pitchFamily="34" charset="0"/>
                <a:ea typeface="Poppins" pitchFamily="34" charset="-122"/>
                <a:cs typeface="Poppins" pitchFamily="34" charset="-120"/>
              </a:rPr>
              <a:t>Connexion, redirection par rôle et sécurisation des URLs</a:t>
            </a:r>
            <a:endParaRPr lang="en-US" sz="1150" dirty="0"/>
          </a:p>
        </p:txBody>
      </p:sp>
      <p:pic>
        <p:nvPicPr>
          <p:cNvPr id="22" name="Image 7" descr="/home/claude/icons/circleCheck.png"/>
          <p:cNvPicPr>
            <a:picLocks noChangeAspect="1"/>
          </p:cNvPicPr>
          <p:nvPr/>
        </p:nvPicPr>
        <p:blipFill>
          <a:blip r:embed="rId6"/>
          <a:stretch>
            <a:fillRect/>
          </a:stretch>
        </p:blipFill>
        <p:spPr>
          <a:xfrm>
            <a:off x="777240" y="4690872"/>
            <a:ext cx="201168" cy="201168"/>
          </a:xfrm>
          <a:prstGeom prst="rect">
            <a:avLst/>
          </a:prstGeom>
        </p:spPr>
      </p:pic>
      <p:sp>
        <p:nvSpPr>
          <p:cNvPr id="23" name="Text 13"/>
          <p:cNvSpPr/>
          <p:nvPr/>
        </p:nvSpPr>
        <p:spPr>
          <a:xfrm>
            <a:off x="1097280" y="4663440"/>
            <a:ext cx="4541368" cy="640080"/>
          </a:xfrm>
          <a:prstGeom prst="rect">
            <a:avLst/>
          </a:prstGeom>
          <a:noFill/>
          <a:ln/>
        </p:spPr>
        <p:txBody>
          <a:bodyPr wrap="square" lIns="0" tIns="0" rIns="0" bIns="0" rtlCol="0" anchor="ctr"/>
          <a:lstStyle/>
          <a:p>
            <a:pPr marL="0" indent="0">
              <a:lnSpc>
                <a:spcPct val="120000"/>
              </a:lnSpc>
              <a:buNone/>
            </a:pPr>
            <a:r>
              <a:rPr lang="en-US" sz="1150" dirty="0">
                <a:solidFill>
                  <a:srgbClr val="102033"/>
                </a:solidFill>
                <a:latin typeface="Poppins" pitchFamily="34" charset="0"/>
                <a:ea typeface="Poppins" pitchFamily="34" charset="-122"/>
                <a:cs typeface="Poppins" pitchFamily="34" charset="-120"/>
              </a:rPr>
              <a:t>Emploi du temps, notes et bulletins</a:t>
            </a:r>
            <a:endParaRPr lang="en-US" sz="1150" dirty="0"/>
          </a:p>
        </p:txBody>
      </p:sp>
      <p:pic>
        <p:nvPicPr>
          <p:cNvPr id="24" name="Image 8" descr="/home/claude/icons/circleCheck.png"/>
          <p:cNvPicPr>
            <a:picLocks noChangeAspect="1"/>
          </p:cNvPicPr>
          <p:nvPr/>
        </p:nvPicPr>
        <p:blipFill>
          <a:blip r:embed="rId6"/>
          <a:stretch>
            <a:fillRect/>
          </a:stretch>
        </p:blipFill>
        <p:spPr>
          <a:xfrm>
            <a:off x="777240" y="5330952"/>
            <a:ext cx="201168" cy="201168"/>
          </a:xfrm>
          <a:prstGeom prst="rect">
            <a:avLst/>
          </a:prstGeom>
        </p:spPr>
      </p:pic>
      <p:sp>
        <p:nvSpPr>
          <p:cNvPr id="25" name="Text 14"/>
          <p:cNvSpPr/>
          <p:nvPr/>
        </p:nvSpPr>
        <p:spPr>
          <a:xfrm>
            <a:off x="1097280" y="5303520"/>
            <a:ext cx="4541368" cy="640080"/>
          </a:xfrm>
          <a:prstGeom prst="rect">
            <a:avLst/>
          </a:prstGeom>
          <a:noFill/>
          <a:ln/>
        </p:spPr>
        <p:txBody>
          <a:bodyPr wrap="square" lIns="0" tIns="0" rIns="0" bIns="0" rtlCol="0" anchor="ctr"/>
          <a:lstStyle/>
          <a:p>
            <a:pPr marL="0" indent="0">
              <a:lnSpc>
                <a:spcPct val="120000"/>
              </a:lnSpc>
              <a:buNone/>
            </a:pPr>
            <a:r>
              <a:rPr lang="en-US" sz="1150" dirty="0">
                <a:solidFill>
                  <a:srgbClr val="102033"/>
                </a:solidFill>
                <a:latin typeface="Poppins" pitchFamily="34" charset="0"/>
                <a:ea typeface="Poppins" pitchFamily="34" charset="-122"/>
                <a:cs typeface="Poppins" pitchFamily="34" charset="-120"/>
              </a:rPr>
              <a:t>Listes et filtres élèves, exports PDF / CSV</a:t>
            </a:r>
            <a:endParaRPr lang="en-US" sz="1150" dirty="0"/>
          </a:p>
        </p:txBody>
      </p:sp>
      <p:sp>
        <p:nvSpPr>
          <p:cNvPr id="26" name="Shape 15"/>
          <p:cNvSpPr/>
          <p:nvPr/>
        </p:nvSpPr>
        <p:spPr>
          <a:xfrm>
            <a:off x="6233008" y="1417320"/>
            <a:ext cx="5455768" cy="4617720"/>
          </a:xfrm>
          <a:prstGeom prst="roundRect">
            <a:avLst>
              <a:gd name="adj" fmla="val 2376"/>
            </a:avLst>
          </a:prstGeom>
          <a:solidFill>
            <a:srgbClr val="FDF1E1"/>
          </a:solidFill>
          <a:ln w="12700">
            <a:solidFill>
              <a:srgbClr val="F3DBAE"/>
            </a:solidFill>
            <a:prstDash val="solid"/>
          </a:ln>
        </p:spPr>
      </p:sp>
      <p:sp>
        <p:nvSpPr>
          <p:cNvPr id="27" name="Text 16"/>
          <p:cNvSpPr/>
          <p:nvPr/>
        </p:nvSpPr>
        <p:spPr>
          <a:xfrm>
            <a:off x="6507328" y="1673352"/>
            <a:ext cx="4907128" cy="274320"/>
          </a:xfrm>
          <a:prstGeom prst="rect">
            <a:avLst/>
          </a:prstGeom>
          <a:noFill/>
          <a:ln/>
        </p:spPr>
        <p:txBody>
          <a:bodyPr wrap="square" lIns="0" tIns="0" rIns="0" bIns="0" rtlCol="0" anchor="ctr"/>
          <a:lstStyle/>
          <a:p>
            <a:pPr marL="0" indent="0">
              <a:buNone/>
            </a:pPr>
            <a:r>
              <a:rPr lang="en-US" sz="1200" b="1" kern="0" spc="50" dirty="0">
                <a:solidFill>
                  <a:srgbClr val="C77A17"/>
                </a:solidFill>
                <a:latin typeface="Poppins" pitchFamily="34" charset="0"/>
                <a:ea typeface="Poppins" pitchFamily="34" charset="-122"/>
                <a:cs typeface="Poppins" pitchFamily="34" charset="-120"/>
              </a:rPr>
              <a:t>POINTS À AMÉLIORER</a:t>
            </a:r>
            <a:endParaRPr lang="en-US" sz="1200" dirty="0"/>
          </a:p>
        </p:txBody>
      </p:sp>
      <p:pic>
        <p:nvPicPr>
          <p:cNvPr id="28" name="Image 9" descr="/home/claude/icons/circleExclamation.png"/>
          <p:cNvPicPr>
            <a:picLocks noChangeAspect="1"/>
          </p:cNvPicPr>
          <p:nvPr/>
        </p:nvPicPr>
        <p:blipFill>
          <a:blip r:embed="rId7"/>
          <a:stretch>
            <a:fillRect/>
          </a:stretch>
        </p:blipFill>
        <p:spPr>
          <a:xfrm>
            <a:off x="6507328" y="2130552"/>
            <a:ext cx="201168" cy="201168"/>
          </a:xfrm>
          <a:prstGeom prst="rect">
            <a:avLst/>
          </a:prstGeom>
        </p:spPr>
      </p:pic>
      <p:sp>
        <p:nvSpPr>
          <p:cNvPr id="29" name="Text 17"/>
          <p:cNvSpPr/>
          <p:nvPr/>
        </p:nvSpPr>
        <p:spPr>
          <a:xfrm>
            <a:off x="6827368" y="2103120"/>
            <a:ext cx="4541368" cy="768096"/>
          </a:xfrm>
          <a:prstGeom prst="rect">
            <a:avLst/>
          </a:prstGeom>
          <a:noFill/>
          <a:ln/>
        </p:spPr>
        <p:txBody>
          <a:bodyPr wrap="square" lIns="0" tIns="0" rIns="0" bIns="0" rtlCol="0" anchor="ctr"/>
          <a:lstStyle/>
          <a:p>
            <a:pPr marL="0" indent="0">
              <a:lnSpc>
                <a:spcPct val="120000"/>
              </a:lnSpc>
              <a:buNone/>
            </a:pPr>
            <a:r>
              <a:rPr lang="en-US" sz="1150" dirty="0">
                <a:solidFill>
                  <a:srgbClr val="102033"/>
                </a:solidFill>
                <a:latin typeface="Poppins" pitchFamily="34" charset="0"/>
                <a:ea typeface="Poppins" pitchFamily="34" charset="-122"/>
                <a:cs typeface="Poppins" pitchFamily="34" charset="-120"/>
              </a:rPr>
              <a:t>Filtre de période à finaliser sur les statistiques élèves</a:t>
            </a:r>
            <a:endParaRPr lang="en-US" sz="1150" dirty="0"/>
          </a:p>
        </p:txBody>
      </p:sp>
      <p:pic>
        <p:nvPicPr>
          <p:cNvPr id="30" name="Image 10" descr="/home/claude/icons/circleExclamation.png"/>
          <p:cNvPicPr>
            <a:picLocks noChangeAspect="1"/>
          </p:cNvPicPr>
          <p:nvPr/>
        </p:nvPicPr>
        <p:blipFill>
          <a:blip r:embed="rId7"/>
          <a:stretch>
            <a:fillRect/>
          </a:stretch>
        </p:blipFill>
        <p:spPr>
          <a:xfrm>
            <a:off x="6507328" y="2898648"/>
            <a:ext cx="201168" cy="201168"/>
          </a:xfrm>
          <a:prstGeom prst="rect">
            <a:avLst/>
          </a:prstGeom>
        </p:spPr>
      </p:pic>
      <p:sp>
        <p:nvSpPr>
          <p:cNvPr id="31" name="Text 18"/>
          <p:cNvSpPr/>
          <p:nvPr/>
        </p:nvSpPr>
        <p:spPr>
          <a:xfrm>
            <a:off x="6827368" y="2871216"/>
            <a:ext cx="4541368" cy="768096"/>
          </a:xfrm>
          <a:prstGeom prst="rect">
            <a:avLst/>
          </a:prstGeom>
          <a:noFill/>
          <a:ln/>
        </p:spPr>
        <p:txBody>
          <a:bodyPr wrap="square" lIns="0" tIns="0" rIns="0" bIns="0" rtlCol="0" anchor="ctr"/>
          <a:lstStyle/>
          <a:p>
            <a:pPr marL="0" indent="0">
              <a:lnSpc>
                <a:spcPct val="120000"/>
              </a:lnSpc>
              <a:buNone/>
            </a:pPr>
            <a:r>
              <a:rPr lang="en-US" sz="1150" dirty="0">
                <a:solidFill>
                  <a:srgbClr val="102033"/>
                </a:solidFill>
                <a:latin typeface="Poppins" pitchFamily="34" charset="0"/>
                <a:ea typeface="Poppins" pitchFamily="34" charset="-122"/>
                <a:cs typeface="Poppins" pitchFamily="34" charset="-120"/>
              </a:rPr>
              <a:t>Colonne « classe » vide pour certains élèves nouvellement ajoutés</a:t>
            </a:r>
            <a:endParaRPr lang="en-US" sz="1150" dirty="0"/>
          </a:p>
        </p:txBody>
      </p:sp>
      <p:pic>
        <p:nvPicPr>
          <p:cNvPr id="32" name="Image 11" descr="/home/claude/icons/circleExclamation.png"/>
          <p:cNvPicPr>
            <a:picLocks noChangeAspect="1"/>
          </p:cNvPicPr>
          <p:nvPr/>
        </p:nvPicPr>
        <p:blipFill>
          <a:blip r:embed="rId7"/>
          <a:stretch>
            <a:fillRect/>
          </a:stretch>
        </p:blipFill>
        <p:spPr>
          <a:xfrm>
            <a:off x="6507328" y="3666744"/>
            <a:ext cx="201168" cy="201168"/>
          </a:xfrm>
          <a:prstGeom prst="rect">
            <a:avLst/>
          </a:prstGeom>
        </p:spPr>
      </p:pic>
      <p:sp>
        <p:nvSpPr>
          <p:cNvPr id="33" name="Text 19"/>
          <p:cNvSpPr/>
          <p:nvPr/>
        </p:nvSpPr>
        <p:spPr>
          <a:xfrm>
            <a:off x="6827368" y="3639312"/>
            <a:ext cx="4541368" cy="768096"/>
          </a:xfrm>
          <a:prstGeom prst="rect">
            <a:avLst/>
          </a:prstGeom>
          <a:noFill/>
          <a:ln/>
        </p:spPr>
        <p:txBody>
          <a:bodyPr wrap="square" lIns="0" tIns="0" rIns="0" bIns="0" rtlCol="0" anchor="ctr"/>
          <a:lstStyle/>
          <a:p>
            <a:pPr marL="0" indent="0">
              <a:lnSpc>
                <a:spcPct val="120000"/>
              </a:lnSpc>
              <a:buNone/>
            </a:pPr>
            <a:r>
              <a:rPr lang="en-US" sz="1150" dirty="0">
                <a:solidFill>
                  <a:srgbClr val="102033"/>
                </a:solidFill>
                <a:latin typeface="Poppins" pitchFamily="34" charset="0"/>
                <a:ea typeface="Poppins" pitchFamily="34" charset="-122"/>
                <a:cs typeface="Poppins" pitchFamily="34" charset="-120"/>
              </a:rPr>
              <a:t>Alignement de colonnes à corriger (notes, absences)</a:t>
            </a:r>
            <a:endParaRPr lang="en-US" sz="1150" dirty="0"/>
          </a:p>
        </p:txBody>
      </p:sp>
      <p:pic>
        <p:nvPicPr>
          <p:cNvPr id="34" name="Image 12" descr="/home/claude/icons/circleExclamation.png"/>
          <p:cNvPicPr>
            <a:picLocks noChangeAspect="1"/>
          </p:cNvPicPr>
          <p:nvPr/>
        </p:nvPicPr>
        <p:blipFill>
          <a:blip r:embed="rId7"/>
          <a:stretch>
            <a:fillRect/>
          </a:stretch>
        </p:blipFill>
        <p:spPr>
          <a:xfrm>
            <a:off x="6507328" y="4434840"/>
            <a:ext cx="201168" cy="201168"/>
          </a:xfrm>
          <a:prstGeom prst="rect">
            <a:avLst/>
          </a:prstGeom>
        </p:spPr>
      </p:pic>
      <p:sp>
        <p:nvSpPr>
          <p:cNvPr id="35" name="Text 20"/>
          <p:cNvSpPr/>
          <p:nvPr/>
        </p:nvSpPr>
        <p:spPr>
          <a:xfrm>
            <a:off x="6827368" y="4407408"/>
            <a:ext cx="4541368" cy="768096"/>
          </a:xfrm>
          <a:prstGeom prst="rect">
            <a:avLst/>
          </a:prstGeom>
          <a:noFill/>
          <a:ln/>
        </p:spPr>
        <p:txBody>
          <a:bodyPr wrap="square" lIns="0" tIns="0" rIns="0" bIns="0" rtlCol="0" anchor="ctr"/>
          <a:lstStyle/>
          <a:p>
            <a:pPr marL="0" indent="0">
              <a:lnSpc>
                <a:spcPct val="120000"/>
              </a:lnSpc>
              <a:buNone/>
            </a:pPr>
            <a:r>
              <a:rPr lang="en-US" sz="1150" dirty="0">
                <a:solidFill>
                  <a:srgbClr val="102033"/>
                </a:solidFill>
                <a:latin typeface="Poppins" pitchFamily="34" charset="0"/>
                <a:ea typeface="Poppins" pitchFamily="34" charset="-122"/>
                <a:cs typeface="Poppins" pitchFamily="34" charset="-120"/>
              </a:rPr>
              <a:t>Photo de profil haute résolution à optimiser</a:t>
            </a:r>
            <a:endParaRPr lang="en-US" sz="1150" dirty="0"/>
          </a:p>
        </p:txBody>
      </p:sp>
      <p:pic>
        <p:nvPicPr>
          <p:cNvPr id="36" name="Image 13" descr="/home/claude/icons/circleExclamation.png"/>
          <p:cNvPicPr>
            <a:picLocks noChangeAspect="1"/>
          </p:cNvPicPr>
          <p:nvPr/>
        </p:nvPicPr>
        <p:blipFill>
          <a:blip r:embed="rId7"/>
          <a:stretch>
            <a:fillRect/>
          </a:stretch>
        </p:blipFill>
        <p:spPr>
          <a:xfrm>
            <a:off x="6507328" y="5202936"/>
            <a:ext cx="201168" cy="201168"/>
          </a:xfrm>
          <a:prstGeom prst="rect">
            <a:avLst/>
          </a:prstGeom>
        </p:spPr>
      </p:pic>
      <p:sp>
        <p:nvSpPr>
          <p:cNvPr id="37" name="Text 21"/>
          <p:cNvSpPr/>
          <p:nvPr/>
        </p:nvSpPr>
        <p:spPr>
          <a:xfrm>
            <a:off x="6827368" y="5175504"/>
            <a:ext cx="4541368" cy="768096"/>
          </a:xfrm>
          <a:prstGeom prst="rect">
            <a:avLst/>
          </a:prstGeom>
          <a:noFill/>
          <a:ln/>
        </p:spPr>
        <p:txBody>
          <a:bodyPr wrap="square" lIns="0" tIns="0" rIns="0" bIns="0" rtlCol="0" anchor="ctr"/>
          <a:lstStyle/>
          <a:p>
            <a:pPr marL="0" indent="0">
              <a:lnSpc>
                <a:spcPct val="120000"/>
              </a:lnSpc>
              <a:buNone/>
            </a:pPr>
            <a:r>
              <a:rPr lang="en-US" sz="1150" dirty="0">
                <a:solidFill>
                  <a:srgbClr val="102033"/>
                </a:solidFill>
                <a:latin typeface="Poppins" pitchFamily="34" charset="0"/>
                <a:ea typeface="Poppins" pitchFamily="34" charset="-122"/>
                <a:cs typeface="Poppins" pitchFamily="34" charset="-120"/>
              </a:rPr>
              <a:t>Thème sombre à rendre persistant entre les pages</a:t>
            </a:r>
            <a:endParaRPr lang="en-US" sz="11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02920" y="384048"/>
            <a:ext cx="566928" cy="566928"/>
          </a:xfrm>
          <a:prstGeom prst="roundRect">
            <a:avLst>
              <a:gd name="adj" fmla="val 19355"/>
            </a:avLst>
          </a:prstGeom>
          <a:solidFill>
            <a:srgbClr val="E9F0FE"/>
          </a:solidFill>
          <a:ln/>
        </p:spPr>
      </p:sp>
      <p:pic>
        <p:nvPicPr>
          <p:cNvPr id="3" name="Image 0" descr="/home/claude/icons/flagCheckered.png"/>
          <p:cNvPicPr>
            <a:picLocks noChangeAspect="1"/>
          </p:cNvPicPr>
          <p:nvPr/>
        </p:nvPicPr>
        <p:blipFill>
          <a:blip r:embed="rId4"/>
          <a:stretch>
            <a:fillRect/>
          </a:stretch>
        </p:blipFill>
        <p:spPr>
          <a:xfrm>
            <a:off x="621792" y="502920"/>
            <a:ext cx="329184" cy="329184"/>
          </a:xfrm>
          <a:prstGeom prst="rect">
            <a:avLst/>
          </a:prstGeom>
        </p:spPr>
      </p:pic>
      <p:sp>
        <p:nvSpPr>
          <p:cNvPr id="4" name="Text 1"/>
          <p:cNvSpPr/>
          <p:nvPr/>
        </p:nvSpPr>
        <p:spPr>
          <a:xfrm>
            <a:off x="1252728" y="310896"/>
            <a:ext cx="10436047" cy="457200"/>
          </a:xfrm>
          <a:prstGeom prst="rect">
            <a:avLst/>
          </a:prstGeom>
          <a:noFill/>
          <a:ln/>
        </p:spPr>
        <p:txBody>
          <a:bodyPr wrap="square" lIns="0" tIns="0" rIns="0" bIns="0" rtlCol="0" anchor="b"/>
          <a:lstStyle/>
          <a:p>
            <a:pPr marL="0" indent="0" algn="l">
              <a:buNone/>
            </a:pPr>
            <a:r>
              <a:rPr lang="en-US" sz="2600" b="1" kern="0" spc="-30" dirty="0">
                <a:solidFill>
                  <a:srgbClr val="102033"/>
                </a:solidFill>
                <a:latin typeface="Poppins" pitchFamily="34" charset="0"/>
                <a:ea typeface="Poppins" pitchFamily="34" charset="-122"/>
                <a:cs typeface="Poppins" pitchFamily="34" charset="-120"/>
              </a:rPr>
              <a:t>Conclusion &amp; perspectives</a:t>
            </a:r>
            <a:endParaRPr lang="en-US" sz="2600" dirty="0"/>
          </a:p>
        </p:txBody>
      </p:sp>
      <p:sp>
        <p:nvSpPr>
          <p:cNvPr id="5" name="Shape 2"/>
          <p:cNvSpPr/>
          <p:nvPr/>
        </p:nvSpPr>
        <p:spPr>
          <a:xfrm>
            <a:off x="502920" y="1170432"/>
            <a:ext cx="11185855" cy="0"/>
          </a:xfrm>
          <a:prstGeom prst="line">
            <a:avLst/>
          </a:prstGeom>
          <a:noFill/>
          <a:ln w="15875">
            <a:solidFill>
              <a:srgbClr val="D8E2F3"/>
            </a:solidFill>
            <a:prstDash val="solid"/>
          </a:ln>
        </p:spPr>
      </p:sp>
      <p:pic>
        <p:nvPicPr>
          <p:cNvPr id="6" name="Image 1" descr="/home/claude/icons/school.png"/>
          <p:cNvPicPr>
            <a:picLocks noChangeAspect="1"/>
          </p:cNvPicPr>
          <p:nvPr/>
        </p:nvPicPr>
        <p:blipFill>
          <a:blip r:embed="rId5"/>
          <a:stretch>
            <a:fillRect/>
          </a:stretch>
        </p:blipFill>
        <p:spPr>
          <a:xfrm>
            <a:off x="502920" y="6528816"/>
            <a:ext cx="146304" cy="146304"/>
          </a:xfrm>
          <a:prstGeom prst="rect">
            <a:avLst/>
          </a:prstGeom>
        </p:spPr>
      </p:pic>
      <p:sp>
        <p:nvSpPr>
          <p:cNvPr id="7" name="Shape 3"/>
          <p:cNvSpPr/>
          <p:nvPr/>
        </p:nvSpPr>
        <p:spPr>
          <a:xfrm>
            <a:off x="475488" y="6501384"/>
            <a:ext cx="201168" cy="201168"/>
          </a:xfrm>
          <a:prstGeom prst="line">
            <a:avLst/>
          </a:prstGeom>
          <a:solidFill>
            <a:srgbClr val="0F5ED7"/>
          </a:solidFill>
          <a:ln/>
        </p:spPr>
      </p:sp>
      <p:pic>
        <p:nvPicPr>
          <p:cNvPr id="8" name="Image 2" descr="/home/claude/icons/school.png"/>
          <p:cNvPicPr>
            <a:picLocks noChangeAspect="1"/>
          </p:cNvPicPr>
          <p:nvPr/>
        </p:nvPicPr>
        <p:blipFill>
          <a:blip r:embed="rId5"/>
          <a:stretch>
            <a:fillRect/>
          </a:stretch>
        </p:blipFill>
        <p:spPr>
          <a:xfrm>
            <a:off x="516636" y="6533388"/>
            <a:ext cx="137160" cy="137160"/>
          </a:xfrm>
          <a:prstGeom prst="rect">
            <a:avLst/>
          </a:prstGeom>
        </p:spPr>
      </p:pic>
      <p:sp>
        <p:nvSpPr>
          <p:cNvPr id="9" name="Text 4"/>
          <p:cNvSpPr/>
          <p:nvPr/>
        </p:nvSpPr>
        <p:spPr>
          <a:xfrm>
            <a:off x="777240" y="6473952"/>
            <a:ext cx="5943600" cy="274320"/>
          </a:xfrm>
          <a:prstGeom prst="rect">
            <a:avLst/>
          </a:prstGeom>
          <a:noFill/>
          <a:ln/>
        </p:spPr>
        <p:txBody>
          <a:bodyPr wrap="square" lIns="0" tIns="0" rIns="0" bIns="0" rtlCol="0" anchor="ctr"/>
          <a:lstStyle/>
          <a:p>
            <a:pPr marL="0" indent="0">
              <a:buNone/>
            </a:pPr>
            <a:r>
              <a:rPr lang="en-US" sz="950" dirty="0">
                <a:solidFill>
                  <a:srgbClr val="526579"/>
                </a:solidFill>
                <a:latin typeface="Poppins" pitchFamily="34" charset="0"/>
                <a:ea typeface="Poppins" pitchFamily="34" charset="-122"/>
                <a:cs typeface="Poppins" pitchFamily="34" charset="-120"/>
              </a:rPr>
              <a:t>Groupe Y  •  Gestion d'un établissement scolaire</a:t>
            </a:r>
            <a:endParaRPr lang="en-US" sz="950" dirty="0"/>
          </a:p>
        </p:txBody>
      </p:sp>
      <p:sp>
        <p:nvSpPr>
          <p:cNvPr id="10" name="Text 5"/>
          <p:cNvSpPr/>
          <p:nvPr/>
        </p:nvSpPr>
        <p:spPr>
          <a:xfrm>
            <a:off x="10591495" y="6473952"/>
            <a:ext cx="1097280" cy="274320"/>
          </a:xfrm>
          <a:prstGeom prst="rect">
            <a:avLst/>
          </a:prstGeom>
          <a:noFill/>
          <a:ln/>
        </p:spPr>
        <p:txBody>
          <a:bodyPr wrap="square" lIns="0" tIns="0" rIns="0" bIns="0" rtlCol="0" anchor="ctr"/>
          <a:lstStyle/>
          <a:p>
            <a:pPr marL="0" indent="0" algn="r">
              <a:buNone/>
            </a:pPr>
            <a:r>
              <a:rPr lang="en-US" sz="950" dirty="0">
                <a:solidFill>
                  <a:srgbClr val="526579"/>
                </a:solidFill>
                <a:latin typeface="JetBrains Mono" pitchFamily="34" charset="0"/>
                <a:ea typeface="JetBrains Mono" pitchFamily="34" charset="-122"/>
                <a:cs typeface="JetBrains Mono" pitchFamily="34" charset="-120"/>
              </a:rPr>
              <a:t>17</a:t>
            </a:r>
            <a:endParaRPr lang="en-US" sz="950" dirty="0"/>
          </a:p>
        </p:txBody>
      </p:sp>
      <p:sp>
        <p:nvSpPr>
          <p:cNvPr id="11" name="Shape 6"/>
          <p:cNvSpPr/>
          <p:nvPr/>
        </p:nvSpPr>
        <p:spPr>
          <a:xfrm>
            <a:off x="502920" y="1371600"/>
            <a:ext cx="11185855" cy="960120"/>
          </a:xfrm>
          <a:prstGeom prst="roundRect">
            <a:avLst>
              <a:gd name="adj" fmla="val 11429"/>
            </a:avLst>
          </a:prstGeom>
          <a:solidFill>
            <a:srgbClr val="EAF1FE"/>
          </a:solidFill>
          <a:ln w="12700">
            <a:solidFill>
              <a:srgbClr val="CFE0FA"/>
            </a:solidFill>
            <a:prstDash val="solid"/>
          </a:ln>
        </p:spPr>
      </p:sp>
      <p:sp>
        <p:nvSpPr>
          <p:cNvPr id="12" name="Text 7"/>
          <p:cNvSpPr/>
          <p:nvPr/>
        </p:nvSpPr>
        <p:spPr>
          <a:xfrm>
            <a:off x="822960" y="1371600"/>
            <a:ext cx="10545775" cy="960120"/>
          </a:xfrm>
          <a:prstGeom prst="rect">
            <a:avLst/>
          </a:prstGeom>
          <a:noFill/>
          <a:ln/>
        </p:spPr>
        <p:txBody>
          <a:bodyPr wrap="square" lIns="0" tIns="0" rIns="0" bIns="0" rtlCol="0" anchor="ctr"/>
          <a:lstStyle/>
          <a:p>
            <a:pPr marL="0" indent="0">
              <a:lnSpc>
                <a:spcPct val="135000"/>
              </a:lnSpc>
              <a:buNone/>
            </a:pPr>
            <a:r>
              <a:rPr lang="en-US" sz="1300" dirty="0">
                <a:solidFill>
                  <a:srgbClr val="102033"/>
                </a:solidFill>
                <a:latin typeface="Poppins" pitchFamily="34" charset="0"/>
                <a:ea typeface="Poppins" pitchFamily="34" charset="-122"/>
                <a:cs typeface="Poppins" pitchFamily="34" charset="-120"/>
              </a:rPr>
              <a:t>Nous avons conçu un système de gestion numérique intégré, répondant aux besoins réels de la direction, du secrétariat, des enseignants, des élèves et des parents — en remplacement d'une gestion papier lente et exposée aux erreurs.</a:t>
            </a:r>
            <a:endParaRPr lang="en-US" sz="1300" dirty="0"/>
          </a:p>
        </p:txBody>
      </p:sp>
      <p:sp>
        <p:nvSpPr>
          <p:cNvPr id="13" name="Shape 8"/>
          <p:cNvSpPr/>
          <p:nvPr/>
        </p:nvSpPr>
        <p:spPr>
          <a:xfrm>
            <a:off x="502920" y="2560320"/>
            <a:ext cx="5455768" cy="3456432"/>
          </a:xfrm>
          <a:prstGeom prst="roundRect">
            <a:avLst>
              <a:gd name="adj" fmla="val 3175"/>
            </a:avLst>
          </a:prstGeom>
          <a:solidFill>
            <a:srgbClr val="FFFFFF"/>
          </a:solidFill>
          <a:ln w="12700">
            <a:solidFill>
              <a:srgbClr val="D8E2F3"/>
            </a:solidFill>
            <a:prstDash val="solid"/>
          </a:ln>
          <a:effectLst>
            <a:outerShdw blurRad="127000" dist="38100" dir="5400000" algn="bl" rotWithShape="0">
              <a:srgbClr val="0F5ED7">
                <a:alpha val="12000"/>
              </a:srgbClr>
            </a:outerShdw>
          </a:effectLst>
        </p:spPr>
      </p:sp>
      <p:sp>
        <p:nvSpPr>
          <p:cNvPr id="14" name="Text 9"/>
          <p:cNvSpPr/>
          <p:nvPr/>
        </p:nvSpPr>
        <p:spPr>
          <a:xfrm>
            <a:off x="758952" y="2779776"/>
            <a:ext cx="4943704" cy="274320"/>
          </a:xfrm>
          <a:prstGeom prst="rect">
            <a:avLst/>
          </a:prstGeom>
          <a:noFill/>
          <a:ln/>
        </p:spPr>
        <p:txBody>
          <a:bodyPr wrap="square" lIns="0" tIns="0" rIns="0" bIns="0" rtlCol="0" anchor="ctr"/>
          <a:lstStyle/>
          <a:p>
            <a:pPr marL="0" indent="0">
              <a:buNone/>
            </a:pPr>
            <a:r>
              <a:rPr lang="en-US" sz="1150" b="1" kern="0" spc="50" dirty="0">
                <a:solidFill>
                  <a:srgbClr val="0F5ED7"/>
                </a:solidFill>
                <a:latin typeface="Poppins" pitchFamily="34" charset="0"/>
                <a:ea typeface="Poppins" pitchFamily="34" charset="-122"/>
                <a:cs typeface="Poppins" pitchFamily="34" charset="-120"/>
              </a:rPr>
              <a:t>CE QUE CE PROJET NOUS A APPORTÉ</a:t>
            </a:r>
            <a:endParaRPr lang="en-US" sz="1150" dirty="0"/>
          </a:p>
        </p:txBody>
      </p:sp>
      <p:sp>
        <p:nvSpPr>
          <p:cNvPr id="15" name="Text 10"/>
          <p:cNvSpPr/>
          <p:nvPr/>
        </p:nvSpPr>
        <p:spPr>
          <a:xfrm>
            <a:off x="777240" y="3182112"/>
            <a:ext cx="4907128" cy="2633472"/>
          </a:xfrm>
          <a:prstGeom prst="rect">
            <a:avLst/>
          </a:prstGeom>
          <a:noFill/>
          <a:ln/>
        </p:spPr>
        <p:txBody>
          <a:bodyPr wrap="square" lIns="0" tIns="0" rIns="0" bIns="0" rtlCol="0" anchor="ctr"/>
          <a:lstStyle/>
          <a:p>
            <a:pPr marL="152400" indent="-152400">
              <a:lnSpc>
                <a:spcPct val="140000"/>
              </a:lnSpc>
              <a:spcAft>
                <a:spcPts val="1400"/>
              </a:spcAft>
              <a:buSzPct val="100000"/>
              <a:buChar char="•"/>
            </a:pPr>
            <a:r>
              <a:rPr lang="en-US" sz="1200" dirty="0">
                <a:solidFill>
                  <a:srgbClr val="102033"/>
                </a:solidFill>
                <a:latin typeface="Poppins" pitchFamily="34" charset="0"/>
                <a:ea typeface="Poppins" pitchFamily="34" charset="-122"/>
                <a:cs typeface="Poppins" pitchFamily="34" charset="-120"/>
              </a:rPr>
              <a:t>Mise en pratique de l'analyse des besoins, la conception et la planification</a:t>
            </a:r>
            <a:endParaRPr lang="en-US" sz="1200" dirty="0"/>
          </a:p>
          <a:p>
            <a:pPr marL="152400" indent="-152400">
              <a:lnSpc>
                <a:spcPct val="140000"/>
              </a:lnSpc>
              <a:spcAft>
                <a:spcPts val="1400"/>
              </a:spcAft>
              <a:buSzPct val="100000"/>
              <a:buChar char="•"/>
            </a:pPr>
            <a:r>
              <a:rPr lang="en-US" sz="1200" dirty="0">
                <a:solidFill>
                  <a:srgbClr val="102033"/>
                </a:solidFill>
                <a:latin typeface="Poppins" pitchFamily="34" charset="0"/>
                <a:ea typeface="Poppins" pitchFamily="34" charset="-122"/>
                <a:cs typeface="Poppins" pitchFamily="34" charset="-120"/>
              </a:rPr>
              <a:t>Travail d'équipe à 11 personnes autour d'une vision commune</a:t>
            </a:r>
            <a:endParaRPr lang="en-US" sz="1200" dirty="0"/>
          </a:p>
          <a:p>
            <a:pPr marL="152400" indent="-152400">
              <a:lnSpc>
                <a:spcPct val="140000"/>
              </a:lnSpc>
              <a:spcAft>
                <a:spcPts val="1400"/>
              </a:spcAft>
              <a:buSzPct val="100000"/>
              <a:buChar char="•"/>
            </a:pPr>
            <a:r>
              <a:rPr lang="en-US" sz="1200" dirty="0">
                <a:solidFill>
                  <a:srgbClr val="102033"/>
                </a:solidFill>
                <a:latin typeface="Poppins" pitchFamily="34" charset="0"/>
                <a:ea typeface="Poppins" pitchFamily="34" charset="-122"/>
                <a:cs typeface="Poppins" pitchFamily="34" charset="-120"/>
              </a:rPr>
              <a:t>Illustration concrète de l'apport de la numérisation pour les écoles à Madagascar</a:t>
            </a:r>
            <a:endParaRPr lang="en-US" sz="1200" dirty="0"/>
          </a:p>
        </p:txBody>
      </p:sp>
      <p:sp>
        <p:nvSpPr>
          <p:cNvPr id="16" name="Shape 11"/>
          <p:cNvSpPr/>
          <p:nvPr/>
        </p:nvSpPr>
        <p:spPr>
          <a:xfrm>
            <a:off x="6233008" y="2560320"/>
            <a:ext cx="5455768" cy="3456432"/>
          </a:xfrm>
          <a:prstGeom prst="roundRect">
            <a:avLst>
              <a:gd name="adj" fmla="val 3175"/>
            </a:avLst>
          </a:prstGeom>
          <a:solidFill>
            <a:srgbClr val="FFFFFF"/>
          </a:solidFill>
          <a:ln w="12700">
            <a:solidFill>
              <a:srgbClr val="D8E2F3"/>
            </a:solidFill>
            <a:prstDash val="solid"/>
          </a:ln>
          <a:effectLst>
            <a:outerShdw blurRad="127000" dist="38100" dir="5400000" algn="bl" rotWithShape="0">
              <a:srgbClr val="0F5ED7">
                <a:alpha val="12000"/>
              </a:srgbClr>
            </a:outerShdw>
          </a:effectLst>
        </p:spPr>
      </p:sp>
      <p:sp>
        <p:nvSpPr>
          <p:cNvPr id="17" name="Text 12"/>
          <p:cNvSpPr/>
          <p:nvPr/>
        </p:nvSpPr>
        <p:spPr>
          <a:xfrm>
            <a:off x="6489040" y="2779776"/>
            <a:ext cx="4943704" cy="274320"/>
          </a:xfrm>
          <a:prstGeom prst="rect">
            <a:avLst/>
          </a:prstGeom>
          <a:noFill/>
          <a:ln/>
        </p:spPr>
        <p:txBody>
          <a:bodyPr wrap="square" lIns="0" tIns="0" rIns="0" bIns="0" rtlCol="0" anchor="ctr"/>
          <a:lstStyle/>
          <a:p>
            <a:pPr marL="0" indent="0">
              <a:buNone/>
            </a:pPr>
            <a:r>
              <a:rPr lang="en-US" sz="1150" b="1" kern="0" spc="50" dirty="0">
                <a:solidFill>
                  <a:srgbClr val="2563EB"/>
                </a:solidFill>
                <a:latin typeface="Poppins" pitchFamily="34" charset="0"/>
                <a:ea typeface="Poppins" pitchFamily="34" charset="-122"/>
                <a:cs typeface="Poppins" pitchFamily="34" charset="-120"/>
              </a:rPr>
              <a:t>PERSPECTIVES D'ÉVOLUTION</a:t>
            </a:r>
            <a:endParaRPr lang="en-US" sz="1150" dirty="0"/>
          </a:p>
        </p:txBody>
      </p:sp>
      <p:sp>
        <p:nvSpPr>
          <p:cNvPr id="18" name="Text 13"/>
          <p:cNvSpPr/>
          <p:nvPr/>
        </p:nvSpPr>
        <p:spPr>
          <a:xfrm>
            <a:off x="6507328" y="3182112"/>
            <a:ext cx="4907128" cy="2633472"/>
          </a:xfrm>
          <a:prstGeom prst="rect">
            <a:avLst/>
          </a:prstGeom>
          <a:noFill/>
          <a:ln/>
        </p:spPr>
        <p:txBody>
          <a:bodyPr wrap="square" lIns="0" tIns="0" rIns="0" bIns="0" rtlCol="0" anchor="ctr"/>
          <a:lstStyle/>
          <a:p>
            <a:pPr marL="152400" indent="-152400">
              <a:lnSpc>
                <a:spcPct val="135000"/>
              </a:lnSpc>
              <a:spcAft>
                <a:spcPts val="1000"/>
              </a:spcAft>
              <a:buSzPct val="100000"/>
              <a:buChar char="•"/>
            </a:pPr>
            <a:r>
              <a:rPr lang="en-US" sz="1200" dirty="0">
                <a:solidFill>
                  <a:srgbClr val="102033"/>
                </a:solidFill>
                <a:latin typeface="Poppins" pitchFamily="34" charset="0"/>
                <a:ea typeface="Poppins" pitchFamily="34" charset="-122"/>
                <a:cs typeface="Poppins" pitchFamily="34" charset="-120"/>
              </a:rPr>
              <a:t>Correction des anomalies relevées lors des tests</a:t>
            </a:r>
            <a:endParaRPr lang="en-US" sz="1200" dirty="0"/>
          </a:p>
          <a:p>
            <a:pPr marL="152400" indent="-152400">
              <a:lnSpc>
                <a:spcPct val="135000"/>
              </a:lnSpc>
              <a:spcAft>
                <a:spcPts val="1000"/>
              </a:spcAft>
              <a:buSzPct val="100000"/>
              <a:buChar char="•"/>
            </a:pPr>
            <a:r>
              <a:rPr lang="en-US" sz="1200" dirty="0">
                <a:solidFill>
                  <a:srgbClr val="102033"/>
                </a:solidFill>
                <a:latin typeface="Poppins" pitchFamily="34" charset="0"/>
                <a:ea typeface="Poppins" pitchFamily="34" charset="-122"/>
                <a:cs typeface="Poppins" pitchFamily="34" charset="-120"/>
              </a:rPr>
              <a:t>Notifications automatiques</a:t>
            </a:r>
            <a:endParaRPr lang="en-US" sz="1200" dirty="0"/>
          </a:p>
          <a:p>
            <a:pPr marL="152400" indent="-152400">
              <a:lnSpc>
                <a:spcPct val="135000"/>
              </a:lnSpc>
              <a:spcAft>
                <a:spcPts val="1000"/>
              </a:spcAft>
              <a:buSzPct val="100000"/>
              <a:buChar char="•"/>
            </a:pPr>
            <a:r>
              <a:rPr lang="en-US" sz="1200" dirty="0">
                <a:solidFill>
                  <a:srgbClr val="102033"/>
                </a:solidFill>
                <a:latin typeface="Poppins" pitchFamily="34" charset="0"/>
                <a:ea typeface="Poppins" pitchFamily="34" charset="-122"/>
                <a:cs typeface="Poppins" pitchFamily="34" charset="-120"/>
              </a:rPr>
              <a:t>Application mobile</a:t>
            </a:r>
            <a:endParaRPr lang="en-US" sz="1200" dirty="0"/>
          </a:p>
          <a:p>
            <a:pPr marL="152400" indent="-152400">
              <a:lnSpc>
                <a:spcPct val="135000"/>
              </a:lnSpc>
              <a:spcAft>
                <a:spcPts val="1000"/>
              </a:spcAft>
              <a:buSzPct val="100000"/>
              <a:buChar char="•"/>
            </a:pPr>
            <a:r>
              <a:rPr lang="en-US" sz="1200" dirty="0">
                <a:solidFill>
                  <a:srgbClr val="102033"/>
                </a:solidFill>
                <a:latin typeface="Poppins" pitchFamily="34" charset="0"/>
                <a:ea typeface="Poppins" pitchFamily="34" charset="-122"/>
                <a:cs typeface="Poppins" pitchFamily="34" charset="-120"/>
              </a:rPr>
              <a:t>Statistiques avancées</a:t>
            </a:r>
            <a:endParaRPr lang="en-US" sz="1200" dirty="0"/>
          </a:p>
          <a:p>
            <a:pPr marL="152400" indent="-152400">
              <a:lnSpc>
                <a:spcPct val="135000"/>
              </a:lnSpc>
              <a:spcAft>
                <a:spcPts val="1000"/>
              </a:spcAft>
              <a:buSzPct val="100000"/>
              <a:buChar char="•"/>
            </a:pPr>
            <a:r>
              <a:rPr lang="en-US" sz="1200" dirty="0">
                <a:solidFill>
                  <a:srgbClr val="102033"/>
                </a:solidFill>
                <a:latin typeface="Poppins" pitchFamily="34" charset="0"/>
                <a:ea typeface="Poppins" pitchFamily="34" charset="-122"/>
                <a:cs typeface="Poppins" pitchFamily="34" charset="-120"/>
              </a:rPr>
              <a:t>Déploiement à plus grande échelle auprès d'un établissement réel</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638648" y="1005840"/>
            <a:ext cx="914400" cy="914400"/>
          </a:xfrm>
          <a:prstGeom prst="roundRect">
            <a:avLst>
              <a:gd name="adj" fmla="val 12000"/>
            </a:avLst>
          </a:prstGeom>
          <a:solidFill>
            <a:srgbClr val="FFFFFF"/>
          </a:solidFill>
          <a:ln/>
          <a:effectLst>
            <a:outerShdw blurRad="177800" dist="50800" dir="5400000" algn="bl" rotWithShape="0">
              <a:srgbClr val="000000">
                <a:alpha val="25000"/>
              </a:srgbClr>
            </a:outerShdw>
          </a:effectLst>
        </p:spPr>
      </p:sp>
      <p:pic>
        <p:nvPicPr>
          <p:cNvPr id="3" name="Image 0" descr="/home/claude/assets_logo.png"/>
          <p:cNvPicPr>
            <a:picLocks noChangeAspect="1"/>
          </p:cNvPicPr>
          <p:nvPr/>
        </p:nvPicPr>
        <p:blipFill>
          <a:blip r:embed="rId4"/>
          <a:stretch>
            <a:fillRect/>
          </a:stretch>
        </p:blipFill>
        <p:spPr>
          <a:xfrm>
            <a:off x="5748376" y="1115568"/>
            <a:ext cx="694944" cy="694944"/>
          </a:xfrm>
          <a:prstGeom prst="rect">
            <a:avLst/>
          </a:prstGeom>
        </p:spPr>
      </p:pic>
      <p:sp>
        <p:nvSpPr>
          <p:cNvPr id="4" name="Text 1"/>
          <p:cNvSpPr/>
          <p:nvPr/>
        </p:nvSpPr>
        <p:spPr>
          <a:xfrm>
            <a:off x="914400" y="2514600"/>
            <a:ext cx="10362895" cy="822960"/>
          </a:xfrm>
          <a:prstGeom prst="rect">
            <a:avLst/>
          </a:prstGeom>
          <a:noFill/>
          <a:ln/>
        </p:spPr>
        <p:txBody>
          <a:bodyPr wrap="square" lIns="0" tIns="0" rIns="0" bIns="0" rtlCol="0" anchor="ctr"/>
          <a:lstStyle/>
          <a:p>
            <a:pPr marL="0" indent="0" algn="ctr">
              <a:buNone/>
            </a:pPr>
            <a:r>
              <a:rPr lang="en-US" sz="3800" b="1" kern="0" spc="-30" dirty="0">
                <a:solidFill>
                  <a:srgbClr val="FFFFFF"/>
                </a:solidFill>
                <a:latin typeface="Poppins" pitchFamily="34" charset="0"/>
                <a:ea typeface="Poppins" pitchFamily="34" charset="-122"/>
                <a:cs typeface="Poppins" pitchFamily="34" charset="-120"/>
              </a:rPr>
              <a:t>Merci de votre attention</a:t>
            </a:r>
            <a:endParaRPr lang="en-US" sz="3800" dirty="0"/>
          </a:p>
        </p:txBody>
      </p:sp>
      <p:sp>
        <p:nvSpPr>
          <p:cNvPr id="5" name="Shape 2"/>
          <p:cNvSpPr/>
          <p:nvPr/>
        </p:nvSpPr>
        <p:spPr>
          <a:xfrm>
            <a:off x="5272888" y="3337560"/>
            <a:ext cx="1645920" cy="41148"/>
          </a:xfrm>
          <a:prstGeom prst="roundRect">
            <a:avLst>
              <a:gd name="adj" fmla="val 44444"/>
            </a:avLst>
          </a:prstGeom>
          <a:solidFill>
            <a:srgbClr val="2563EB"/>
          </a:solidFill>
          <a:ln/>
        </p:spPr>
      </p:sp>
      <p:sp>
        <p:nvSpPr>
          <p:cNvPr id="6" name="Text 3"/>
          <p:cNvSpPr/>
          <p:nvPr/>
        </p:nvSpPr>
        <p:spPr>
          <a:xfrm>
            <a:off x="1280160" y="3520440"/>
            <a:ext cx="9631375" cy="411480"/>
          </a:xfrm>
          <a:prstGeom prst="rect">
            <a:avLst/>
          </a:prstGeom>
          <a:noFill/>
          <a:ln/>
        </p:spPr>
        <p:txBody>
          <a:bodyPr wrap="square" lIns="0" tIns="0" rIns="0" bIns="0" rtlCol="0" anchor="ctr"/>
          <a:lstStyle/>
          <a:p>
            <a:pPr marL="0" indent="0" algn="ctr">
              <a:buNone/>
            </a:pPr>
            <a:r>
              <a:rPr lang="en-US" sz="1400" dirty="0">
                <a:solidFill>
                  <a:srgbClr val="AEC3E8"/>
                </a:solidFill>
                <a:latin typeface="Poppins" pitchFamily="34" charset="0"/>
                <a:ea typeface="Poppins" pitchFamily="34" charset="-122"/>
                <a:cs typeface="Poppins" pitchFamily="34" charset="-120"/>
              </a:rPr>
              <a:t>Groupe Y — Projet de gestion d'un établissement scolaire</a:t>
            </a:r>
            <a:endParaRPr lang="en-US" sz="1400" dirty="0"/>
          </a:p>
        </p:txBody>
      </p:sp>
      <p:sp>
        <p:nvSpPr>
          <p:cNvPr id="7" name="Text 4"/>
          <p:cNvSpPr/>
          <p:nvPr/>
        </p:nvSpPr>
        <p:spPr>
          <a:xfrm>
            <a:off x="1280160" y="4023360"/>
            <a:ext cx="9631375" cy="411480"/>
          </a:xfrm>
          <a:prstGeom prst="rect">
            <a:avLst/>
          </a:prstGeom>
          <a:noFill/>
          <a:ln/>
        </p:spPr>
        <p:txBody>
          <a:bodyPr wrap="square" lIns="0" tIns="0" rIns="0" bIns="0" rtlCol="0" anchor="ctr"/>
          <a:lstStyle/>
          <a:p>
            <a:pPr marL="0" indent="0" algn="ctr">
              <a:buNone/>
            </a:pPr>
            <a:r>
              <a:rPr lang="en-US" sz="1300" dirty="0">
                <a:solidFill>
                  <a:srgbClr val="7C95BD"/>
                </a:solidFill>
                <a:latin typeface="Poppins" pitchFamily="34" charset="0"/>
                <a:ea typeface="Poppins" pitchFamily="34" charset="-122"/>
                <a:cs typeface="Poppins" pitchFamily="34" charset="-120"/>
              </a:rPr>
              <a:t>Nous restons à votre disposition pour toute question.</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2384</Words>
  <Application>Microsoft Office PowerPoint</Application>
  <PresentationFormat>Widescreen</PresentationFormat>
  <Paragraphs>276</Paragraphs>
  <Slides>18</Slides>
  <Notes>18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JetBrains Mono</vt:lpstr>
      <vt:lpstr>Poppins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Funaki Live</cp:lastModifiedBy>
  <cp:revision>2</cp:revision>
  <dcterms:created xsi:type="dcterms:W3CDTF">2026-07-15T08:15:31Z</dcterms:created>
  <dcterms:modified xsi:type="dcterms:W3CDTF">2026-07-15T08:45:58Z</dcterms:modified>
</cp:coreProperties>
</file>